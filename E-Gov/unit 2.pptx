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319" r:id="rId6"/>
    <p:sldId id="320" r:id="rId7"/>
    <p:sldId id="260" r:id="rId8"/>
    <p:sldId id="261" r:id="rId9"/>
    <p:sldId id="262" r:id="rId10"/>
    <p:sldId id="263" r:id="rId11"/>
    <p:sldId id="321" r:id="rId12"/>
    <p:sldId id="264" r:id="rId13"/>
    <p:sldId id="322" r:id="rId14"/>
    <p:sldId id="265" r:id="rId15"/>
    <p:sldId id="323" r:id="rId16"/>
    <p:sldId id="266" r:id="rId17"/>
    <p:sldId id="267" r:id="rId18"/>
    <p:sldId id="324" r:id="rId19"/>
    <p:sldId id="268" r:id="rId20"/>
    <p:sldId id="269" r:id="rId21"/>
    <p:sldId id="325" r:id="rId22"/>
    <p:sldId id="270" r:id="rId23"/>
    <p:sldId id="326" r:id="rId24"/>
    <p:sldId id="327" r:id="rId25"/>
    <p:sldId id="271" r:id="rId26"/>
    <p:sldId id="272" r:id="rId27"/>
    <p:sldId id="273" r:id="rId28"/>
    <p:sldId id="274" r:id="rId29"/>
    <p:sldId id="328" r:id="rId30"/>
    <p:sldId id="275" r:id="rId31"/>
    <p:sldId id="329" r:id="rId32"/>
    <p:sldId id="330" r:id="rId33"/>
    <p:sldId id="331" r:id="rId34"/>
    <p:sldId id="276" r:id="rId35"/>
    <p:sldId id="277" r:id="rId36"/>
    <p:sldId id="278" r:id="rId37"/>
    <p:sldId id="279" r:id="rId38"/>
    <p:sldId id="333" r:id="rId39"/>
    <p:sldId id="280" r:id="rId40"/>
    <p:sldId id="332" r:id="rId41"/>
    <p:sldId id="334" r:id="rId42"/>
    <p:sldId id="281" r:id="rId43"/>
    <p:sldId id="282" r:id="rId44"/>
    <p:sldId id="335" r:id="rId45"/>
    <p:sldId id="283" r:id="rId46"/>
    <p:sldId id="336" r:id="rId47"/>
    <p:sldId id="284" r:id="rId48"/>
    <p:sldId id="337" r:id="rId49"/>
    <p:sldId id="285" r:id="rId50"/>
    <p:sldId id="338" r:id="rId51"/>
    <p:sldId id="339" r:id="rId52"/>
    <p:sldId id="286" r:id="rId53"/>
    <p:sldId id="288" r:id="rId54"/>
    <p:sldId id="290" r:id="rId55"/>
    <p:sldId id="342" r:id="rId56"/>
    <p:sldId id="291" r:id="rId57"/>
    <p:sldId id="292" r:id="rId58"/>
    <p:sldId id="293" r:id="rId59"/>
    <p:sldId id="294" r:id="rId60"/>
    <p:sldId id="295" r:id="rId61"/>
    <p:sldId id="296" r:id="rId62"/>
    <p:sldId id="297" r:id="rId63"/>
    <p:sldId id="298" r:id="rId64"/>
    <p:sldId id="299" r:id="rId65"/>
    <p:sldId id="300" r:id="rId66"/>
    <p:sldId id="301" r:id="rId67"/>
    <p:sldId id="340" r:id="rId68"/>
    <p:sldId id="345" r:id="rId69"/>
    <p:sldId id="302" r:id="rId70"/>
    <p:sldId id="346" r:id="rId71"/>
    <p:sldId id="303" r:id="rId72"/>
    <p:sldId id="341" r:id="rId73"/>
    <p:sldId id="309" r:id="rId74"/>
    <p:sldId id="343" r:id="rId75"/>
    <p:sldId id="344" r:id="rId76"/>
    <p:sldId id="310"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p:cViewPr varScale="1">
        <p:scale>
          <a:sx n="70" d="100"/>
          <a:sy n="70" d="100"/>
        </p:scale>
        <p:origin x="1197" y="5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brazil.gov.br/" TargetMode="External"/><Relationship Id="rId2" Type="http://schemas.openxmlformats.org/officeDocument/2006/relationships/hyperlink" Target="http://goidirectory.nic.in/ministry.ht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www.advocacy.org.za/"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www.iisd.ca/voltoc.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www.vigeye.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hrichina.org/" TargetMode="External"/><Relationship Id="rId2" Type="http://schemas.openxmlformats.org/officeDocument/2006/relationships/hyperlink" Target="http://www.transparency.org/press_moni.htm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www.cddc.vt.edu/digitalgov/Latur-Gujarat.htm"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www.sciences-po.fr/etudiants/electionsM/index.htm" TargetMode="External"/><Relationship Id="rId2" Type="http://schemas.openxmlformats.org/officeDocument/2006/relationships/hyperlink" Target="http://www.vote.ph/"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www.undp.org/hdro/indicators.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www.igc.org/" TargetMode="External"/><Relationship Id="rId2" Type="http://schemas.openxmlformats.org/officeDocument/2006/relationships/hyperlink" Target="http://cybercentre.greenpeace.org/t/s/community_articles"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www.gyandoot.net/gyandoot/intranet.html" TargetMode="External"/><Relationship Id="rId2" Type="http://schemas.openxmlformats.org/officeDocument/2006/relationships/hyperlink" Target="http://www1.worldbank.org/publicsector/egov/philippinecustomscs.htm"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90600"/>
            <a:ext cx="7772400" cy="1470025"/>
          </a:xfrm>
        </p:spPr>
        <p:txBody>
          <a:bodyPr>
            <a:normAutofit/>
          </a:bodyPr>
          <a:lstStyle/>
          <a:p>
            <a:r>
              <a:rPr lang="ru-RU" dirty="0" smtClean="0">
                <a:solidFill>
                  <a:srgbClr val="7030A0"/>
                </a:solidFill>
              </a:rPr>
              <a:t>Unit 2</a:t>
            </a:r>
            <a:r>
              <a:rPr lang="en-US" dirty="0" smtClean="0">
                <a:solidFill>
                  <a:srgbClr val="7030A0"/>
                </a:solidFill>
              </a:rPr>
              <a:t/>
            </a:r>
            <a:br>
              <a:rPr lang="en-US" dirty="0" smtClean="0">
                <a:solidFill>
                  <a:srgbClr val="7030A0"/>
                </a:solidFill>
              </a:rPr>
            </a:br>
            <a:r>
              <a:rPr lang="en-US" dirty="0" smtClean="0">
                <a:solidFill>
                  <a:srgbClr val="7030A0"/>
                </a:solidFill>
              </a:rPr>
              <a:t>Models of </a:t>
            </a:r>
            <a:r>
              <a:rPr lang="ru-RU" dirty="0" smtClean="0">
                <a:solidFill>
                  <a:srgbClr val="7030A0"/>
                </a:solidFill>
              </a:rPr>
              <a:t>E Governance</a:t>
            </a:r>
            <a:endParaRPr lang="en-US" dirty="0">
              <a:solidFill>
                <a:srgbClr val="7030A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Models of Digital Governance</a:t>
            </a:r>
            <a:r>
              <a:rPr lang="en-US" dirty="0" smtClean="0"/>
              <a:t/>
            </a:r>
            <a:br>
              <a:rPr lang="en-US" dirty="0" smtClean="0"/>
            </a:br>
            <a:endParaRPr lang="en-US" dirty="0"/>
          </a:p>
        </p:txBody>
      </p:sp>
      <p:sp>
        <p:nvSpPr>
          <p:cNvPr id="3" name="Content Placeholder 2"/>
          <p:cNvSpPr>
            <a:spLocks noGrp="1"/>
          </p:cNvSpPr>
          <p:nvPr>
            <p:ph idx="1"/>
          </p:nvPr>
        </p:nvSpPr>
        <p:spPr>
          <a:xfrm>
            <a:off x="609600" y="1143000"/>
            <a:ext cx="8153400" cy="5105400"/>
          </a:xfrm>
        </p:spPr>
        <p:txBody>
          <a:bodyPr>
            <a:normAutofit fontScale="70000" lnSpcReduction="20000"/>
          </a:bodyPr>
          <a:lstStyle/>
          <a:p>
            <a:pPr algn="just"/>
            <a:r>
              <a:rPr lang="ru-RU" dirty="0" smtClean="0">
                <a:solidFill>
                  <a:srgbClr val="00B050"/>
                </a:solidFill>
              </a:rPr>
              <a:t>Still evolving </a:t>
            </a:r>
            <a:r>
              <a:rPr lang="ru-RU" dirty="0" smtClean="0"/>
              <a:t>in developing countries</a:t>
            </a:r>
            <a:endParaRPr lang="en-US" dirty="0" smtClean="0"/>
          </a:p>
          <a:p>
            <a:pPr algn="just"/>
            <a:r>
              <a:rPr lang="en-US" dirty="0"/>
              <a:t>There are a few basic theoretical models of Digital Governance, which may serve as a guide to implant </a:t>
            </a:r>
            <a:r>
              <a:rPr lang="en-US" dirty="0" smtClean="0"/>
              <a:t>the </a:t>
            </a:r>
            <a:r>
              <a:rPr lang="en-US" dirty="0"/>
              <a:t>idea into reality. </a:t>
            </a:r>
            <a:endParaRPr lang="en-US" dirty="0" smtClean="0"/>
          </a:p>
          <a:p>
            <a:pPr algn="just"/>
            <a:r>
              <a:rPr lang="en-US" dirty="0"/>
              <a:t>There are two characteristics of the new technologies that remain the same in </a:t>
            </a:r>
            <a:r>
              <a:rPr lang="en-US" dirty="0" smtClean="0"/>
              <a:t>various models.</a:t>
            </a:r>
          </a:p>
          <a:p>
            <a:pPr algn="just"/>
            <a:r>
              <a:rPr lang="ru-RU" dirty="0" smtClean="0"/>
              <a:t>Models are based on the </a:t>
            </a:r>
            <a:r>
              <a:rPr lang="ru-RU" dirty="0" smtClean="0">
                <a:solidFill>
                  <a:srgbClr val="FF0000"/>
                </a:solidFill>
              </a:rPr>
              <a:t>inherent characteristics of ICT </a:t>
            </a:r>
            <a:r>
              <a:rPr lang="ru-RU" dirty="0" smtClean="0"/>
              <a:t>such as </a:t>
            </a:r>
            <a:r>
              <a:rPr lang="ru-RU" dirty="0" smtClean="0">
                <a:solidFill>
                  <a:srgbClr val="FF0000"/>
                </a:solidFill>
              </a:rPr>
              <a:t>enabling equal access to information to anyone </a:t>
            </a:r>
            <a:r>
              <a:rPr lang="ru-RU" dirty="0" smtClean="0"/>
              <a:t>who is a part of the </a:t>
            </a:r>
            <a:r>
              <a:rPr lang="ru-RU" dirty="0" smtClean="0">
                <a:solidFill>
                  <a:srgbClr val="00B050"/>
                </a:solidFill>
              </a:rPr>
              <a:t>digital network </a:t>
            </a:r>
            <a:r>
              <a:rPr lang="ru-RU" dirty="0" smtClean="0"/>
              <a:t>and </a:t>
            </a:r>
            <a:r>
              <a:rPr lang="ru-RU" dirty="0" smtClean="0">
                <a:solidFill>
                  <a:srgbClr val="FF0000"/>
                </a:solidFill>
              </a:rPr>
              <a:t>de-concentration  of   information   across  the  entire digital    network</a:t>
            </a:r>
            <a:r>
              <a:rPr lang="ru-RU" dirty="0" smtClean="0"/>
              <a:t>,    connecting     all    sources    of information. </a:t>
            </a:r>
            <a:endParaRPr lang="en-US" dirty="0" smtClean="0"/>
          </a:p>
          <a:p>
            <a:pPr algn="just"/>
            <a:r>
              <a:rPr lang="ru-RU" dirty="0" smtClean="0"/>
              <a:t>Information </a:t>
            </a:r>
            <a:r>
              <a:rPr lang="ru-RU" dirty="0" smtClean="0">
                <a:solidFill>
                  <a:srgbClr val="00B050"/>
                </a:solidFill>
              </a:rPr>
              <a:t>does not reside on any particular node </a:t>
            </a:r>
            <a:r>
              <a:rPr lang="ru-RU" dirty="0" smtClean="0"/>
              <a:t>but </a:t>
            </a:r>
            <a:r>
              <a:rPr lang="ru-RU" dirty="0" smtClean="0">
                <a:solidFill>
                  <a:srgbClr val="00B050"/>
                </a:solidFill>
              </a:rPr>
              <a:t>flows equally across all the nodes in the Digital Governance Model.</a:t>
            </a:r>
            <a:endParaRPr lang="en-US" dirty="0" smtClean="0">
              <a:solidFill>
                <a:srgbClr val="00B050"/>
              </a:solidFill>
            </a:endParaRPr>
          </a:p>
          <a:p>
            <a:pPr algn="just"/>
            <a:r>
              <a:rPr lang="ru-RU" dirty="0" smtClean="0"/>
              <a:t>Does</a:t>
            </a:r>
            <a:r>
              <a:rPr lang="en-US" dirty="0" smtClean="0"/>
              <a:t> </a:t>
            </a:r>
            <a:r>
              <a:rPr lang="ru-RU" dirty="0" smtClean="0"/>
              <a:t>not  embed  the </a:t>
            </a:r>
            <a:r>
              <a:rPr lang="ru-RU" dirty="0" smtClean="0">
                <a:solidFill>
                  <a:srgbClr val="00B050"/>
                </a:solidFill>
              </a:rPr>
              <a:t>common hierarchical information  flow  model</a:t>
            </a:r>
            <a:r>
              <a:rPr lang="ru-RU" dirty="0" smtClean="0"/>
              <a:t>  that  leads  to  the  unequal distribution of information and hence skewed power relations. </a:t>
            </a:r>
            <a:endParaRPr lang="en-US"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smtClean="0"/>
              <a:t/>
            </a:r>
            <a:br>
              <a:rPr lang="en-US" dirty="0" smtClean="0"/>
            </a:br>
            <a:r>
              <a:rPr lang="ru-RU" dirty="0" smtClean="0">
                <a:solidFill>
                  <a:srgbClr val="0070C0"/>
                </a:solidFill>
              </a:rPr>
              <a:t>Models of Digital Governance</a:t>
            </a:r>
            <a:r>
              <a:rPr lang="en-US" dirty="0" smtClean="0"/>
              <a:t/>
            </a:r>
            <a:br>
              <a:rPr lang="en-US" dirty="0" smtClean="0"/>
            </a:br>
            <a:endParaRPr lang="en-US" dirty="0"/>
          </a:p>
        </p:txBody>
      </p:sp>
      <p:sp>
        <p:nvSpPr>
          <p:cNvPr id="3" name="Content Placeholder 2"/>
          <p:cNvSpPr>
            <a:spLocks noGrp="1"/>
          </p:cNvSpPr>
          <p:nvPr>
            <p:ph idx="1"/>
          </p:nvPr>
        </p:nvSpPr>
        <p:spPr>
          <a:xfrm>
            <a:off x="457200" y="1295400"/>
            <a:ext cx="8229600" cy="4525963"/>
          </a:xfrm>
        </p:spPr>
        <p:txBody>
          <a:bodyPr>
            <a:normAutofit fontScale="85000" lnSpcReduction="10000"/>
          </a:bodyPr>
          <a:lstStyle/>
          <a:p>
            <a:pPr algn="just"/>
            <a:r>
              <a:rPr lang="ru-RU" dirty="0" smtClean="0">
                <a:solidFill>
                  <a:srgbClr val="00B050"/>
                </a:solidFill>
              </a:rPr>
              <a:t>Hierarchy is inherent in the government departments </a:t>
            </a:r>
            <a:r>
              <a:rPr lang="ru-RU" dirty="0" smtClean="0"/>
              <a:t>where equity based information flow may not always be compatible with government functioning.</a:t>
            </a:r>
            <a:endParaRPr lang="en-US" dirty="0" smtClean="0"/>
          </a:p>
          <a:p>
            <a:pPr algn="just"/>
            <a:r>
              <a:rPr lang="ru-RU" dirty="0" smtClean="0"/>
              <a:t>Hence,   </a:t>
            </a:r>
            <a:r>
              <a:rPr lang="ru-RU" dirty="0" smtClean="0">
                <a:solidFill>
                  <a:srgbClr val="00B050"/>
                </a:solidFill>
              </a:rPr>
              <a:t>appropriate  administrative  reforms   and  some reengineering is required</a:t>
            </a:r>
            <a:r>
              <a:rPr lang="ru-RU" dirty="0" smtClean="0"/>
              <a:t> before the real implementation of e-governance</a:t>
            </a:r>
            <a:r>
              <a:rPr lang="en-US" dirty="0" smtClean="0"/>
              <a:t>.</a:t>
            </a:r>
          </a:p>
          <a:p>
            <a:pPr algn="just"/>
            <a:r>
              <a:rPr lang="ru-RU" dirty="0" smtClean="0">
                <a:solidFill>
                  <a:srgbClr val="FF0000"/>
                </a:solidFill>
              </a:rPr>
              <a:t>Models  of   e-governance  are   fundamentally  different   in developing and developed countries  </a:t>
            </a:r>
            <a:r>
              <a:rPr lang="ru-RU" dirty="0" smtClean="0"/>
              <a:t>due to differences in basic  conditions  and  perspectives  and  expectations  from good governance.</a:t>
            </a:r>
            <a:endParaRPr lang="en-US" dirty="0" smtClean="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smtClean="0">
                <a:solidFill>
                  <a:srgbClr val="0070C0"/>
                </a:solidFill>
              </a:rPr>
              <a:t>Models of Digital Governance In Developing Countries</a:t>
            </a:r>
            <a:endParaRPr lang="en-US" dirty="0">
              <a:solidFill>
                <a:srgbClr val="0070C0"/>
              </a:solidFill>
            </a:endParaRPr>
          </a:p>
        </p:txBody>
      </p:sp>
      <p:sp>
        <p:nvSpPr>
          <p:cNvPr id="3" name="Content Placeholder 2"/>
          <p:cNvSpPr>
            <a:spLocks noGrp="1"/>
          </p:cNvSpPr>
          <p:nvPr>
            <p:ph idx="1"/>
          </p:nvPr>
        </p:nvSpPr>
        <p:spPr>
          <a:xfrm>
            <a:off x="457200" y="1600201"/>
            <a:ext cx="8229600" cy="3124200"/>
          </a:xfrm>
        </p:spPr>
        <p:txBody>
          <a:bodyPr>
            <a:normAutofit fontScale="92500" lnSpcReduction="10000"/>
          </a:bodyPr>
          <a:lstStyle/>
          <a:p>
            <a:pPr>
              <a:buNone/>
            </a:pPr>
            <a:r>
              <a:rPr lang="ru-RU" dirty="0" smtClean="0"/>
              <a:t>• Broadcasting/Wider Dissemination Model</a:t>
            </a:r>
            <a:endParaRPr lang="en-US" dirty="0" smtClean="0"/>
          </a:p>
          <a:p>
            <a:pPr>
              <a:buNone/>
            </a:pPr>
            <a:r>
              <a:rPr lang="ru-RU" dirty="0" smtClean="0"/>
              <a:t>• Critical Flow Model</a:t>
            </a:r>
            <a:endParaRPr lang="en-US" dirty="0" smtClean="0"/>
          </a:p>
          <a:p>
            <a:pPr>
              <a:buNone/>
            </a:pPr>
            <a:r>
              <a:rPr lang="ru-RU" dirty="0" smtClean="0"/>
              <a:t>• Comparative Analysis Model</a:t>
            </a:r>
            <a:endParaRPr lang="en-US" dirty="0" smtClean="0"/>
          </a:p>
          <a:p>
            <a:pPr>
              <a:buNone/>
            </a:pPr>
            <a:r>
              <a:rPr lang="ru-RU" dirty="0" smtClean="0"/>
              <a:t>• Mobilization And Lobbying Model</a:t>
            </a:r>
            <a:endParaRPr lang="en-US" dirty="0" smtClean="0"/>
          </a:p>
          <a:p>
            <a:pPr>
              <a:buNone/>
            </a:pPr>
            <a:r>
              <a:rPr lang="ru-RU" dirty="0" smtClean="0"/>
              <a:t>• Interactive Service Model</a:t>
            </a:r>
            <a:endParaRPr lang="en-US" dirty="0" smtClean="0"/>
          </a:p>
          <a:p>
            <a:pPr>
              <a:buNone/>
            </a:pPr>
            <a:r>
              <a:rPr lang="ru-RU" dirty="0" smtClean="0"/>
              <a:t>• E-governance Maturity Model</a:t>
            </a:r>
            <a:endParaRPr lang="en-US" dirty="0" smtClean="0"/>
          </a:p>
          <a:p>
            <a:endParaRPr lang="en-US" dirty="0"/>
          </a:p>
        </p:txBody>
      </p:sp>
      <p:graphicFrame>
        <p:nvGraphicFramePr>
          <p:cNvPr id="4" name="Table 3"/>
          <p:cNvGraphicFramePr>
            <a:graphicFrameLocks noGrp="1"/>
          </p:cNvGraphicFramePr>
          <p:nvPr/>
        </p:nvGraphicFramePr>
        <p:xfrm>
          <a:off x="533400" y="5105400"/>
          <a:ext cx="8001000" cy="1104900"/>
        </p:xfrm>
        <a:graphic>
          <a:graphicData uri="http://schemas.openxmlformats.org/drawingml/2006/table">
            <a:tbl>
              <a:tblPr/>
              <a:tblGrid>
                <a:gridCol w="8001000">
                  <a:extLst>
                    <a:ext uri="{9D8B030D-6E8A-4147-A177-3AD203B41FA5}">
                      <a16:colId xmlns:a16="http://schemas.microsoft.com/office/drawing/2014/main" val="20000"/>
                    </a:ext>
                  </a:extLst>
                </a:gridCol>
              </a:tblGrid>
              <a:tr h="716450">
                <a:tc>
                  <a:txBody>
                    <a:bodyPr/>
                    <a:lstStyle/>
                    <a:p>
                      <a:pPr marL="0" marR="0" algn="just">
                        <a:lnSpc>
                          <a:spcPts val="2875"/>
                        </a:lnSpc>
                        <a:spcBef>
                          <a:spcPts val="0"/>
                        </a:spcBef>
                        <a:spcAft>
                          <a:spcPts val="0"/>
                        </a:spcAft>
                      </a:pPr>
                      <a:r>
                        <a:rPr lang="ru-RU" sz="2400" dirty="0">
                          <a:solidFill>
                            <a:srgbClr val="000000"/>
                          </a:solidFill>
                          <a:latin typeface="RLBHGC+FuturaBT-Light"/>
                          <a:ea typeface="Calibri"/>
                          <a:cs typeface="Times New Roman"/>
                        </a:rPr>
                        <a:t>These models </a:t>
                      </a:r>
                      <a:r>
                        <a:rPr lang="ru-RU" sz="2400" dirty="0">
                          <a:solidFill>
                            <a:srgbClr val="FF0000"/>
                          </a:solidFill>
                          <a:latin typeface="RLBHGC+FuturaBT-Light"/>
                          <a:ea typeface="Calibri"/>
                          <a:cs typeface="Times New Roman"/>
                        </a:rPr>
                        <a:t>exhibit several variations dependent on the local </a:t>
                      </a:r>
                      <a:r>
                        <a:rPr lang="ru-RU" sz="2400" dirty="0" smtClean="0">
                          <a:solidFill>
                            <a:srgbClr val="FF0000"/>
                          </a:solidFill>
                          <a:latin typeface="RLBHGC+FuturaBT-Light"/>
                          <a:ea typeface="Calibri"/>
                          <a:cs typeface="Times New Roman"/>
                        </a:rPr>
                        <a:t>situation</a:t>
                      </a:r>
                      <a:r>
                        <a:rPr lang="ru-RU" sz="2400" dirty="0" smtClean="0">
                          <a:solidFill>
                            <a:srgbClr val="000000"/>
                          </a:solidFill>
                          <a:latin typeface="RLBHGC+FuturaBT-Light"/>
                          <a:ea typeface="Calibri"/>
                          <a:cs typeface="Times New Roman"/>
                        </a:rPr>
                        <a:t> </a:t>
                      </a:r>
                      <a:r>
                        <a:rPr lang="ru-RU" sz="2400" dirty="0">
                          <a:solidFill>
                            <a:srgbClr val="000000"/>
                          </a:solidFill>
                          <a:latin typeface="RLBHGC+FuturaBT-Light"/>
                          <a:ea typeface="Calibri"/>
                          <a:cs typeface="Times New Roman"/>
                        </a:rPr>
                        <a:t>and the </a:t>
                      </a:r>
                      <a:r>
                        <a:rPr lang="ru-RU" sz="2400" dirty="0">
                          <a:solidFill>
                            <a:srgbClr val="00B050"/>
                          </a:solidFill>
                          <a:latin typeface="RLBHGC+FuturaBT-Light"/>
                          <a:ea typeface="Calibri"/>
                          <a:cs typeface="Times New Roman"/>
                        </a:rPr>
                        <a:t>governance functions </a:t>
                      </a:r>
                      <a:r>
                        <a:rPr lang="ru-RU" sz="2400" dirty="0">
                          <a:solidFill>
                            <a:srgbClr val="000000"/>
                          </a:solidFill>
                          <a:latin typeface="RLBHGC+FuturaBT-Light"/>
                          <a:ea typeface="Calibri"/>
                          <a:cs typeface="Times New Roman"/>
                        </a:rPr>
                        <a:t>carried out through </a:t>
                      </a:r>
                      <a:r>
                        <a:rPr lang="ru-RU" sz="2400" dirty="0" smtClean="0">
                          <a:solidFill>
                            <a:srgbClr val="000000"/>
                          </a:solidFill>
                          <a:latin typeface="RLBHGC+FuturaBT-Light"/>
                          <a:ea typeface="Calibri"/>
                          <a:cs typeface="Times New Roman"/>
                        </a:rPr>
                        <a:t>these</a:t>
                      </a:r>
                      <a:r>
                        <a:rPr lang="en-US" sz="2400" baseline="0" dirty="0" smtClean="0">
                          <a:solidFill>
                            <a:srgbClr val="000000"/>
                          </a:solidFill>
                          <a:latin typeface="Calibri"/>
                          <a:ea typeface="Calibri"/>
                          <a:cs typeface="Times New Roman"/>
                        </a:rPr>
                        <a:t>      </a:t>
                      </a:r>
                      <a:r>
                        <a:rPr lang="ru-RU" sz="2400" dirty="0" smtClean="0">
                          <a:solidFill>
                            <a:srgbClr val="000000"/>
                          </a:solidFill>
                          <a:latin typeface="RLBHGC+FuturaBT-Light"/>
                          <a:ea typeface="Calibri"/>
                          <a:cs typeface="Times New Roman"/>
                        </a:rPr>
                        <a:t>models</a:t>
                      </a:r>
                      <a:endParaRPr lang="en-US" sz="2400" dirty="0">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839200" cy="868362"/>
          </a:xfrm>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Broadcasting/Wider </a:t>
            </a:r>
            <a:r>
              <a:rPr lang="ru-RU" dirty="0">
                <a:solidFill>
                  <a:srgbClr val="0070C0"/>
                </a:solidFill>
              </a:rPr>
              <a:t>Disseminating Model</a:t>
            </a:r>
            <a:r>
              <a:rPr lang="en-US" dirty="0"/>
              <a:t/>
            </a:r>
            <a:br>
              <a:rPr lang="en-US" dirty="0"/>
            </a:br>
            <a:endParaRPr lang="en-US" dirty="0"/>
          </a:p>
        </p:txBody>
      </p:sp>
      <p:sp>
        <p:nvSpPr>
          <p:cNvPr id="3" name="Content Placeholder 2"/>
          <p:cNvSpPr>
            <a:spLocks noGrp="1"/>
          </p:cNvSpPr>
          <p:nvPr>
            <p:ph idx="1"/>
          </p:nvPr>
        </p:nvSpPr>
        <p:spPr>
          <a:xfrm>
            <a:off x="381000" y="1295400"/>
            <a:ext cx="8229600" cy="5029200"/>
          </a:xfrm>
        </p:spPr>
        <p:txBody>
          <a:bodyPr>
            <a:normAutofit fontScale="70000" lnSpcReduction="20000"/>
          </a:bodyPr>
          <a:lstStyle/>
          <a:p>
            <a:pPr algn="just"/>
            <a:r>
              <a:rPr lang="en-US" dirty="0"/>
              <a:t>In Broadcasting model, governance-related information, which is already </a:t>
            </a:r>
            <a:r>
              <a:rPr lang="en-US" dirty="0">
                <a:solidFill>
                  <a:srgbClr val="FF0000"/>
                </a:solidFill>
              </a:rPr>
              <a:t>available in the public domain</a:t>
            </a:r>
            <a:r>
              <a:rPr lang="en-US" dirty="0"/>
              <a:t>, is </a:t>
            </a:r>
            <a:r>
              <a:rPr lang="en-US" dirty="0">
                <a:solidFill>
                  <a:srgbClr val="FF0000"/>
                </a:solidFill>
              </a:rPr>
              <a:t>further spread into the wider public domain</a:t>
            </a:r>
            <a:r>
              <a:rPr lang="en-US" dirty="0"/>
              <a:t> using modern information and communication technologies. </a:t>
            </a:r>
            <a:endParaRPr lang="en-US" dirty="0" smtClean="0"/>
          </a:p>
          <a:p>
            <a:pPr algn="just"/>
            <a:r>
              <a:rPr lang="en-US" dirty="0" smtClean="0"/>
              <a:t>This </a:t>
            </a:r>
            <a:r>
              <a:rPr lang="en-US" dirty="0"/>
              <a:t>raises </a:t>
            </a:r>
            <a:r>
              <a:rPr lang="en-US" dirty="0">
                <a:solidFill>
                  <a:srgbClr val="FF0000"/>
                </a:solidFill>
              </a:rPr>
              <a:t>awareness among the citizens about ongoing governance processes</a:t>
            </a:r>
            <a:r>
              <a:rPr lang="en-US" dirty="0"/>
              <a:t> and government services that are available to them and how they can benefit from them. </a:t>
            </a:r>
            <a:endParaRPr lang="en-US" dirty="0" smtClean="0"/>
          </a:p>
          <a:p>
            <a:pPr algn="just"/>
            <a:r>
              <a:rPr lang="en-US" dirty="0" smtClean="0"/>
              <a:t>It </a:t>
            </a:r>
            <a:r>
              <a:rPr lang="en-US" dirty="0"/>
              <a:t>allows </a:t>
            </a:r>
            <a:r>
              <a:rPr lang="en-US" dirty="0">
                <a:solidFill>
                  <a:srgbClr val="FF0000"/>
                </a:solidFill>
              </a:rPr>
              <a:t>citizens to form an opinion of the government and its administration</a:t>
            </a:r>
            <a:r>
              <a:rPr lang="en-US" dirty="0"/>
              <a:t> based on services delivered to </a:t>
            </a:r>
            <a:r>
              <a:rPr lang="en-US" dirty="0" smtClean="0"/>
              <a:t>them- </a:t>
            </a:r>
            <a:r>
              <a:rPr lang="en-US" dirty="0"/>
              <a:t>whether the government services were available to them, and the quality of service received. </a:t>
            </a:r>
            <a:endParaRPr lang="en-US" dirty="0" smtClean="0"/>
          </a:p>
          <a:p>
            <a:pPr algn="just"/>
            <a:r>
              <a:rPr lang="en-US" dirty="0" smtClean="0"/>
              <a:t>This </a:t>
            </a:r>
            <a:r>
              <a:rPr lang="en-US" dirty="0"/>
              <a:t>could be judged in terms of </a:t>
            </a:r>
            <a:r>
              <a:rPr lang="en-US" dirty="0">
                <a:solidFill>
                  <a:srgbClr val="FF0000"/>
                </a:solidFill>
              </a:rPr>
              <a:t>time spent</a:t>
            </a:r>
            <a:r>
              <a:rPr lang="en-US" dirty="0"/>
              <a:t>, </a:t>
            </a:r>
            <a:r>
              <a:rPr lang="en-US" dirty="0">
                <a:solidFill>
                  <a:srgbClr val="FF0000"/>
                </a:solidFill>
              </a:rPr>
              <a:t>number of visits </a:t>
            </a:r>
            <a:r>
              <a:rPr lang="en-US" dirty="0" smtClean="0">
                <a:solidFill>
                  <a:srgbClr val="FF0000"/>
                </a:solidFill>
              </a:rPr>
              <a:t>required</a:t>
            </a:r>
            <a:r>
              <a:rPr lang="en-US" dirty="0" smtClean="0"/>
              <a:t> </a:t>
            </a:r>
            <a:r>
              <a:rPr lang="en-US" dirty="0"/>
              <a:t>and level of bureaucracy encountered to avail the services</a:t>
            </a:r>
            <a:r>
              <a:rPr lang="en-US" dirty="0" smtClean="0"/>
              <a:t>.</a:t>
            </a:r>
          </a:p>
          <a:p>
            <a:pPr algn="just"/>
            <a:r>
              <a:rPr lang="en-US" dirty="0"/>
              <a:t>Equipped with this information, the </a:t>
            </a:r>
            <a:r>
              <a:rPr lang="en-US" dirty="0">
                <a:solidFill>
                  <a:srgbClr val="FF0000"/>
                </a:solidFill>
              </a:rPr>
              <a:t>citizens can feel more empowered to voice their concerns</a:t>
            </a:r>
            <a:r>
              <a:rPr lang="en-US" dirty="0"/>
              <a:t> and influence governance processes to make them more efficient. </a:t>
            </a:r>
          </a:p>
        </p:txBody>
      </p:sp>
    </p:spTree>
    <p:extLst>
      <p:ext uri="{BB962C8B-B14F-4D97-AF65-F5344CB8AC3E}">
        <p14:creationId xmlns:p14="http://schemas.microsoft.com/office/powerpoint/2010/main" val="37189707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71" y="11625"/>
            <a:ext cx="8991600" cy="715962"/>
          </a:xfrm>
        </p:spPr>
        <p:txBody>
          <a:bodyPr>
            <a:normAutofit fontScale="90000"/>
          </a:bodyPr>
          <a:lstStyle/>
          <a:p>
            <a:r>
              <a:rPr lang="ru-RU" dirty="0">
                <a:solidFill>
                  <a:srgbClr val="0070C0"/>
                </a:solidFill>
              </a:rPr>
              <a:t>Broadcasting/Wider Disseminating Model</a:t>
            </a:r>
            <a:endParaRPr lang="en-US" dirty="0"/>
          </a:p>
        </p:txBody>
      </p:sp>
      <p:sp>
        <p:nvSpPr>
          <p:cNvPr id="3" name="Content Placeholder 2"/>
          <p:cNvSpPr>
            <a:spLocks noGrp="1"/>
          </p:cNvSpPr>
          <p:nvPr>
            <p:ph idx="1"/>
          </p:nvPr>
        </p:nvSpPr>
        <p:spPr>
          <a:xfrm>
            <a:off x="570271" y="1066800"/>
            <a:ext cx="8229600" cy="3733800"/>
          </a:xfrm>
        </p:spPr>
        <p:txBody>
          <a:bodyPr>
            <a:normAutofit fontScale="92500" lnSpcReduction="10000"/>
          </a:bodyPr>
          <a:lstStyle/>
          <a:p>
            <a:pPr algn="just"/>
            <a:r>
              <a:rPr lang="en-US" sz="2400" dirty="0"/>
              <a:t>The application of this model using appropriate technologies, could reduce the "</a:t>
            </a:r>
            <a:r>
              <a:rPr lang="en-US" sz="2400" dirty="0">
                <a:solidFill>
                  <a:srgbClr val="FF0000"/>
                </a:solidFill>
              </a:rPr>
              <a:t>information failure situations</a:t>
            </a:r>
            <a:r>
              <a:rPr lang="en-US" sz="2400" dirty="0"/>
              <a:t>" where </a:t>
            </a:r>
            <a:r>
              <a:rPr lang="en-US" sz="2400" dirty="0">
                <a:solidFill>
                  <a:srgbClr val="FF0000"/>
                </a:solidFill>
              </a:rPr>
              <a:t>citizens are unaware of new and existing services</a:t>
            </a:r>
            <a:r>
              <a:rPr lang="en-US" sz="2400" dirty="0"/>
              <a:t> being provided by the government. </a:t>
            </a:r>
            <a:endParaRPr lang="en-US" sz="2400" dirty="0" smtClean="0"/>
          </a:p>
          <a:p>
            <a:pPr algn="just"/>
            <a:r>
              <a:rPr lang="en-US" sz="2400" dirty="0" smtClean="0"/>
              <a:t>It </a:t>
            </a:r>
            <a:r>
              <a:rPr lang="en-US" sz="2400" dirty="0"/>
              <a:t>can also </a:t>
            </a:r>
            <a:r>
              <a:rPr lang="en-US" sz="2400" dirty="0">
                <a:solidFill>
                  <a:srgbClr val="FF0000"/>
                </a:solidFill>
              </a:rPr>
              <a:t>provide as alternative channel to people to stay updated of governance </a:t>
            </a:r>
            <a:r>
              <a:rPr lang="en-US" sz="2400" dirty="0"/>
              <a:t>related information and to </a:t>
            </a:r>
            <a:r>
              <a:rPr lang="en-US" sz="2400" dirty="0">
                <a:solidFill>
                  <a:srgbClr val="FF0000"/>
                </a:solidFill>
              </a:rPr>
              <a:t>validate information received from other sources</a:t>
            </a:r>
            <a:r>
              <a:rPr lang="en-US" sz="2400" dirty="0" smtClean="0">
                <a:solidFill>
                  <a:srgbClr val="FF0000"/>
                </a:solidFill>
              </a:rPr>
              <a:t>.</a:t>
            </a:r>
          </a:p>
          <a:p>
            <a:pPr algn="just"/>
            <a:r>
              <a:rPr lang="en-US" sz="2400" dirty="0"/>
              <a:t>When this model is widely spread, it eventually corrects the situation of communication failure and gives people information related to the government so that they can come up to consensus and decide the future course of action.</a:t>
            </a:r>
            <a:endParaRPr lang="en-US" sz="2400" dirty="0">
              <a:solidFill>
                <a:srgbClr val="FF0000"/>
              </a:solidFill>
            </a:endParaRPr>
          </a:p>
        </p:txBody>
      </p:sp>
    </p:spTree>
    <p:extLst>
      <p:ext uri="{BB962C8B-B14F-4D97-AF65-F5344CB8AC3E}">
        <p14:creationId xmlns:p14="http://schemas.microsoft.com/office/powerpoint/2010/main" val="39754911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9220200" cy="677862"/>
          </a:xfrm>
        </p:spPr>
        <p:txBody>
          <a:bodyPr>
            <a:normAutofit fontScale="90000"/>
          </a:bodyPr>
          <a:lstStyle/>
          <a:p>
            <a:r>
              <a:rPr lang="en-US" dirty="0" smtClean="0"/>
              <a:t/>
            </a:r>
            <a:br>
              <a:rPr lang="en-US" dirty="0" smtClean="0"/>
            </a:br>
            <a:r>
              <a:rPr lang="ru-RU" dirty="0" smtClean="0">
                <a:solidFill>
                  <a:srgbClr val="0070C0"/>
                </a:solidFill>
              </a:rPr>
              <a:t>Broadcasting/Wider Disseminating Model</a:t>
            </a:r>
            <a:r>
              <a:rPr lang="en-US" dirty="0" smtClean="0"/>
              <a:t/>
            </a:r>
            <a:br>
              <a:rPr lang="en-US" dirty="0" smtClean="0"/>
            </a:br>
            <a:endParaRPr lang="en-US" dirty="0"/>
          </a:p>
        </p:txBody>
      </p:sp>
      <p:sp>
        <p:nvSpPr>
          <p:cNvPr id="3" name="Content Placeholder 2"/>
          <p:cNvSpPr>
            <a:spLocks noGrp="1"/>
          </p:cNvSpPr>
          <p:nvPr>
            <p:ph idx="1"/>
          </p:nvPr>
        </p:nvSpPr>
        <p:spPr>
          <a:xfrm>
            <a:off x="4133171" y="1371600"/>
            <a:ext cx="5105400" cy="4525963"/>
          </a:xfrm>
        </p:spPr>
        <p:txBody>
          <a:bodyPr>
            <a:normAutofit fontScale="85000" lnSpcReduction="10000"/>
          </a:bodyPr>
          <a:lstStyle/>
          <a:p>
            <a:pPr>
              <a:buNone/>
            </a:pPr>
            <a:r>
              <a:rPr lang="ru-RU" dirty="0" smtClean="0"/>
              <a:t>• Laws and Legislations</a:t>
            </a:r>
            <a:endParaRPr lang="en-US" dirty="0" smtClean="0"/>
          </a:p>
          <a:p>
            <a:pPr>
              <a:buNone/>
            </a:pPr>
            <a:r>
              <a:rPr lang="ru-RU" dirty="0" smtClean="0"/>
              <a:t>• Govt. Offices and Officials</a:t>
            </a:r>
            <a:endParaRPr lang="en-US" dirty="0" smtClean="0"/>
          </a:p>
          <a:p>
            <a:pPr>
              <a:buNone/>
            </a:pPr>
            <a:r>
              <a:rPr lang="ru-RU" dirty="0" smtClean="0"/>
              <a:t>• General Health Information </a:t>
            </a:r>
            <a:endParaRPr lang="en-US" dirty="0" smtClean="0"/>
          </a:p>
          <a:p>
            <a:pPr>
              <a:buNone/>
            </a:pPr>
            <a:r>
              <a:rPr lang="ru-RU" dirty="0" smtClean="0"/>
              <a:t>• Environmental Problems</a:t>
            </a:r>
            <a:endParaRPr lang="en-US" dirty="0" smtClean="0"/>
          </a:p>
          <a:p>
            <a:pPr>
              <a:buNone/>
            </a:pPr>
            <a:r>
              <a:rPr lang="ru-RU" dirty="0" smtClean="0"/>
              <a:t>• Disaster Warning</a:t>
            </a:r>
            <a:endParaRPr lang="en-US" dirty="0" smtClean="0"/>
          </a:p>
          <a:p>
            <a:pPr>
              <a:buNone/>
            </a:pPr>
            <a:endParaRPr lang="en-US" dirty="0" smtClean="0"/>
          </a:p>
          <a:p>
            <a:pPr>
              <a:buNone/>
            </a:pPr>
            <a:r>
              <a:rPr lang="en-US" dirty="0" smtClean="0"/>
              <a:t>    </a:t>
            </a:r>
            <a:r>
              <a:rPr lang="ru-RU" dirty="0" smtClean="0"/>
              <a:t>Africa News Online, Kabissa Network, Wougnet,</a:t>
            </a:r>
            <a:r>
              <a:rPr lang="en-US" dirty="0" smtClean="0"/>
              <a:t> </a:t>
            </a:r>
            <a:r>
              <a:rPr lang="ru-RU" dirty="0" smtClean="0"/>
              <a:t>Earth Negotiations Bulletin (ENB),Communication Initiative</a:t>
            </a:r>
            <a:endParaRPr lang="en-US" dirty="0" smtClean="0"/>
          </a:p>
          <a:p>
            <a:pPr>
              <a:buNone/>
            </a:pPr>
            <a:endParaRPr lang="en-US" dirty="0" smtClean="0"/>
          </a:p>
          <a:p>
            <a:endParaRPr lang="en-US" dirty="0"/>
          </a:p>
        </p:txBody>
      </p:sp>
      <p:pic>
        <p:nvPicPr>
          <p:cNvPr id="10" name="Picture 9"/>
          <p:cNvPicPr>
            <a:picLocks noChangeAspect="1"/>
          </p:cNvPicPr>
          <p:nvPr/>
        </p:nvPicPr>
        <p:blipFill>
          <a:blip r:embed="rId2"/>
          <a:stretch>
            <a:fillRect/>
          </a:stretch>
        </p:blipFill>
        <p:spPr>
          <a:xfrm>
            <a:off x="147256" y="1524000"/>
            <a:ext cx="3985916" cy="37338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787" y="152400"/>
            <a:ext cx="8229600" cy="838200"/>
          </a:xfrm>
        </p:spPr>
        <p:txBody>
          <a:bodyPr>
            <a:normAutofit fontScale="90000"/>
          </a:bodyPr>
          <a:lstStyle/>
          <a:p>
            <a:r>
              <a:rPr lang="ru-RU" dirty="0" smtClean="0"/>
              <a:t/>
            </a:r>
            <a:br>
              <a:rPr lang="ru-RU" dirty="0" smtClean="0"/>
            </a:br>
            <a:r>
              <a:rPr lang="ru-RU" dirty="0" smtClean="0"/>
              <a:t> </a:t>
            </a:r>
            <a:r>
              <a:rPr lang="ru-RU" sz="4000" dirty="0" smtClean="0">
                <a:solidFill>
                  <a:srgbClr val="0070C0"/>
                </a:solidFill>
              </a:rPr>
              <a:t>Broadcasting/Wider Dissemination Model</a:t>
            </a:r>
            <a:r>
              <a:rPr lang="en-US" dirty="0" smtClean="0"/>
              <a:t/>
            </a:r>
            <a:br>
              <a:rPr lang="en-US" dirty="0" smtClean="0"/>
            </a:br>
            <a:endParaRPr lang="en-US" dirty="0"/>
          </a:p>
        </p:txBody>
      </p:sp>
      <p:sp>
        <p:nvSpPr>
          <p:cNvPr id="4" name="Content Placeholder 3"/>
          <p:cNvSpPr>
            <a:spLocks noGrp="1"/>
          </p:cNvSpPr>
          <p:nvPr>
            <p:ph idx="1"/>
          </p:nvPr>
        </p:nvSpPr>
        <p:spPr>
          <a:xfrm>
            <a:off x="442452" y="990600"/>
            <a:ext cx="8229600" cy="5715000"/>
          </a:xfrm>
        </p:spPr>
        <p:txBody>
          <a:bodyPr>
            <a:normAutofit fontScale="25000" lnSpcReduction="20000"/>
          </a:bodyPr>
          <a:lstStyle/>
          <a:p>
            <a:pPr algn="just"/>
            <a:r>
              <a:rPr lang="ru-RU" sz="9600" b="1" dirty="0" smtClean="0">
                <a:solidFill>
                  <a:srgbClr val="7030A0"/>
                </a:solidFill>
              </a:rPr>
              <a:t>Principle</a:t>
            </a:r>
            <a:endParaRPr lang="en-US" sz="9600" b="1" dirty="0" smtClean="0">
              <a:solidFill>
                <a:srgbClr val="7030A0"/>
              </a:solidFill>
            </a:endParaRPr>
          </a:p>
          <a:p>
            <a:pPr algn="just">
              <a:buNone/>
            </a:pPr>
            <a:r>
              <a:rPr lang="en-US" sz="8000" dirty="0" smtClean="0"/>
              <a:t> </a:t>
            </a:r>
            <a:r>
              <a:rPr lang="ru-RU" sz="8000" dirty="0" smtClean="0"/>
              <a:t>–  Based on </a:t>
            </a:r>
            <a:r>
              <a:rPr lang="ru-RU" sz="8000" dirty="0" smtClean="0">
                <a:solidFill>
                  <a:srgbClr val="FF0000"/>
                </a:solidFill>
              </a:rPr>
              <a:t>dissemination of </a:t>
            </a:r>
            <a:r>
              <a:rPr lang="en-US" sz="8000" dirty="0" smtClean="0">
                <a:solidFill>
                  <a:srgbClr val="FF0000"/>
                </a:solidFill>
              </a:rPr>
              <a:t>governance related </a:t>
            </a:r>
            <a:r>
              <a:rPr lang="ru-RU" sz="8000" dirty="0" smtClean="0">
                <a:solidFill>
                  <a:srgbClr val="FF0000"/>
                </a:solidFill>
              </a:rPr>
              <a:t>information </a:t>
            </a:r>
            <a:r>
              <a:rPr lang="ru-RU" sz="8000" dirty="0" smtClean="0"/>
              <a:t>relevant to better governance that  is  already  in   the  public  domain  into  wider   public  domain</a:t>
            </a:r>
            <a:r>
              <a:rPr lang="en-US" sz="8000" dirty="0" smtClean="0"/>
              <a:t> </a:t>
            </a:r>
            <a:r>
              <a:rPr lang="ru-RU" sz="8000" dirty="0" smtClean="0"/>
              <a:t>through the use of ICT and convergent media.</a:t>
            </a:r>
            <a:endParaRPr lang="en-US" sz="8000" dirty="0" smtClean="0"/>
          </a:p>
          <a:p>
            <a:pPr algn="just">
              <a:buNone/>
            </a:pPr>
            <a:r>
              <a:rPr lang="en-US" sz="8000" dirty="0" smtClean="0"/>
              <a:t> </a:t>
            </a:r>
            <a:r>
              <a:rPr lang="ru-RU" sz="8000" dirty="0" smtClean="0"/>
              <a:t>–  </a:t>
            </a:r>
            <a:r>
              <a:rPr lang="ru-RU" sz="8000" dirty="0" smtClean="0">
                <a:solidFill>
                  <a:srgbClr val="C00000"/>
                </a:solidFill>
              </a:rPr>
              <a:t>Rationale (Justification)</a:t>
            </a:r>
            <a:endParaRPr lang="en-US" sz="8000" dirty="0" smtClean="0">
              <a:solidFill>
                <a:srgbClr val="C00000"/>
              </a:solidFill>
            </a:endParaRPr>
          </a:p>
          <a:p>
            <a:pPr lvl="1" algn="just">
              <a:buFont typeface="Wingdings" pitchFamily="2" charset="2"/>
              <a:buChar char="ü"/>
            </a:pPr>
            <a:r>
              <a:rPr lang="ru-RU" sz="8000" dirty="0" smtClean="0">
                <a:solidFill>
                  <a:srgbClr val="00B050"/>
                </a:solidFill>
              </a:rPr>
              <a:t>A   more   informed   citizen  is   able   to   understand  the   governance mechanism better </a:t>
            </a:r>
            <a:r>
              <a:rPr lang="ru-RU" sz="8000" dirty="0" smtClean="0"/>
              <a:t>and is more empowered to make informed</a:t>
            </a:r>
            <a:r>
              <a:rPr lang="en-US" sz="8000" dirty="0" smtClean="0"/>
              <a:t> </a:t>
            </a:r>
            <a:r>
              <a:rPr lang="ru-RU" sz="8000" dirty="0" smtClean="0"/>
              <a:t>choices and exercise its rights and responsibilities.</a:t>
            </a:r>
            <a:endParaRPr lang="en-US" sz="8000" dirty="0" smtClean="0"/>
          </a:p>
          <a:p>
            <a:pPr lvl="1" algn="just">
              <a:buFont typeface="Wingdings" pitchFamily="2" charset="2"/>
              <a:buChar char="ü"/>
            </a:pPr>
            <a:r>
              <a:rPr lang="ru-RU" sz="8000" dirty="0" smtClean="0"/>
              <a:t>There is </a:t>
            </a:r>
            <a:r>
              <a:rPr lang="ru-RU" sz="8000" dirty="0" smtClean="0">
                <a:solidFill>
                  <a:srgbClr val="00B050"/>
                </a:solidFill>
              </a:rPr>
              <a:t>a great</a:t>
            </a:r>
            <a:r>
              <a:rPr lang="en-US" sz="8000" dirty="0" err="1" smtClean="0">
                <a:solidFill>
                  <a:srgbClr val="00B050"/>
                </a:solidFill>
              </a:rPr>
              <a:t>er</a:t>
            </a:r>
            <a:r>
              <a:rPr lang="ru-RU" sz="8000" dirty="0" smtClean="0">
                <a:solidFill>
                  <a:srgbClr val="00B050"/>
                </a:solidFill>
              </a:rPr>
              <a:t> likelihood that the society in which the individuals are </a:t>
            </a:r>
            <a:r>
              <a:rPr lang="en-US" sz="8000" dirty="0" smtClean="0">
                <a:solidFill>
                  <a:srgbClr val="00B050"/>
                </a:solidFill>
              </a:rPr>
              <a:t> </a:t>
            </a:r>
            <a:r>
              <a:rPr lang="ru-RU" sz="8000" dirty="0" smtClean="0">
                <a:solidFill>
                  <a:srgbClr val="00B050"/>
                </a:solidFill>
              </a:rPr>
              <a:t>equally informed </a:t>
            </a:r>
            <a:r>
              <a:rPr lang="ru-RU" sz="8000" dirty="0" smtClean="0"/>
              <a:t>will ensure that the agenda and forms of    </a:t>
            </a:r>
            <a:r>
              <a:rPr lang="ru-RU" sz="8000" dirty="0" smtClean="0">
                <a:solidFill>
                  <a:srgbClr val="00B050"/>
                </a:solidFill>
              </a:rPr>
              <a:t>governance are not biased </a:t>
            </a:r>
            <a:r>
              <a:rPr lang="ru-RU" sz="8000" dirty="0" smtClean="0"/>
              <a:t>to favor a few.</a:t>
            </a:r>
            <a:endParaRPr lang="en-US" sz="8000" dirty="0" smtClean="0"/>
          </a:p>
          <a:p>
            <a:pPr algn="just">
              <a:buNone/>
            </a:pPr>
            <a:r>
              <a:rPr lang="ru-RU" sz="8000" dirty="0" smtClean="0"/>
              <a:t>•   The widespread application of this model gradually </a:t>
            </a:r>
            <a:r>
              <a:rPr lang="ru-RU" sz="8000" dirty="0" smtClean="0">
                <a:solidFill>
                  <a:srgbClr val="00B050"/>
                </a:solidFill>
              </a:rPr>
              <a:t>corrects</a:t>
            </a:r>
            <a:r>
              <a:rPr lang="en-US" sz="8000" dirty="0" smtClean="0">
                <a:solidFill>
                  <a:srgbClr val="00B050"/>
                </a:solidFill>
              </a:rPr>
              <a:t>/reduces</a:t>
            </a:r>
            <a:r>
              <a:rPr lang="ru-RU" sz="8000" dirty="0" smtClean="0">
                <a:solidFill>
                  <a:srgbClr val="00B050"/>
                </a:solidFill>
              </a:rPr>
              <a:t> the situation </a:t>
            </a:r>
            <a:r>
              <a:rPr lang="en-US" sz="8000" dirty="0" smtClean="0">
                <a:solidFill>
                  <a:srgbClr val="00B050"/>
                </a:solidFill>
              </a:rPr>
              <a:t> </a:t>
            </a:r>
            <a:r>
              <a:rPr lang="ru-RU" sz="8000" dirty="0" smtClean="0">
                <a:solidFill>
                  <a:srgbClr val="00B050"/>
                </a:solidFill>
              </a:rPr>
              <a:t>of information failure and provides people with the basic government-related information</a:t>
            </a:r>
            <a:r>
              <a:rPr lang="en-US" sz="8000" dirty="0" smtClean="0">
                <a:solidFill>
                  <a:srgbClr val="00B050"/>
                </a:solidFill>
              </a:rPr>
              <a:t> </a:t>
            </a:r>
            <a:r>
              <a:rPr lang="ru-RU" sz="8000" dirty="0" smtClean="0"/>
              <a:t>to come to a common understanding and decide upon the future course of action.</a:t>
            </a:r>
            <a:endParaRPr lang="en-US" sz="8000" dirty="0" smtClean="0"/>
          </a:p>
          <a:p>
            <a:pPr algn="just"/>
            <a:r>
              <a:rPr lang="en-US" sz="8000" dirty="0"/>
              <a:t>It can also provide as </a:t>
            </a:r>
            <a:r>
              <a:rPr lang="en-US" sz="8000" dirty="0">
                <a:solidFill>
                  <a:srgbClr val="00B050"/>
                </a:solidFill>
              </a:rPr>
              <a:t>alternative channel to people to stay updated of governance related information</a:t>
            </a:r>
            <a:r>
              <a:rPr lang="en-US" sz="8000" dirty="0"/>
              <a:t> and to validate information </a:t>
            </a:r>
            <a:r>
              <a:rPr lang="ru-RU" sz="8000" dirty="0"/>
              <a:t>available in the local domain from external sources.</a:t>
            </a:r>
            <a:endParaRPr lang="en-US" sz="8000" dirty="0" smtClean="0"/>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4974"/>
            <a:ext cx="8229600" cy="792162"/>
          </a:xfrm>
        </p:spPr>
        <p:txBody>
          <a:bodyPr>
            <a:normAutofit/>
          </a:bodyPr>
          <a:lstStyle/>
          <a:p>
            <a:r>
              <a:rPr lang="ru-RU" sz="3600" dirty="0" smtClean="0">
                <a:solidFill>
                  <a:srgbClr val="0070C0"/>
                </a:solidFill>
              </a:rPr>
              <a:t>Broadcasting/Wider Dissemination Model</a:t>
            </a:r>
            <a:endParaRPr lang="en-US" sz="3600" dirty="0"/>
          </a:p>
        </p:txBody>
      </p:sp>
      <p:sp>
        <p:nvSpPr>
          <p:cNvPr id="3" name="Content Placeholder 2"/>
          <p:cNvSpPr>
            <a:spLocks noGrp="1"/>
          </p:cNvSpPr>
          <p:nvPr>
            <p:ph idx="1"/>
          </p:nvPr>
        </p:nvSpPr>
        <p:spPr>
          <a:xfrm>
            <a:off x="457200" y="1219200"/>
            <a:ext cx="8229600" cy="4525963"/>
          </a:xfrm>
        </p:spPr>
        <p:txBody>
          <a:bodyPr>
            <a:normAutofit fontScale="70000" lnSpcReduction="20000"/>
          </a:bodyPr>
          <a:lstStyle/>
          <a:p>
            <a:pPr algn="just">
              <a:buNone/>
            </a:pPr>
            <a:r>
              <a:rPr lang="ru-RU" sz="4600" dirty="0" smtClean="0"/>
              <a:t>•     </a:t>
            </a:r>
            <a:r>
              <a:rPr lang="ru-RU" sz="4600" dirty="0" smtClean="0">
                <a:solidFill>
                  <a:srgbClr val="C00000"/>
                </a:solidFill>
              </a:rPr>
              <a:t>Applications </a:t>
            </a:r>
            <a:endParaRPr lang="en-US" sz="4600" dirty="0" smtClean="0">
              <a:solidFill>
                <a:srgbClr val="C00000"/>
              </a:solidFill>
            </a:endParaRPr>
          </a:p>
          <a:p>
            <a:pPr algn="just">
              <a:buNone/>
            </a:pPr>
            <a:r>
              <a:rPr lang="ru-RU" dirty="0" smtClean="0"/>
              <a:t>1.</a:t>
            </a:r>
            <a:r>
              <a:rPr lang="en-US" dirty="0" smtClean="0"/>
              <a:t>  </a:t>
            </a:r>
            <a:r>
              <a:rPr lang="ru-RU" dirty="0" smtClean="0"/>
              <a:t>  Putting </a:t>
            </a:r>
            <a:r>
              <a:rPr lang="ru-RU" dirty="0" smtClean="0">
                <a:solidFill>
                  <a:srgbClr val="00B050"/>
                </a:solidFill>
              </a:rPr>
              <a:t>government laws and legislations online</a:t>
            </a:r>
            <a:endParaRPr lang="en-US" dirty="0" smtClean="0">
              <a:solidFill>
                <a:srgbClr val="00B050"/>
              </a:solidFill>
            </a:endParaRPr>
          </a:p>
          <a:p>
            <a:pPr marL="514350" indent="-514350" algn="just">
              <a:buAutoNum type="arabicPeriod" startAt="2"/>
            </a:pPr>
            <a:r>
              <a:rPr lang="ru-RU" dirty="0" smtClean="0"/>
              <a:t>Making available the </a:t>
            </a:r>
            <a:r>
              <a:rPr lang="ru-RU" dirty="0" smtClean="0">
                <a:solidFill>
                  <a:srgbClr val="00B050"/>
                </a:solidFill>
              </a:rPr>
              <a:t>names, contact addresses, e-mail</a:t>
            </a:r>
            <a:endParaRPr lang="en-US" dirty="0" smtClean="0">
              <a:solidFill>
                <a:srgbClr val="00B050"/>
              </a:solidFill>
            </a:endParaRPr>
          </a:p>
          <a:p>
            <a:pPr marL="514350" indent="-514350" algn="just">
              <a:buNone/>
            </a:pPr>
            <a:r>
              <a:rPr lang="en-US" dirty="0" smtClean="0">
                <a:solidFill>
                  <a:srgbClr val="00B050"/>
                </a:solidFill>
              </a:rPr>
              <a:t>       </a:t>
            </a:r>
            <a:r>
              <a:rPr lang="ru-RU" dirty="0" smtClean="0">
                <a:solidFill>
                  <a:srgbClr val="00B050"/>
                </a:solidFill>
              </a:rPr>
              <a:t>and fax </a:t>
            </a:r>
            <a:r>
              <a:rPr lang="en-US" dirty="0" smtClean="0">
                <a:solidFill>
                  <a:srgbClr val="00B050"/>
                </a:solidFill>
              </a:rPr>
              <a:t> </a:t>
            </a:r>
            <a:r>
              <a:rPr lang="ru-RU" dirty="0" smtClean="0">
                <a:solidFill>
                  <a:srgbClr val="00B050"/>
                </a:solidFill>
              </a:rPr>
              <a:t>numbers of local</a:t>
            </a:r>
            <a:r>
              <a:rPr lang="en-US" dirty="0">
                <a:solidFill>
                  <a:srgbClr val="00B050"/>
                </a:solidFill>
              </a:rPr>
              <a:t>/ regional/ national</a:t>
            </a:r>
            <a:r>
              <a:rPr lang="ru-RU" dirty="0" smtClean="0">
                <a:solidFill>
                  <a:srgbClr val="00B050"/>
                </a:solidFill>
              </a:rPr>
              <a:t> government officials </a:t>
            </a:r>
            <a:r>
              <a:rPr lang="ru-RU" dirty="0" smtClean="0"/>
              <a:t>online</a:t>
            </a:r>
            <a:endParaRPr lang="en-US" dirty="0" smtClean="0"/>
          </a:p>
          <a:p>
            <a:pPr marL="514350" indent="-514350" algn="just">
              <a:buAutoNum type="arabicPeriod" startAt="3"/>
            </a:pPr>
            <a:r>
              <a:rPr lang="ru-RU" dirty="0" smtClean="0"/>
              <a:t>Making   available  </a:t>
            </a:r>
            <a:r>
              <a:rPr lang="en-US" dirty="0" smtClean="0"/>
              <a:t>information such as</a:t>
            </a:r>
            <a:r>
              <a:rPr lang="en-US" dirty="0"/>
              <a:t> </a:t>
            </a:r>
            <a:r>
              <a:rPr lang="ru-RU" dirty="0" smtClean="0">
                <a:solidFill>
                  <a:srgbClr val="00B050"/>
                </a:solidFill>
              </a:rPr>
              <a:t>governmental</a:t>
            </a:r>
            <a:r>
              <a:rPr lang="en-US" dirty="0" smtClean="0">
                <a:solidFill>
                  <a:srgbClr val="00B050"/>
                </a:solidFill>
              </a:rPr>
              <a:t> </a:t>
            </a:r>
            <a:r>
              <a:rPr lang="ru-RU" dirty="0" smtClean="0">
                <a:solidFill>
                  <a:srgbClr val="00B050"/>
                </a:solidFill>
              </a:rPr>
              <a:t>plans,</a:t>
            </a:r>
            <a:r>
              <a:rPr lang="en-US" dirty="0" smtClean="0">
                <a:solidFill>
                  <a:srgbClr val="00B050"/>
                </a:solidFill>
              </a:rPr>
              <a:t> </a:t>
            </a:r>
            <a:r>
              <a:rPr lang="ru-RU" dirty="0" smtClean="0">
                <a:solidFill>
                  <a:srgbClr val="00B050"/>
                </a:solidFill>
              </a:rPr>
              <a:t>budgets, expenditures and performances</a:t>
            </a:r>
            <a:r>
              <a:rPr lang="en-US" dirty="0" smtClean="0">
                <a:solidFill>
                  <a:srgbClr val="00B050"/>
                </a:solidFill>
              </a:rPr>
              <a:t> reports</a:t>
            </a:r>
            <a:r>
              <a:rPr lang="ru-RU" dirty="0" smtClean="0">
                <a:solidFill>
                  <a:srgbClr val="00B050"/>
                </a:solidFill>
              </a:rPr>
              <a:t> online</a:t>
            </a:r>
            <a:r>
              <a:rPr lang="ru-RU" dirty="0" smtClean="0"/>
              <a:t>.</a:t>
            </a:r>
            <a:endParaRPr lang="en-US" dirty="0" smtClean="0"/>
          </a:p>
          <a:p>
            <a:pPr marL="514350" indent="-514350" algn="just">
              <a:buAutoNum type="arabicPeriod" startAt="4"/>
            </a:pPr>
            <a:r>
              <a:rPr lang="ru-RU" dirty="0" smtClean="0"/>
              <a:t>Putting key </a:t>
            </a:r>
            <a:r>
              <a:rPr lang="ru-RU" dirty="0" smtClean="0">
                <a:solidFill>
                  <a:srgbClr val="00B050"/>
                </a:solidFill>
              </a:rPr>
              <a:t>court judgements / judicial statements </a:t>
            </a:r>
            <a:r>
              <a:rPr lang="en-US" dirty="0" smtClean="0">
                <a:solidFill>
                  <a:srgbClr val="00B050"/>
                </a:solidFill>
              </a:rPr>
              <a:t>which</a:t>
            </a:r>
          </a:p>
          <a:p>
            <a:pPr marL="514350" indent="-514350" algn="just">
              <a:buNone/>
            </a:pPr>
            <a:r>
              <a:rPr lang="en-US" dirty="0" smtClean="0">
                <a:solidFill>
                  <a:srgbClr val="00B050"/>
                </a:solidFill>
              </a:rPr>
              <a:t>    </a:t>
            </a:r>
            <a:r>
              <a:rPr lang="ru-RU" dirty="0" smtClean="0">
                <a:solidFill>
                  <a:srgbClr val="00B050"/>
                </a:solidFill>
              </a:rPr>
              <a:t> </a:t>
            </a:r>
            <a:r>
              <a:rPr lang="en-US" dirty="0" smtClean="0">
                <a:solidFill>
                  <a:srgbClr val="00B050"/>
                </a:solidFill>
              </a:rPr>
              <a:t>  </a:t>
            </a:r>
            <a:r>
              <a:rPr lang="ru-RU" dirty="0" smtClean="0">
                <a:solidFill>
                  <a:srgbClr val="00B050"/>
                </a:solidFill>
              </a:rPr>
              <a:t>are of value</a:t>
            </a:r>
            <a:r>
              <a:rPr lang="en-US" dirty="0" smtClean="0">
                <a:solidFill>
                  <a:srgbClr val="00B050"/>
                </a:solidFill>
              </a:rPr>
              <a:t> </a:t>
            </a:r>
            <a:r>
              <a:rPr lang="ru-RU" dirty="0" smtClean="0">
                <a:solidFill>
                  <a:srgbClr val="00B050"/>
                </a:solidFill>
              </a:rPr>
              <a:t>to common citizens and creating a precedence for future actions online</a:t>
            </a:r>
            <a:r>
              <a:rPr lang="ru-RU" dirty="0" smtClean="0"/>
              <a:t>,</a:t>
            </a:r>
            <a:r>
              <a:rPr lang="en-US" dirty="0" smtClean="0"/>
              <a:t> </a:t>
            </a:r>
            <a:r>
              <a:rPr lang="ru-RU" dirty="0" smtClean="0"/>
              <a:t>through  key  environment  related  judgements,  State  vs. Citizen </a:t>
            </a:r>
            <a:r>
              <a:rPr lang="en-US" dirty="0" smtClean="0"/>
              <a:t>decisions</a:t>
            </a:r>
            <a:r>
              <a:rPr lang="ru-RU" dirty="0" smtClean="0"/>
              <a:t> etc</a:t>
            </a:r>
            <a:endParaRPr lang="en-US"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574" y="116503"/>
            <a:ext cx="8229600" cy="715962"/>
          </a:xfrm>
        </p:spPr>
        <p:txBody>
          <a:bodyPr>
            <a:normAutofit/>
          </a:bodyPr>
          <a:lstStyle/>
          <a:p>
            <a:r>
              <a:rPr lang="ru-RU" sz="3600" dirty="0" smtClean="0">
                <a:solidFill>
                  <a:srgbClr val="0070C0"/>
                </a:solidFill>
              </a:rPr>
              <a:t>Broadcasting/Wider Dissemination Model</a:t>
            </a:r>
            <a:endParaRPr lang="en-US" sz="3600" dirty="0"/>
          </a:p>
        </p:txBody>
      </p:sp>
      <p:sp>
        <p:nvSpPr>
          <p:cNvPr id="3" name="Content Placeholder 2"/>
          <p:cNvSpPr>
            <a:spLocks noGrp="1"/>
          </p:cNvSpPr>
          <p:nvPr>
            <p:ph idx="1"/>
          </p:nvPr>
        </p:nvSpPr>
        <p:spPr>
          <a:xfrm>
            <a:off x="464574" y="1295400"/>
            <a:ext cx="8229600" cy="5029200"/>
          </a:xfrm>
        </p:spPr>
        <p:txBody>
          <a:bodyPr>
            <a:normAutofit fontScale="25000" lnSpcReduction="20000"/>
          </a:bodyPr>
          <a:lstStyle/>
          <a:p>
            <a:pPr algn="just">
              <a:buNone/>
            </a:pPr>
            <a:r>
              <a:rPr lang="ru-RU" sz="8000" dirty="0" smtClean="0"/>
              <a:t>• </a:t>
            </a:r>
            <a:r>
              <a:rPr lang="en-US" sz="8000" dirty="0" smtClean="0"/>
              <a:t> This model</a:t>
            </a:r>
            <a:r>
              <a:rPr lang="ru-RU" sz="8000" dirty="0" smtClean="0"/>
              <a:t> </a:t>
            </a:r>
            <a:r>
              <a:rPr lang="ru-RU" sz="8000" dirty="0" smtClean="0">
                <a:solidFill>
                  <a:srgbClr val="00B050"/>
                </a:solidFill>
              </a:rPr>
              <a:t>is  the  first  step  to  more   evolved  forms  of  digital  governance models </a:t>
            </a:r>
            <a:r>
              <a:rPr lang="ru-RU" sz="8000" dirty="0" smtClean="0"/>
              <a:t>and is the most crucial one as it catalyses free access and flow of information to all segments of the society and </a:t>
            </a:r>
            <a:r>
              <a:rPr lang="en-US" sz="8000" dirty="0"/>
              <a:t>hence can be referred</a:t>
            </a:r>
            <a:r>
              <a:rPr lang="ru-RU" sz="8000" dirty="0" smtClean="0"/>
              <a:t> as the building block </a:t>
            </a:r>
            <a:r>
              <a:rPr lang="en-US" sz="8000" dirty="0" smtClean="0"/>
              <a:t>of digital</a:t>
            </a:r>
            <a:r>
              <a:rPr lang="ru-RU" sz="8000" dirty="0" smtClean="0"/>
              <a:t> governance. </a:t>
            </a:r>
            <a:endParaRPr lang="en-US" sz="8000" dirty="0" smtClean="0"/>
          </a:p>
          <a:p>
            <a:pPr algn="just">
              <a:buNone/>
            </a:pPr>
            <a:r>
              <a:rPr lang="ru-RU" sz="8000" dirty="0" smtClean="0"/>
              <a:t>• </a:t>
            </a:r>
            <a:r>
              <a:rPr lang="en-US" sz="8000" dirty="0" smtClean="0"/>
              <a:t>  </a:t>
            </a:r>
            <a:r>
              <a:rPr lang="ru-RU" sz="8000" dirty="0" smtClean="0">
                <a:solidFill>
                  <a:srgbClr val="00B050"/>
                </a:solidFill>
              </a:rPr>
              <a:t>National</a:t>
            </a:r>
            <a:r>
              <a:rPr lang="en-US" sz="8000" dirty="0" smtClean="0">
                <a:solidFill>
                  <a:srgbClr val="00B050"/>
                </a:solidFill>
              </a:rPr>
              <a:t> and state</a:t>
            </a:r>
            <a:r>
              <a:rPr lang="ru-RU" sz="8000" dirty="0" smtClean="0">
                <a:solidFill>
                  <a:srgbClr val="00B050"/>
                </a:solidFill>
              </a:rPr>
              <a:t> Governments therefore need to aggressively adopt this model  </a:t>
            </a:r>
            <a:r>
              <a:rPr lang="ru-RU" sz="8000" dirty="0" smtClean="0"/>
              <a:t>if   they  want  to   create  an  environment   for  enhanced participation of its citizens in the </a:t>
            </a:r>
            <a:r>
              <a:rPr lang="ru-RU" sz="8000" dirty="0">
                <a:solidFill>
                  <a:srgbClr val="00B050"/>
                </a:solidFill>
              </a:rPr>
              <a:t>governance </a:t>
            </a:r>
            <a:r>
              <a:rPr lang="ru-RU" sz="8000" dirty="0" smtClean="0"/>
              <a:t>processes.</a:t>
            </a:r>
            <a:endParaRPr lang="en-US" sz="8000" dirty="0"/>
          </a:p>
          <a:p>
            <a:pPr lvl="1" algn="just">
              <a:buFont typeface="Wingdings" panose="05000000000000000000" pitchFamily="2" charset="2"/>
              <a:buChar char="ü"/>
            </a:pPr>
            <a:r>
              <a:rPr lang="en-US" sz="8000" dirty="0" smtClean="0"/>
              <a:t>Simultaneously</a:t>
            </a:r>
            <a:r>
              <a:rPr lang="en-US" sz="8000" dirty="0"/>
              <a:t>, the civil society groups should demand for such models to </a:t>
            </a:r>
            <a:r>
              <a:rPr lang="en-US" sz="8000" dirty="0">
                <a:solidFill>
                  <a:srgbClr val="00B050"/>
                </a:solidFill>
              </a:rPr>
              <a:t>enable access to governance information </a:t>
            </a:r>
            <a:r>
              <a:rPr lang="en-US" sz="8000" dirty="0"/>
              <a:t>which can improve the quality of lives of people.</a:t>
            </a:r>
            <a:r>
              <a:rPr lang="ru-RU" sz="8000" dirty="0" smtClean="0"/>
              <a:t> </a:t>
            </a:r>
            <a:endParaRPr lang="en-US" sz="8000" dirty="0" smtClean="0"/>
          </a:p>
          <a:p>
            <a:pPr algn="just">
              <a:buNone/>
            </a:pPr>
            <a:r>
              <a:rPr lang="ru-RU" sz="8000" dirty="0" smtClean="0"/>
              <a:t>• </a:t>
            </a:r>
            <a:r>
              <a:rPr lang="en-US" sz="8000" dirty="0" smtClean="0"/>
              <a:t> </a:t>
            </a:r>
            <a:r>
              <a:rPr lang="ru-RU" sz="8000" dirty="0" smtClean="0"/>
              <a:t> The  model   however  </a:t>
            </a:r>
            <a:r>
              <a:rPr lang="ru-RU" sz="8000" dirty="0" smtClean="0">
                <a:solidFill>
                  <a:srgbClr val="00B050"/>
                </a:solidFill>
              </a:rPr>
              <a:t>loses  its  effectiveness  </a:t>
            </a:r>
            <a:r>
              <a:rPr lang="ru-RU" sz="8000" dirty="0" smtClean="0"/>
              <a:t>where  free-flow   of information is not encouraged or is not objective.</a:t>
            </a:r>
            <a:endParaRPr lang="en-US" sz="8000" dirty="0"/>
          </a:p>
          <a:p>
            <a:pPr lvl="1" algn="just">
              <a:buFont typeface="Wingdings" panose="05000000000000000000" pitchFamily="2" charset="2"/>
              <a:buChar char="ü"/>
            </a:pPr>
            <a:r>
              <a:rPr lang="en-US" sz="8000" dirty="0" smtClean="0"/>
              <a:t>This </a:t>
            </a:r>
            <a:r>
              <a:rPr lang="en-US" sz="8000" dirty="0"/>
              <a:t>can happen in countries where freedom of speech and expression, or political freedom is restricted,</a:t>
            </a:r>
            <a:r>
              <a:rPr lang="ru-RU" sz="8000" dirty="0" smtClean="0"/>
              <a:t> </a:t>
            </a:r>
            <a:endParaRPr lang="en-US" sz="8000" dirty="0" smtClean="0"/>
          </a:p>
          <a:p>
            <a:pPr algn="just">
              <a:buNone/>
            </a:pPr>
            <a:r>
              <a:rPr lang="ru-RU" sz="8000" dirty="0" smtClean="0"/>
              <a:t>• Tight </a:t>
            </a:r>
            <a:r>
              <a:rPr lang="ru-RU" sz="8000" dirty="0" smtClean="0">
                <a:solidFill>
                  <a:srgbClr val="00B050"/>
                </a:solidFill>
              </a:rPr>
              <a:t>governmental controls and bids to censor the content being</a:t>
            </a:r>
            <a:r>
              <a:rPr lang="en-US" sz="8000" dirty="0" smtClean="0">
                <a:solidFill>
                  <a:srgbClr val="00B050"/>
                </a:solidFill>
              </a:rPr>
              <a:t> </a:t>
            </a:r>
            <a:r>
              <a:rPr lang="ru-RU" sz="8000" dirty="0" smtClean="0">
                <a:solidFill>
                  <a:srgbClr val="00B050"/>
                </a:solidFill>
              </a:rPr>
              <a:t>transmitted through this model would be the bane</a:t>
            </a:r>
            <a:r>
              <a:rPr lang="en-US" sz="8000" dirty="0" smtClean="0">
                <a:solidFill>
                  <a:srgbClr val="00B050"/>
                </a:solidFill>
              </a:rPr>
              <a:t>(destruction)</a:t>
            </a:r>
            <a:r>
              <a:rPr lang="ru-RU" sz="8000" dirty="0" smtClean="0">
                <a:solidFill>
                  <a:srgbClr val="00B050"/>
                </a:solidFill>
              </a:rPr>
              <a:t> of this model</a:t>
            </a:r>
            <a:r>
              <a:rPr lang="ru-RU" sz="8000" dirty="0" smtClean="0"/>
              <a:t>. </a:t>
            </a:r>
            <a:endParaRPr lang="en-US" sz="8000" dirty="0" smtClean="0"/>
          </a:p>
          <a:p>
            <a:pPr algn="just">
              <a:buNone/>
            </a:pPr>
            <a:r>
              <a:rPr lang="ru-RU" sz="8000" dirty="0" smtClean="0"/>
              <a:t>•  </a:t>
            </a:r>
            <a:r>
              <a:rPr lang="en-US" sz="8000" dirty="0" smtClean="0"/>
              <a:t> </a:t>
            </a:r>
            <a:r>
              <a:rPr lang="ru-RU" sz="8000" dirty="0" smtClean="0"/>
              <a:t>The responsibility is therefore both on governmental organizations as  well  as   civil  society  organizations  </a:t>
            </a:r>
            <a:r>
              <a:rPr lang="ru-RU" sz="8000" dirty="0" smtClean="0">
                <a:solidFill>
                  <a:srgbClr val="00B050"/>
                </a:solidFill>
              </a:rPr>
              <a:t>to   ensure  such  models continue to proliferate</a:t>
            </a:r>
            <a:r>
              <a:rPr lang="en-US" sz="8000" dirty="0" smtClean="0">
                <a:solidFill>
                  <a:srgbClr val="00B050"/>
                </a:solidFill>
              </a:rPr>
              <a:t>(multiply)</a:t>
            </a:r>
            <a:r>
              <a:rPr lang="ru-RU" sz="8000" dirty="0" smtClean="0">
                <a:solidFill>
                  <a:srgbClr val="00B050"/>
                </a:solidFill>
              </a:rPr>
              <a:t>.</a:t>
            </a:r>
            <a:endParaRPr lang="en-US" sz="8000" dirty="0" smtClean="0">
              <a:solidFill>
                <a:srgbClr val="00B050"/>
              </a:solidFill>
            </a:endParaRP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81767843"/>
              </p:ext>
            </p:extLst>
          </p:nvPr>
        </p:nvGraphicFramePr>
        <p:xfrm>
          <a:off x="464574" y="784532"/>
          <a:ext cx="4619625" cy="431800"/>
        </p:xfrm>
        <a:graphic>
          <a:graphicData uri="http://schemas.openxmlformats.org/drawingml/2006/table">
            <a:tbl>
              <a:tblPr/>
              <a:tblGrid>
                <a:gridCol w="4619625">
                  <a:extLst>
                    <a:ext uri="{9D8B030D-6E8A-4147-A177-3AD203B41FA5}">
                      <a16:colId xmlns:a16="http://schemas.microsoft.com/office/drawing/2014/main" val="20000"/>
                    </a:ext>
                  </a:extLst>
                </a:gridCol>
              </a:tblGrid>
              <a:tr h="0">
                <a:tc>
                  <a:txBody>
                    <a:bodyPr/>
                    <a:lstStyle/>
                    <a:p>
                      <a:pPr marL="0" marR="0" algn="l">
                        <a:lnSpc>
                          <a:spcPts val="3360"/>
                        </a:lnSpc>
                        <a:spcBef>
                          <a:spcPts val="0"/>
                        </a:spcBef>
                        <a:spcAft>
                          <a:spcPts val="0"/>
                        </a:spcAft>
                      </a:pPr>
                      <a:r>
                        <a:rPr lang="ru-RU" sz="2800" dirty="0">
                          <a:solidFill>
                            <a:srgbClr val="FF0000"/>
                          </a:solidFill>
                          <a:latin typeface="RLBHGC+FuturaBT-Light"/>
                          <a:ea typeface="Calibri"/>
                          <a:cs typeface="Times New Roman"/>
                        </a:rPr>
                        <a:t>Evaluation (Pros and Cons)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991600" cy="792162"/>
          </a:xfrm>
        </p:spPr>
        <p:txBody>
          <a:bodyPr>
            <a:normAutofit fontScale="90000"/>
          </a:bodyPr>
          <a:lstStyle/>
          <a:p>
            <a:r>
              <a:rPr lang="ru-RU" dirty="0">
                <a:solidFill>
                  <a:srgbClr val="0070C0"/>
                </a:solidFill>
              </a:rPr>
              <a:t>Broadcasting/Wider Dissemination Model</a:t>
            </a:r>
            <a:endParaRPr lang="en-US" dirty="0"/>
          </a:p>
        </p:txBody>
      </p:sp>
      <p:sp>
        <p:nvSpPr>
          <p:cNvPr id="3" name="Content Placeholder 2"/>
          <p:cNvSpPr>
            <a:spLocks noGrp="1"/>
          </p:cNvSpPr>
          <p:nvPr>
            <p:ph idx="1"/>
          </p:nvPr>
        </p:nvSpPr>
        <p:spPr>
          <a:xfrm>
            <a:off x="457200" y="1676400"/>
            <a:ext cx="8229600" cy="3933569"/>
          </a:xfrm>
        </p:spPr>
        <p:txBody>
          <a:bodyPr>
            <a:normAutofit fontScale="92500" lnSpcReduction="20000"/>
          </a:bodyPr>
          <a:lstStyle/>
          <a:p>
            <a:pPr algn="just"/>
            <a:r>
              <a:rPr lang="en-US" dirty="0"/>
              <a:t>The model also </a:t>
            </a:r>
            <a:r>
              <a:rPr lang="en-US" dirty="0">
                <a:solidFill>
                  <a:srgbClr val="00B050"/>
                </a:solidFill>
              </a:rPr>
              <a:t>loses its effectiveness </a:t>
            </a:r>
            <a:r>
              <a:rPr lang="en-US" dirty="0"/>
              <a:t>in situation of optimal ignorance. </a:t>
            </a:r>
          </a:p>
          <a:p>
            <a:pPr lvl="1" algn="just">
              <a:buFont typeface="Wingdings" panose="05000000000000000000" pitchFamily="2" charset="2"/>
              <a:buChar char="ü"/>
            </a:pPr>
            <a:r>
              <a:rPr lang="en-US" dirty="0" smtClean="0"/>
              <a:t>This </a:t>
            </a:r>
            <a:r>
              <a:rPr lang="en-US" dirty="0"/>
              <a:t>happens when citizens are indifferent / </a:t>
            </a:r>
            <a:r>
              <a:rPr lang="en-US" dirty="0">
                <a:solidFill>
                  <a:srgbClr val="00B050"/>
                </a:solidFill>
              </a:rPr>
              <a:t>not motivated to act upon information available</a:t>
            </a:r>
            <a:r>
              <a:rPr lang="en-US" dirty="0"/>
              <a:t> to them, or when governments and decision-makers take wrong decisions, not because of absence of information, but complete disregard of available information</a:t>
            </a:r>
            <a:r>
              <a:rPr lang="en-US" dirty="0" smtClean="0"/>
              <a:t>.</a:t>
            </a:r>
          </a:p>
          <a:p>
            <a:pPr algn="just"/>
            <a:r>
              <a:rPr lang="en-US" dirty="0"/>
              <a:t>Also, the model is pointless when free flow of important content is not encouraged</a:t>
            </a:r>
            <a:endParaRPr lang="en-US" dirty="0" smtClean="0"/>
          </a:p>
        </p:txBody>
      </p:sp>
      <p:graphicFrame>
        <p:nvGraphicFramePr>
          <p:cNvPr id="4" name="Table 3"/>
          <p:cNvGraphicFramePr>
            <a:graphicFrameLocks noGrp="1"/>
          </p:cNvGraphicFramePr>
          <p:nvPr>
            <p:extLst>
              <p:ext uri="{D42A27DB-BD31-4B8C-83A1-F6EECF244321}">
                <p14:modId xmlns:p14="http://schemas.microsoft.com/office/powerpoint/2010/main" val="2175739342"/>
              </p:ext>
            </p:extLst>
          </p:nvPr>
        </p:nvGraphicFramePr>
        <p:xfrm>
          <a:off x="457200" y="1155700"/>
          <a:ext cx="4619625" cy="431800"/>
        </p:xfrm>
        <a:graphic>
          <a:graphicData uri="http://schemas.openxmlformats.org/drawingml/2006/table">
            <a:tbl>
              <a:tblPr/>
              <a:tblGrid>
                <a:gridCol w="4619625">
                  <a:extLst>
                    <a:ext uri="{9D8B030D-6E8A-4147-A177-3AD203B41FA5}">
                      <a16:colId xmlns:a16="http://schemas.microsoft.com/office/drawing/2014/main" val="20000"/>
                    </a:ext>
                  </a:extLst>
                </a:gridCol>
              </a:tblGrid>
              <a:tr h="0">
                <a:tc>
                  <a:txBody>
                    <a:bodyPr/>
                    <a:lstStyle/>
                    <a:p>
                      <a:pPr marL="0" marR="0" algn="l">
                        <a:lnSpc>
                          <a:spcPts val="3360"/>
                        </a:lnSpc>
                        <a:spcBef>
                          <a:spcPts val="0"/>
                        </a:spcBef>
                        <a:spcAft>
                          <a:spcPts val="0"/>
                        </a:spcAft>
                      </a:pPr>
                      <a:r>
                        <a:rPr lang="ru-RU" sz="2800" dirty="0">
                          <a:solidFill>
                            <a:srgbClr val="FF0000"/>
                          </a:solidFill>
                          <a:latin typeface="RLBHGC+FuturaBT-Light"/>
                          <a:ea typeface="Calibri"/>
                          <a:cs typeface="Times New Roman"/>
                        </a:rPr>
                        <a:t>Evaluation (Pros and Cons)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9204341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 y="46038"/>
            <a:ext cx="9067800" cy="792162"/>
          </a:xfrm>
        </p:spPr>
        <p:txBody>
          <a:bodyPr>
            <a:normAutofit fontScale="90000"/>
          </a:bodyPr>
          <a:lstStyle/>
          <a:p>
            <a:r>
              <a:rPr lang="en-US" sz="3600" dirty="0">
                <a:solidFill>
                  <a:srgbClr val="0070C0"/>
                </a:solidFill>
              </a:rPr>
              <a:t/>
            </a:r>
            <a:br>
              <a:rPr lang="en-US" sz="3600" dirty="0">
                <a:solidFill>
                  <a:srgbClr val="0070C0"/>
                </a:solidFill>
              </a:rPr>
            </a:br>
            <a:r>
              <a:rPr lang="ru-RU" sz="3600" dirty="0" smtClean="0">
                <a:solidFill>
                  <a:srgbClr val="0070C0"/>
                </a:solidFill>
              </a:rPr>
              <a:t>Organizations /</a:t>
            </a:r>
            <a:r>
              <a:rPr lang="en-US" sz="3600" dirty="0" smtClean="0">
                <a:solidFill>
                  <a:srgbClr val="0070C0"/>
                </a:solidFill>
              </a:rPr>
              <a:t> </a:t>
            </a:r>
            <a:r>
              <a:rPr lang="ru-RU" sz="3600" dirty="0" smtClean="0">
                <a:solidFill>
                  <a:srgbClr val="0070C0"/>
                </a:solidFill>
              </a:rPr>
              <a:t>Projects based on the Wider Model</a:t>
            </a:r>
            <a:r>
              <a:rPr lang="ru-RU" sz="4000" dirty="0" smtClean="0">
                <a:solidFill>
                  <a:srgbClr val="0070C0"/>
                </a:solidFill>
              </a:rPr>
              <a:t> </a:t>
            </a:r>
            <a:r>
              <a:rPr lang="en-US" dirty="0" smtClean="0"/>
              <a:t/>
            </a:r>
            <a:br>
              <a:rPr lang="en-US" dirty="0" smtClean="0"/>
            </a:br>
            <a:endParaRPr lang="en-US" dirty="0"/>
          </a:p>
        </p:txBody>
      </p:sp>
      <p:sp>
        <p:nvSpPr>
          <p:cNvPr id="3" name="Content Placeholder 2"/>
          <p:cNvSpPr>
            <a:spLocks noGrp="1"/>
          </p:cNvSpPr>
          <p:nvPr>
            <p:ph idx="1"/>
          </p:nvPr>
        </p:nvSpPr>
        <p:spPr>
          <a:xfrm>
            <a:off x="457200" y="838200"/>
            <a:ext cx="8229600" cy="5638800"/>
          </a:xfrm>
        </p:spPr>
        <p:txBody>
          <a:bodyPr>
            <a:normAutofit fontScale="32500" lnSpcReduction="20000"/>
          </a:bodyPr>
          <a:lstStyle/>
          <a:p>
            <a:pPr algn="just">
              <a:buNone/>
            </a:pPr>
            <a:r>
              <a:rPr lang="ru-RU" sz="8000" dirty="0" smtClean="0"/>
              <a:t>•   India </a:t>
            </a:r>
            <a:endParaRPr lang="en-US" sz="8000" dirty="0"/>
          </a:p>
          <a:p>
            <a:pPr lvl="1" algn="just">
              <a:buFont typeface="Wingdings" panose="05000000000000000000" pitchFamily="2" charset="2"/>
              <a:buChar char="ü"/>
            </a:pPr>
            <a:r>
              <a:rPr lang="ru-RU" sz="7600" dirty="0" smtClean="0"/>
              <a:t> Directory of official websites of Government of India:</a:t>
            </a:r>
            <a:r>
              <a:rPr lang="en-US" sz="7600" dirty="0"/>
              <a:t> </a:t>
            </a:r>
            <a:r>
              <a:rPr lang="en-US" sz="8000" dirty="0" smtClean="0"/>
              <a:t> </a:t>
            </a:r>
            <a:r>
              <a:rPr lang="ru-RU" sz="8000" u="sng" dirty="0" smtClean="0">
                <a:hlinkClick r:id="rId2"/>
              </a:rPr>
              <a:t>http://goidirectory.nic.in/ministry.htm</a:t>
            </a:r>
            <a:endParaRPr lang="en-US" sz="8000" u="sng" dirty="0"/>
          </a:p>
          <a:p>
            <a:pPr lvl="1" algn="just">
              <a:buFont typeface="Wingdings" panose="05000000000000000000" pitchFamily="2" charset="2"/>
              <a:buChar char="ü"/>
            </a:pPr>
            <a:r>
              <a:rPr lang="en-US" sz="8000" dirty="0" smtClean="0"/>
              <a:t> </a:t>
            </a:r>
            <a:r>
              <a:rPr lang="ru-RU" sz="8000" dirty="0" smtClean="0"/>
              <a:t>National Informatics Centre (India) is the official website of the</a:t>
            </a:r>
            <a:r>
              <a:rPr lang="en-US" sz="8000" dirty="0"/>
              <a:t> </a:t>
            </a:r>
            <a:r>
              <a:rPr lang="ru-RU" sz="8000" dirty="0" smtClean="0"/>
              <a:t>Government of India. It makes available information on</a:t>
            </a:r>
            <a:r>
              <a:rPr lang="en-US" sz="8000" dirty="0" smtClean="0"/>
              <a:t> </a:t>
            </a:r>
            <a:r>
              <a:rPr lang="ru-RU" sz="8000" dirty="0" smtClean="0"/>
              <a:t>governmen</a:t>
            </a:r>
            <a:r>
              <a:rPr lang="en-US" sz="8000" dirty="0" smtClean="0"/>
              <a:t>t </a:t>
            </a:r>
            <a:r>
              <a:rPr lang="ru-RU" sz="8000" dirty="0" smtClean="0">
                <a:solidFill>
                  <a:srgbClr val="00B050"/>
                </a:solidFill>
              </a:rPr>
              <a:t>ministries</a:t>
            </a:r>
            <a:r>
              <a:rPr lang="en-US" sz="8000" dirty="0" smtClean="0">
                <a:solidFill>
                  <a:srgbClr val="00B050"/>
                </a:solidFill>
              </a:rPr>
              <a:t> - </a:t>
            </a:r>
            <a:r>
              <a:rPr lang="ru-RU" sz="8000" dirty="0" smtClean="0">
                <a:solidFill>
                  <a:srgbClr val="00B050"/>
                </a:solidFill>
              </a:rPr>
              <a:t>its  projects  and  schemes, Indian  laws  and  legislation,</a:t>
            </a:r>
            <a:r>
              <a:rPr lang="en-US" sz="8000" dirty="0">
                <a:solidFill>
                  <a:srgbClr val="00B050"/>
                </a:solidFill>
              </a:rPr>
              <a:t> </a:t>
            </a:r>
            <a:r>
              <a:rPr lang="ru-RU" sz="8000" dirty="0" smtClean="0">
                <a:solidFill>
                  <a:srgbClr val="00B050"/>
                </a:solidFill>
              </a:rPr>
              <a:t> contact  details  of  local  government  offices  and  key position holders online for public access</a:t>
            </a:r>
            <a:r>
              <a:rPr lang="ru-RU" sz="8000" dirty="0" smtClean="0"/>
              <a:t>. </a:t>
            </a:r>
            <a:endParaRPr lang="en-US" sz="8000" dirty="0" smtClean="0"/>
          </a:p>
          <a:p>
            <a:pPr algn="just">
              <a:buNone/>
            </a:pPr>
            <a:r>
              <a:rPr lang="ru-RU" sz="8000" dirty="0" smtClean="0"/>
              <a:t>•   Brazil </a:t>
            </a:r>
            <a:endParaRPr lang="en-US" sz="8000" dirty="0"/>
          </a:p>
          <a:p>
            <a:pPr lvl="1" algn="just">
              <a:buFont typeface="Wingdings" panose="05000000000000000000" pitchFamily="2" charset="2"/>
              <a:buChar char="ü"/>
            </a:pPr>
            <a:r>
              <a:rPr lang="ru-RU" sz="7600" dirty="0" smtClean="0"/>
              <a:t>Brazil's official national E-Government website: </a:t>
            </a:r>
            <a:r>
              <a:rPr lang="ru-RU" sz="7600" u="sng" dirty="0" smtClean="0">
                <a:hlinkClick r:id="rId3"/>
              </a:rPr>
              <a:t>http://www.brazil.gov.br</a:t>
            </a:r>
            <a:endParaRPr lang="en-US" sz="7600" u="sng" dirty="0"/>
          </a:p>
          <a:p>
            <a:pPr lvl="1" algn="just">
              <a:buFont typeface="Wingdings" panose="05000000000000000000" pitchFamily="2" charset="2"/>
              <a:buChar char="ü"/>
            </a:pPr>
            <a:r>
              <a:rPr lang="ru-RU" sz="8000" dirty="0" smtClean="0"/>
              <a:t>The website provides </a:t>
            </a:r>
            <a:r>
              <a:rPr lang="ru-RU" sz="8000" dirty="0" smtClean="0">
                <a:solidFill>
                  <a:srgbClr val="FF0000"/>
                </a:solidFill>
              </a:rPr>
              <a:t>comprehensive information on Brazilian</a:t>
            </a:r>
            <a:r>
              <a:rPr lang="en-US" sz="8000" dirty="0">
                <a:solidFill>
                  <a:srgbClr val="FF0000"/>
                </a:solidFill>
              </a:rPr>
              <a:t> </a:t>
            </a:r>
            <a:r>
              <a:rPr lang="ru-RU" sz="8000" dirty="0" smtClean="0">
                <a:solidFill>
                  <a:srgbClr val="FF0000"/>
                </a:solidFill>
              </a:rPr>
              <a:t>government as well as links to integrated citizen services. </a:t>
            </a:r>
            <a:endParaRPr lang="en-US" sz="8000" dirty="0" smtClean="0">
              <a:solidFill>
                <a:srgbClr val="FF0000"/>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329" y="152400"/>
            <a:ext cx="8610600" cy="1143000"/>
          </a:xfrm>
        </p:spPr>
        <p:txBody>
          <a:bodyPr>
            <a:normAutofit fontScale="90000"/>
          </a:bodyPr>
          <a:lstStyle/>
          <a:p>
            <a:r>
              <a:rPr lang="ru-RU" dirty="0" smtClean="0">
                <a:solidFill>
                  <a:srgbClr val="0070C0"/>
                </a:solidFill>
              </a:rPr>
              <a:t>Organizations </a:t>
            </a:r>
            <a:r>
              <a:rPr lang="ru-RU" dirty="0">
                <a:solidFill>
                  <a:srgbClr val="0070C0"/>
                </a:solidFill>
              </a:rPr>
              <a:t>/</a:t>
            </a:r>
            <a:r>
              <a:rPr lang="en-US" dirty="0">
                <a:solidFill>
                  <a:srgbClr val="0070C0"/>
                </a:solidFill>
              </a:rPr>
              <a:t> </a:t>
            </a:r>
            <a:r>
              <a:rPr lang="ru-RU" dirty="0">
                <a:solidFill>
                  <a:srgbClr val="0070C0"/>
                </a:solidFill>
              </a:rPr>
              <a:t>Projects based on the Wider Model</a:t>
            </a:r>
            <a:endParaRPr lang="en-US" dirty="0"/>
          </a:p>
        </p:txBody>
      </p:sp>
      <p:sp>
        <p:nvSpPr>
          <p:cNvPr id="3" name="Content Placeholder 2"/>
          <p:cNvSpPr>
            <a:spLocks noGrp="1"/>
          </p:cNvSpPr>
          <p:nvPr>
            <p:ph idx="1"/>
          </p:nvPr>
        </p:nvSpPr>
        <p:spPr>
          <a:xfrm>
            <a:off x="442452" y="1447800"/>
            <a:ext cx="8229600" cy="4525963"/>
          </a:xfrm>
        </p:spPr>
        <p:txBody>
          <a:bodyPr>
            <a:normAutofit/>
          </a:bodyPr>
          <a:lstStyle/>
          <a:p>
            <a:pPr algn="just">
              <a:buNone/>
            </a:pPr>
            <a:r>
              <a:rPr lang="ru-RU" dirty="0"/>
              <a:t>•   South Africa </a:t>
            </a:r>
            <a:endParaRPr lang="en-US" dirty="0" smtClean="0"/>
          </a:p>
          <a:p>
            <a:pPr lvl="1" algn="just">
              <a:buFont typeface="Wingdings" panose="05000000000000000000" pitchFamily="2" charset="2"/>
              <a:buChar char="ü"/>
            </a:pPr>
            <a:r>
              <a:rPr lang="ru-RU" dirty="0" smtClean="0"/>
              <a:t>Chapter </a:t>
            </a:r>
            <a:r>
              <a:rPr lang="ru-RU" dirty="0"/>
              <a:t>2 Network: </a:t>
            </a:r>
            <a:r>
              <a:rPr lang="ru-RU" u="sng" dirty="0">
                <a:hlinkClick r:id="rId2"/>
              </a:rPr>
              <a:t>http://</a:t>
            </a:r>
            <a:r>
              <a:rPr lang="ru-RU" u="sng" dirty="0" smtClean="0">
                <a:hlinkClick r:id="rId2"/>
              </a:rPr>
              <a:t>www.advocacy.org.za</a:t>
            </a:r>
            <a:endParaRPr lang="en-US" u="sng" dirty="0"/>
          </a:p>
          <a:p>
            <a:pPr lvl="1" algn="just">
              <a:buFont typeface="Wingdings" panose="05000000000000000000" pitchFamily="2" charset="2"/>
              <a:buChar char="ü"/>
            </a:pPr>
            <a:r>
              <a:rPr lang="ru-RU" dirty="0" smtClean="0"/>
              <a:t>The  </a:t>
            </a:r>
            <a:r>
              <a:rPr lang="ru-RU" dirty="0">
                <a:solidFill>
                  <a:srgbClr val="FF0000"/>
                </a:solidFill>
              </a:rPr>
              <a:t>Chapter  2  Network  is  </a:t>
            </a:r>
            <a:r>
              <a:rPr lang="ru-RU" dirty="0" smtClean="0">
                <a:solidFill>
                  <a:srgbClr val="FF0000"/>
                </a:solidFill>
              </a:rPr>
              <a:t>a</a:t>
            </a:r>
            <a:r>
              <a:rPr lang="en-US" dirty="0" smtClean="0">
                <a:solidFill>
                  <a:srgbClr val="FF0000"/>
                </a:solidFill>
              </a:rPr>
              <a:t> center to </a:t>
            </a:r>
            <a:r>
              <a:rPr lang="ru-RU" dirty="0" smtClean="0">
                <a:solidFill>
                  <a:srgbClr val="FF0000"/>
                </a:solidFill>
              </a:rPr>
              <a:t>  clear</a:t>
            </a:r>
            <a:r>
              <a:rPr lang="en-US" dirty="0" smtClean="0">
                <a:solidFill>
                  <a:srgbClr val="FF0000"/>
                </a:solidFill>
              </a:rPr>
              <a:t> communication and</a:t>
            </a:r>
            <a:r>
              <a:rPr lang="ru-RU" dirty="0" smtClean="0">
                <a:solidFill>
                  <a:srgbClr val="FF0000"/>
                </a:solidFill>
              </a:rPr>
              <a:t> information</a:t>
            </a:r>
            <a:r>
              <a:rPr lang="en-US" dirty="0" smtClean="0">
                <a:solidFill>
                  <a:srgbClr val="FF0000"/>
                </a:solidFill>
              </a:rPr>
              <a:t> </a:t>
            </a:r>
            <a:r>
              <a:rPr lang="ru-RU" dirty="0" smtClean="0">
                <a:solidFill>
                  <a:srgbClr val="FF0000"/>
                </a:solidFill>
              </a:rPr>
              <a:t>for </a:t>
            </a:r>
            <a:r>
              <a:rPr lang="ru-RU" dirty="0">
                <a:solidFill>
                  <a:srgbClr val="FF0000"/>
                </a:solidFill>
              </a:rPr>
              <a:t>social   justice  issues   in   South  </a:t>
            </a:r>
            <a:r>
              <a:rPr lang="ru-RU" dirty="0" smtClean="0">
                <a:solidFill>
                  <a:srgbClr val="FF0000"/>
                </a:solidFill>
              </a:rPr>
              <a:t>Africa</a:t>
            </a:r>
            <a:r>
              <a:rPr lang="ru-RU" dirty="0" smtClean="0"/>
              <a:t>.</a:t>
            </a:r>
            <a:r>
              <a:rPr lang="en-US" dirty="0" smtClean="0"/>
              <a:t> </a:t>
            </a:r>
          </a:p>
          <a:p>
            <a:pPr lvl="1" algn="just">
              <a:buFont typeface="Wingdings" panose="05000000000000000000" pitchFamily="2" charset="2"/>
              <a:buChar char="ü"/>
            </a:pPr>
            <a:r>
              <a:rPr lang="en-US" dirty="0" smtClean="0"/>
              <a:t>This </a:t>
            </a:r>
            <a:r>
              <a:rPr lang="en-US" dirty="0"/>
              <a:t>network distributes information about research and political intelligence, support campaigns and legislation scrutiny to civil society organizations involved in social justice. </a:t>
            </a:r>
            <a:endParaRPr lang="en-US" dirty="0" smtClean="0"/>
          </a:p>
          <a:p>
            <a:pPr>
              <a:buNone/>
            </a:pPr>
            <a:endParaRPr lang="en-US" dirty="0"/>
          </a:p>
          <a:p>
            <a:endParaRPr lang="en-US" dirty="0"/>
          </a:p>
        </p:txBody>
      </p:sp>
    </p:spTree>
    <p:extLst>
      <p:ext uri="{BB962C8B-B14F-4D97-AF65-F5344CB8AC3E}">
        <p14:creationId xmlns:p14="http://schemas.microsoft.com/office/powerpoint/2010/main" val="1008078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63000" cy="1020762"/>
          </a:xfrm>
        </p:spPr>
        <p:txBody>
          <a:bodyPr>
            <a:normAutofit fontScale="90000"/>
          </a:bodyPr>
          <a:lstStyle/>
          <a:p>
            <a:r>
              <a:rPr lang="ru-RU" dirty="0" smtClean="0">
                <a:solidFill>
                  <a:srgbClr val="0070C0"/>
                </a:solidFill>
              </a:rPr>
              <a:t>Organizations / Projects based on the Wider Model</a:t>
            </a:r>
            <a:endParaRPr lang="en-US" dirty="0"/>
          </a:p>
        </p:txBody>
      </p:sp>
      <p:sp>
        <p:nvSpPr>
          <p:cNvPr id="3" name="Content Placeholder 2"/>
          <p:cNvSpPr>
            <a:spLocks noGrp="1"/>
          </p:cNvSpPr>
          <p:nvPr>
            <p:ph idx="1"/>
          </p:nvPr>
        </p:nvSpPr>
        <p:spPr>
          <a:xfrm>
            <a:off x="419100" y="1315065"/>
            <a:ext cx="8229600" cy="4525963"/>
          </a:xfrm>
        </p:spPr>
        <p:txBody>
          <a:bodyPr>
            <a:normAutofit lnSpcReduction="10000"/>
          </a:bodyPr>
          <a:lstStyle/>
          <a:p>
            <a:pPr algn="just">
              <a:buNone/>
            </a:pPr>
            <a:r>
              <a:rPr lang="ru-RU" dirty="0" smtClean="0"/>
              <a:t>•   </a:t>
            </a:r>
            <a:r>
              <a:rPr lang="ru-RU" dirty="0" smtClean="0">
                <a:solidFill>
                  <a:srgbClr val="FF0000"/>
                </a:solidFill>
              </a:rPr>
              <a:t>Global </a:t>
            </a:r>
            <a:endParaRPr lang="en-US" dirty="0">
              <a:solidFill>
                <a:srgbClr val="FF0000"/>
              </a:solidFill>
            </a:endParaRPr>
          </a:p>
          <a:p>
            <a:pPr lvl="1" algn="just">
              <a:buFont typeface="Wingdings" panose="05000000000000000000" pitchFamily="2" charset="2"/>
              <a:buChar char="ü"/>
            </a:pPr>
            <a:r>
              <a:rPr lang="ru-RU" sz="2000" dirty="0" smtClean="0"/>
              <a:t>Earth Negotiations Bulletin: </a:t>
            </a:r>
            <a:r>
              <a:rPr lang="ru-RU" sz="2000" dirty="0" smtClean="0">
                <a:hlinkClick r:id="rId2"/>
              </a:rPr>
              <a:t>http://www.iisd.ca/voltoc.html</a:t>
            </a:r>
            <a:endParaRPr lang="en-US" sz="2000" dirty="0"/>
          </a:p>
          <a:p>
            <a:pPr lvl="1" algn="just">
              <a:buFont typeface="Wingdings" panose="05000000000000000000" pitchFamily="2" charset="2"/>
              <a:buChar char="ü"/>
            </a:pPr>
            <a:r>
              <a:rPr lang="ru-RU" sz="2400" dirty="0" smtClean="0"/>
              <a:t>A </a:t>
            </a:r>
            <a:r>
              <a:rPr lang="ru-RU" sz="2400" dirty="0" smtClean="0">
                <a:solidFill>
                  <a:srgbClr val="FF0000"/>
                </a:solidFill>
              </a:rPr>
              <a:t>reporting  service  that  keeps   citizens  around  the  world  informed  about  global</a:t>
            </a:r>
            <a:r>
              <a:rPr lang="en-US" sz="2400" dirty="0" smtClean="0">
                <a:solidFill>
                  <a:srgbClr val="FF0000"/>
                </a:solidFill>
              </a:rPr>
              <a:t> </a:t>
            </a:r>
            <a:r>
              <a:rPr lang="ru-RU" sz="2400" dirty="0" smtClean="0">
                <a:solidFill>
                  <a:srgbClr val="FF0000"/>
                </a:solidFill>
              </a:rPr>
              <a:t>environmental negotiations,</a:t>
            </a:r>
            <a:r>
              <a:rPr lang="en-US" sz="2400" dirty="0">
                <a:solidFill>
                  <a:srgbClr val="FF0000"/>
                </a:solidFill>
              </a:rPr>
              <a:t> </a:t>
            </a:r>
            <a:r>
              <a:rPr lang="ru-RU" sz="2400" dirty="0" smtClean="0">
                <a:solidFill>
                  <a:srgbClr val="FF0000"/>
                </a:solidFill>
              </a:rPr>
              <a:t>processes and decisions</a:t>
            </a:r>
            <a:r>
              <a:rPr lang="ru-RU" sz="2400" dirty="0" smtClean="0"/>
              <a:t>.</a:t>
            </a:r>
            <a:endParaRPr lang="en-US" sz="2400" dirty="0" smtClean="0"/>
          </a:p>
          <a:p>
            <a:pPr lvl="1" algn="just">
              <a:buFont typeface="Wingdings" panose="05000000000000000000" pitchFamily="2" charset="2"/>
              <a:buChar char="ü"/>
            </a:pPr>
            <a:r>
              <a:rPr lang="en-US" sz="2000" dirty="0" smtClean="0"/>
              <a:t>It’s </a:t>
            </a:r>
            <a:r>
              <a:rPr lang="en-US" sz="2000" dirty="0"/>
              <a:t>of primary value to </a:t>
            </a:r>
            <a:r>
              <a:rPr lang="en-US" sz="2000" dirty="0" smtClean="0"/>
              <a:t>governments </a:t>
            </a:r>
            <a:r>
              <a:rPr lang="en-US" sz="2000" dirty="0"/>
              <a:t>and the people especially in the developing countries so as to record international decisions and take the necessary </a:t>
            </a:r>
            <a:r>
              <a:rPr lang="en-US" sz="2000" dirty="0" smtClean="0"/>
              <a:t>precautions.</a:t>
            </a:r>
            <a:r>
              <a:rPr lang="en-US" sz="2000" dirty="0"/>
              <a:t> </a:t>
            </a:r>
            <a:endParaRPr lang="en-US" sz="2000" dirty="0" smtClean="0"/>
          </a:p>
          <a:p>
            <a:pPr lvl="1" algn="just">
              <a:buFont typeface="Wingdings" panose="05000000000000000000" pitchFamily="2" charset="2"/>
              <a:buChar char="ü"/>
            </a:pPr>
            <a:r>
              <a:rPr lang="ru-RU" sz="2400" dirty="0" smtClean="0"/>
              <a:t>It </a:t>
            </a:r>
            <a:r>
              <a:rPr lang="ru-RU" sz="2400" dirty="0"/>
              <a:t>has immense value for people</a:t>
            </a:r>
            <a:r>
              <a:rPr lang="en-US" sz="2400" dirty="0"/>
              <a:t> </a:t>
            </a:r>
            <a:r>
              <a:rPr lang="ru-RU" sz="2400" dirty="0" smtClean="0"/>
              <a:t>and  government  officials   alike  in  developing  countries</a:t>
            </a:r>
            <a:r>
              <a:rPr lang="en-US" sz="2400" dirty="0" smtClean="0"/>
              <a:t> </a:t>
            </a:r>
            <a:r>
              <a:rPr lang="ru-RU" sz="2400" dirty="0" smtClean="0"/>
              <a:t>to   keep  track  of  global</a:t>
            </a:r>
            <a:r>
              <a:rPr lang="en-US" sz="2400" dirty="0" smtClean="0"/>
              <a:t> </a:t>
            </a:r>
            <a:r>
              <a:rPr lang="ru-RU" sz="2400" dirty="0" smtClean="0"/>
              <a:t>negotiations taking place in the </a:t>
            </a:r>
            <a:r>
              <a:rPr lang="en-US" sz="2400" dirty="0"/>
              <a:t>w</a:t>
            </a:r>
            <a:r>
              <a:rPr lang="ru-RU" sz="2400" dirty="0" smtClean="0"/>
              <a:t>est and be more informed about them. </a:t>
            </a:r>
            <a:endParaRPr lang="en-US" sz="2400" dirty="0" smtClean="0"/>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ru-RU" dirty="0">
                <a:solidFill>
                  <a:srgbClr val="0070C0"/>
                </a:solidFill>
              </a:rPr>
              <a:t>Critical Flow Model</a:t>
            </a:r>
            <a:endParaRPr lang="en-US" dirty="0"/>
          </a:p>
        </p:txBody>
      </p:sp>
      <p:sp>
        <p:nvSpPr>
          <p:cNvPr id="3" name="Content Placeholder 2"/>
          <p:cNvSpPr>
            <a:spLocks noGrp="1"/>
          </p:cNvSpPr>
          <p:nvPr>
            <p:ph idx="1"/>
          </p:nvPr>
        </p:nvSpPr>
        <p:spPr>
          <a:xfrm>
            <a:off x="457200" y="1371600"/>
            <a:ext cx="8229600" cy="4525963"/>
          </a:xfrm>
        </p:spPr>
        <p:txBody>
          <a:bodyPr>
            <a:normAutofit/>
          </a:bodyPr>
          <a:lstStyle/>
          <a:p>
            <a:pPr algn="just"/>
            <a:r>
              <a:rPr lang="en-US" sz="2400" dirty="0"/>
              <a:t>A critical flow model of e-governance is a digital governance that’s </a:t>
            </a:r>
            <a:r>
              <a:rPr lang="en-US" sz="2400" dirty="0">
                <a:solidFill>
                  <a:srgbClr val="FF0000"/>
                </a:solidFill>
              </a:rPr>
              <a:t>operates within private and public domains. </a:t>
            </a:r>
            <a:endParaRPr lang="en-US" sz="2400" dirty="0" smtClean="0">
              <a:solidFill>
                <a:srgbClr val="FF0000"/>
              </a:solidFill>
            </a:endParaRPr>
          </a:p>
          <a:p>
            <a:pPr algn="just"/>
            <a:r>
              <a:rPr lang="en-US" sz="2400" dirty="0" smtClean="0"/>
              <a:t>This </a:t>
            </a:r>
            <a:r>
              <a:rPr lang="en-US" sz="2400" dirty="0"/>
              <a:t>model has been able to address and access information such as: </a:t>
            </a:r>
          </a:p>
          <a:p>
            <a:pPr lvl="1" algn="just">
              <a:buFont typeface="Wingdings" panose="05000000000000000000" pitchFamily="2" charset="2"/>
              <a:buChar char="ü"/>
            </a:pPr>
            <a:r>
              <a:rPr lang="en-US" sz="2400" dirty="0" smtClean="0"/>
              <a:t>Violations </a:t>
            </a:r>
            <a:r>
              <a:rPr lang="en-US" sz="2400" dirty="0"/>
              <a:t>of human rights </a:t>
            </a:r>
          </a:p>
          <a:p>
            <a:pPr lvl="1" algn="just">
              <a:buFont typeface="Wingdings" panose="05000000000000000000" pitchFamily="2" charset="2"/>
              <a:buChar char="ü"/>
            </a:pPr>
            <a:r>
              <a:rPr lang="en-US" sz="2400" dirty="0" smtClean="0"/>
              <a:t>Security </a:t>
            </a:r>
            <a:r>
              <a:rPr lang="en-US" sz="2400" dirty="0"/>
              <a:t>threats </a:t>
            </a:r>
          </a:p>
          <a:p>
            <a:pPr lvl="1" algn="just">
              <a:buFont typeface="Wingdings" panose="05000000000000000000" pitchFamily="2" charset="2"/>
              <a:buChar char="ü"/>
            </a:pPr>
            <a:r>
              <a:rPr lang="en-US" sz="2400" dirty="0" smtClean="0"/>
              <a:t>Information </a:t>
            </a:r>
            <a:r>
              <a:rPr lang="en-US" sz="2400" dirty="0"/>
              <a:t>on corruption both in the public and private sectors </a:t>
            </a:r>
          </a:p>
          <a:p>
            <a:pPr lvl="1" algn="just">
              <a:buFont typeface="Wingdings" panose="05000000000000000000" pitchFamily="2" charset="2"/>
              <a:buChar char="ü"/>
            </a:pPr>
            <a:r>
              <a:rPr lang="en-US" sz="2400" dirty="0" smtClean="0"/>
              <a:t>The </a:t>
            </a:r>
            <a:r>
              <a:rPr lang="en-US" sz="2400" dirty="0"/>
              <a:t>green ratings of a </a:t>
            </a:r>
            <a:r>
              <a:rPr lang="en-US" sz="2400" dirty="0" smtClean="0"/>
              <a:t>company i.e. </a:t>
            </a:r>
            <a:r>
              <a:rPr lang="en-US" sz="2400" dirty="0" smtClean="0">
                <a:solidFill>
                  <a:srgbClr val="00B050"/>
                </a:solidFill>
              </a:rPr>
              <a:t>energy reduction and environment protection</a:t>
            </a:r>
            <a:endParaRPr lang="en-US" sz="2400" dirty="0">
              <a:solidFill>
                <a:srgbClr val="00B050"/>
              </a:solidFill>
            </a:endParaRPr>
          </a:p>
        </p:txBody>
      </p:sp>
    </p:spTree>
    <p:extLst>
      <p:ext uri="{BB962C8B-B14F-4D97-AF65-F5344CB8AC3E}">
        <p14:creationId xmlns:p14="http://schemas.microsoft.com/office/powerpoint/2010/main" val="34419022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ru-RU" sz="3600" dirty="0" smtClean="0">
                <a:solidFill>
                  <a:srgbClr val="0070C0"/>
                </a:solidFill>
              </a:rPr>
              <a:t>Critical Flow Model</a:t>
            </a:r>
            <a:endParaRPr lang="en-US" sz="3600" dirty="0">
              <a:solidFill>
                <a:srgbClr val="0070C0"/>
              </a:solidFill>
            </a:endParaRPr>
          </a:p>
        </p:txBody>
      </p:sp>
      <p:sp>
        <p:nvSpPr>
          <p:cNvPr id="3" name="Content Placeholder 2"/>
          <p:cNvSpPr>
            <a:spLocks noGrp="1"/>
          </p:cNvSpPr>
          <p:nvPr>
            <p:ph idx="1"/>
          </p:nvPr>
        </p:nvSpPr>
        <p:spPr>
          <a:xfrm>
            <a:off x="4114800" y="1447800"/>
            <a:ext cx="4724400" cy="4525963"/>
          </a:xfrm>
        </p:spPr>
        <p:txBody>
          <a:bodyPr>
            <a:normAutofit fontScale="77500" lnSpcReduction="20000"/>
          </a:bodyPr>
          <a:lstStyle/>
          <a:p>
            <a:pPr>
              <a:buNone/>
            </a:pPr>
            <a:r>
              <a:rPr lang="ru-RU" dirty="0" smtClean="0"/>
              <a:t>• Corruption Information</a:t>
            </a:r>
            <a:endParaRPr lang="en-US" dirty="0" smtClean="0"/>
          </a:p>
          <a:p>
            <a:pPr>
              <a:buNone/>
            </a:pPr>
            <a:r>
              <a:rPr lang="ru-RU" dirty="0" smtClean="0"/>
              <a:t>• Company’s Green Ratings </a:t>
            </a:r>
            <a:endParaRPr lang="en-US" dirty="0" smtClean="0"/>
          </a:p>
          <a:p>
            <a:pPr>
              <a:buNone/>
            </a:pPr>
            <a:r>
              <a:rPr lang="ru-RU" dirty="0" smtClean="0"/>
              <a:t>• Human Rights Violations</a:t>
            </a:r>
            <a:endParaRPr lang="en-US" dirty="0" smtClean="0"/>
          </a:p>
          <a:p>
            <a:pPr>
              <a:buNone/>
            </a:pPr>
            <a:r>
              <a:rPr lang="ru-RU" dirty="0" smtClean="0"/>
              <a:t>• Scientific Research</a:t>
            </a: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	</a:t>
            </a:r>
            <a:r>
              <a:rPr lang="ru-RU" sz="3100" dirty="0" smtClean="0"/>
              <a:t>Greenpeace Campaigns, KACA, </a:t>
            </a:r>
            <a:endParaRPr lang="en-US" sz="3100" dirty="0" smtClean="0"/>
          </a:p>
          <a:p>
            <a:pPr>
              <a:buNone/>
            </a:pPr>
            <a:r>
              <a:rPr lang="en-US" sz="3100" dirty="0" smtClean="0"/>
              <a:t>	</a:t>
            </a:r>
            <a:r>
              <a:rPr lang="ru-RU" sz="3100" dirty="0" smtClean="0"/>
              <a:t>VERCON (FAO), HealthNet Staging </a:t>
            </a:r>
            <a:endParaRPr lang="en-US" sz="3100" dirty="0" smtClean="0"/>
          </a:p>
          <a:p>
            <a:pPr>
              <a:buNone/>
            </a:pPr>
            <a:r>
              <a:rPr lang="en-US" sz="3100" dirty="0" smtClean="0"/>
              <a:t>	</a:t>
            </a:r>
            <a:r>
              <a:rPr lang="ru-RU" sz="3100" dirty="0" smtClean="0"/>
              <a:t>Posts, Telecentres (Sangonet-SA, </a:t>
            </a:r>
            <a:endParaRPr lang="en-US" sz="3100" dirty="0" smtClean="0"/>
          </a:p>
          <a:p>
            <a:pPr>
              <a:buNone/>
            </a:pPr>
            <a:r>
              <a:rPr lang="en-US" sz="3100" dirty="0" smtClean="0"/>
              <a:t>	</a:t>
            </a:r>
            <a:r>
              <a:rPr lang="ru-RU" sz="3100" dirty="0" smtClean="0"/>
              <a:t>UNDP-Ukraine, Gyandoot-India)</a:t>
            </a:r>
            <a:endParaRPr lang="en-US" sz="3100" dirty="0" smtClean="0"/>
          </a:p>
          <a:p>
            <a:endParaRPr lang="en-US" dirty="0"/>
          </a:p>
        </p:txBody>
      </p:sp>
      <p:sp>
        <p:nvSpPr>
          <p:cNvPr id="6" name="TextBox 5"/>
          <p:cNvSpPr txBox="1"/>
          <p:nvPr/>
        </p:nvSpPr>
        <p:spPr>
          <a:xfrm>
            <a:off x="0" y="990601"/>
            <a:ext cx="7086600" cy="515526"/>
          </a:xfrm>
          <a:prstGeom prst="rect">
            <a:avLst/>
          </a:prstGeom>
          <a:noFill/>
        </p:spPr>
        <p:txBody>
          <a:bodyPr wrap="square" rtlCol="0">
            <a:spAutoFit/>
          </a:bodyPr>
          <a:lstStyle/>
          <a:p>
            <a:pPr marL="539750">
              <a:lnSpc>
                <a:spcPts val="3300"/>
              </a:lnSpc>
            </a:pPr>
            <a:r>
              <a:rPr lang="en-US" dirty="0" smtClean="0">
                <a:solidFill>
                  <a:srgbClr val="FF0000"/>
                </a:solidFill>
                <a:latin typeface="RLBHGC+FuturaBT-Light"/>
                <a:ea typeface="Calibri"/>
                <a:cs typeface="Times New Roman"/>
              </a:rPr>
              <a:t>Critical/private</a:t>
            </a:r>
            <a:r>
              <a:rPr lang="ru-RU" dirty="0" smtClean="0">
                <a:solidFill>
                  <a:srgbClr val="FF0000"/>
                </a:solidFill>
                <a:latin typeface="RLBHGC+FuturaBT-Light"/>
                <a:ea typeface="Calibri"/>
                <a:cs typeface="Times New Roman"/>
              </a:rPr>
              <a:t> Domain</a:t>
            </a:r>
            <a:r>
              <a:rPr lang="en-US" dirty="0" smtClean="0">
                <a:solidFill>
                  <a:srgbClr val="FF0000"/>
                </a:solidFill>
                <a:latin typeface="RLBHGC+FuturaBT-Light"/>
                <a:ea typeface="Calibri"/>
                <a:cs typeface="Times New Roman"/>
              </a:rPr>
              <a:t>  </a:t>
            </a:r>
            <a:r>
              <a:rPr lang="ru-RU" dirty="0" smtClean="0">
                <a:solidFill>
                  <a:srgbClr val="FF0000"/>
                </a:solidFill>
                <a:latin typeface="RLBHGC+FuturaBT-Light"/>
                <a:ea typeface="Calibri"/>
                <a:cs typeface="Times New Roman"/>
              </a:rPr>
              <a:t>            </a:t>
            </a:r>
            <a:r>
              <a:rPr lang="en-US" dirty="0" smtClean="0">
                <a:solidFill>
                  <a:srgbClr val="FF0000"/>
                </a:solidFill>
                <a:latin typeface="RLBHGC+FuturaBT-Light"/>
                <a:ea typeface="Calibri"/>
                <a:cs typeface="Times New Roman"/>
              </a:rPr>
              <a:t>Targeted/</a:t>
            </a:r>
            <a:r>
              <a:rPr lang="ru-RU" dirty="0" smtClean="0">
                <a:solidFill>
                  <a:srgbClr val="FF0000"/>
                </a:solidFill>
                <a:latin typeface="RLBHGC+FuturaBT-Light"/>
                <a:ea typeface="Calibri"/>
                <a:cs typeface="Times New Roman"/>
              </a:rPr>
              <a:t>Wider Public Domain</a:t>
            </a:r>
            <a:endParaRPr lang="en-US" dirty="0">
              <a:solidFill>
                <a:srgbClr val="FF0000"/>
              </a:solidFill>
              <a:ea typeface="Calibri"/>
              <a:cs typeface="Times New Roman"/>
            </a:endParaRPr>
          </a:p>
        </p:txBody>
      </p:sp>
      <p:cxnSp>
        <p:nvCxnSpPr>
          <p:cNvPr id="7" name="Straight Arrow Connector 6"/>
          <p:cNvCxnSpPr/>
          <p:nvPr/>
        </p:nvCxnSpPr>
        <p:spPr>
          <a:xfrm>
            <a:off x="2895600" y="12954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2"/>
          <a:srcRect/>
          <a:stretch>
            <a:fillRect/>
          </a:stretch>
        </p:blipFill>
        <p:spPr bwMode="auto">
          <a:xfrm>
            <a:off x="381000" y="2057400"/>
            <a:ext cx="3505200" cy="3276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4000" dirty="0" smtClean="0">
                <a:solidFill>
                  <a:srgbClr val="0070C0"/>
                </a:solidFill>
              </a:rPr>
              <a:t/>
            </a:r>
            <a:br>
              <a:rPr lang="en-US" sz="4000" dirty="0" smtClean="0">
                <a:solidFill>
                  <a:srgbClr val="0070C0"/>
                </a:solidFill>
              </a:rPr>
            </a:br>
            <a:r>
              <a:rPr lang="ru-RU" sz="4000" dirty="0" smtClean="0">
                <a:solidFill>
                  <a:srgbClr val="0070C0"/>
                </a:solidFill>
              </a:rPr>
              <a:t>Critical Flow Model</a:t>
            </a:r>
            <a:r>
              <a:rPr lang="en-US" dirty="0" smtClean="0"/>
              <a:t/>
            </a:r>
            <a:br>
              <a:rPr lang="en-US" dirty="0" smtClean="0"/>
            </a:br>
            <a:endParaRPr lang="en-US" dirty="0"/>
          </a:p>
        </p:txBody>
      </p:sp>
      <p:sp>
        <p:nvSpPr>
          <p:cNvPr id="3" name="Content Placeholder 2"/>
          <p:cNvSpPr>
            <a:spLocks noGrp="1"/>
          </p:cNvSpPr>
          <p:nvPr>
            <p:ph idx="1"/>
          </p:nvPr>
        </p:nvSpPr>
        <p:spPr>
          <a:xfrm>
            <a:off x="457200" y="1143000"/>
            <a:ext cx="8229600" cy="5410200"/>
          </a:xfrm>
        </p:spPr>
        <p:txBody>
          <a:bodyPr>
            <a:noAutofit/>
          </a:bodyPr>
          <a:lstStyle/>
          <a:p>
            <a:pPr algn="just">
              <a:buNone/>
            </a:pPr>
            <a:r>
              <a:rPr lang="ru-RU" sz="2000" dirty="0" smtClean="0"/>
              <a:t>–  </a:t>
            </a:r>
            <a:r>
              <a:rPr lang="en-US" sz="2000" dirty="0" smtClean="0"/>
              <a:t> The model is </a:t>
            </a:r>
            <a:r>
              <a:rPr lang="en-US" sz="2000" dirty="0"/>
              <a:t>b</a:t>
            </a:r>
            <a:r>
              <a:rPr lang="ru-RU" sz="2000" dirty="0" smtClean="0"/>
              <a:t>ased  on  </a:t>
            </a:r>
            <a:r>
              <a:rPr lang="en-US" sz="2000" dirty="0" smtClean="0">
                <a:solidFill>
                  <a:srgbClr val="00B050"/>
                </a:solidFill>
              </a:rPr>
              <a:t>disseminating/</a:t>
            </a:r>
            <a:r>
              <a:rPr lang="ru-RU" sz="2000" dirty="0" smtClean="0">
                <a:solidFill>
                  <a:srgbClr val="00B050"/>
                </a:solidFill>
              </a:rPr>
              <a:t>channeling</a:t>
            </a:r>
            <a:r>
              <a:rPr lang="en-US" sz="2000" dirty="0" smtClean="0">
                <a:solidFill>
                  <a:srgbClr val="00B050"/>
                </a:solidFill>
              </a:rPr>
              <a:t>/distributing</a:t>
            </a:r>
            <a:r>
              <a:rPr lang="ru-RU" sz="2000" dirty="0" smtClean="0">
                <a:solidFill>
                  <a:srgbClr val="00B050"/>
                </a:solidFill>
              </a:rPr>
              <a:t>  information  of  critical  value</a:t>
            </a:r>
            <a:r>
              <a:rPr lang="en-US" sz="2000" dirty="0" smtClean="0">
                <a:solidFill>
                  <a:srgbClr val="00B050"/>
                </a:solidFill>
              </a:rPr>
              <a:t>/key value</a:t>
            </a:r>
            <a:r>
              <a:rPr lang="ru-RU" sz="2000" dirty="0" smtClean="0">
                <a:solidFill>
                  <a:srgbClr val="00B050"/>
                </a:solidFill>
              </a:rPr>
              <a:t> </a:t>
            </a:r>
            <a:r>
              <a:rPr lang="en-US" sz="2000" dirty="0"/>
              <a:t> </a:t>
            </a:r>
            <a:r>
              <a:rPr lang="ru-RU" sz="2000" dirty="0" smtClean="0">
                <a:solidFill>
                  <a:srgbClr val="00B050"/>
                </a:solidFill>
              </a:rPr>
              <a:t> to  a  targeted </a:t>
            </a:r>
            <a:r>
              <a:rPr lang="en-US" sz="2000" dirty="0">
                <a:solidFill>
                  <a:srgbClr val="00B050"/>
                </a:solidFill>
              </a:rPr>
              <a:t> </a:t>
            </a:r>
            <a:r>
              <a:rPr lang="ru-RU" sz="2000" dirty="0" smtClean="0"/>
              <a:t>audienc</a:t>
            </a:r>
            <a:r>
              <a:rPr lang="en-US" sz="2000" dirty="0" smtClean="0"/>
              <a:t>e </a:t>
            </a:r>
            <a:r>
              <a:rPr lang="ru-RU" sz="2000" dirty="0" smtClean="0"/>
              <a:t>or</a:t>
            </a:r>
            <a:r>
              <a:rPr lang="en-US" sz="2000" dirty="0" smtClean="0"/>
              <a:t> </a:t>
            </a:r>
            <a:r>
              <a:rPr lang="ru-RU" sz="2000" dirty="0" smtClean="0"/>
              <a:t> </a:t>
            </a:r>
            <a:r>
              <a:rPr lang="en-US" sz="2000" dirty="0" smtClean="0"/>
              <a:t>into</a:t>
            </a:r>
            <a:r>
              <a:rPr lang="ru-RU" sz="2000" dirty="0" smtClean="0"/>
              <a:t> the wider public    domain through</a:t>
            </a:r>
            <a:r>
              <a:rPr lang="en-US" sz="2000" dirty="0"/>
              <a:t> </a:t>
            </a:r>
            <a:r>
              <a:rPr lang="ru-RU" sz="2000" dirty="0" smtClean="0"/>
              <a:t>the use of ICT and convergent media. </a:t>
            </a:r>
            <a:endParaRPr lang="en-US" sz="2000" dirty="0" smtClean="0"/>
          </a:p>
          <a:p>
            <a:pPr lvl="1" algn="just">
              <a:buFont typeface="Wingdings" panose="05000000000000000000" pitchFamily="2" charset="2"/>
              <a:buChar char="ü"/>
            </a:pPr>
            <a:r>
              <a:rPr lang="en-US" sz="2000" dirty="0"/>
              <a:t>Targeted audience may include media, affected parties, opposition parties, judicial bench, independent investigators or the general public.</a:t>
            </a:r>
            <a:endParaRPr lang="en-US" sz="2000" dirty="0" smtClean="0"/>
          </a:p>
          <a:p>
            <a:pPr algn="just">
              <a:buNone/>
            </a:pPr>
            <a:r>
              <a:rPr lang="ru-RU" sz="2000" dirty="0" smtClean="0"/>
              <a:t>–  </a:t>
            </a:r>
            <a:r>
              <a:rPr lang="en-US" sz="2000" dirty="0" smtClean="0"/>
              <a:t>This model </a:t>
            </a:r>
            <a:r>
              <a:rPr lang="ru-RU" sz="2000" dirty="0" smtClean="0">
                <a:solidFill>
                  <a:srgbClr val="00B050"/>
                </a:solidFill>
              </a:rPr>
              <a:t>Requires </a:t>
            </a:r>
            <a:r>
              <a:rPr lang="en-US" sz="2000" dirty="0" smtClean="0">
                <a:solidFill>
                  <a:srgbClr val="00B050"/>
                </a:solidFill>
              </a:rPr>
              <a:t>the users</a:t>
            </a:r>
            <a:r>
              <a:rPr lang="ru-RU" sz="2000" dirty="0" smtClean="0">
                <a:solidFill>
                  <a:srgbClr val="00B050"/>
                </a:solidFill>
              </a:rPr>
              <a:t>  to  understand  the  significance  of  a particular information</a:t>
            </a:r>
            <a:r>
              <a:rPr lang="en-US" sz="2000" dirty="0" smtClean="0">
                <a:solidFill>
                  <a:srgbClr val="00B050"/>
                </a:solidFill>
              </a:rPr>
              <a:t>/any data</a:t>
            </a:r>
            <a:r>
              <a:rPr lang="ru-RU" sz="2000" dirty="0" smtClean="0">
                <a:solidFill>
                  <a:srgbClr val="00B050"/>
                </a:solidFill>
              </a:rPr>
              <a:t> </a:t>
            </a:r>
            <a:r>
              <a:rPr lang="ru-RU" sz="2000" dirty="0" smtClean="0"/>
              <a:t>set and using it strategically. </a:t>
            </a:r>
            <a:endParaRPr lang="en-US" sz="2000" dirty="0" smtClean="0"/>
          </a:p>
          <a:p>
            <a:pPr algn="just"/>
            <a:r>
              <a:rPr lang="en-US" sz="2000" b="1" dirty="0"/>
              <a:t>The use of this model </a:t>
            </a:r>
            <a:r>
              <a:rPr lang="en-US" sz="2000" b="1" dirty="0">
                <a:solidFill>
                  <a:srgbClr val="FF0000"/>
                </a:solidFill>
              </a:rPr>
              <a:t>requires a foresight </a:t>
            </a:r>
            <a:r>
              <a:rPr lang="en-US" sz="2000" b="1" dirty="0"/>
              <a:t>of:</a:t>
            </a:r>
            <a:endParaRPr lang="en-US" sz="2000" dirty="0"/>
          </a:p>
          <a:p>
            <a:pPr lvl="1" algn="just">
              <a:buFont typeface="Wingdings" panose="05000000000000000000" pitchFamily="2" charset="2"/>
              <a:buChar char="ü"/>
            </a:pPr>
            <a:r>
              <a:rPr lang="en-US" sz="2000" dirty="0"/>
              <a:t>Understanding the "critical and use value" of a particular information </a:t>
            </a:r>
            <a:r>
              <a:rPr lang="en-US" sz="2000" dirty="0" smtClean="0"/>
              <a:t>set</a:t>
            </a:r>
          </a:p>
          <a:p>
            <a:pPr lvl="1" algn="just">
              <a:buFont typeface="Wingdings" panose="05000000000000000000" pitchFamily="2" charset="2"/>
              <a:buChar char="ü"/>
            </a:pPr>
            <a:r>
              <a:rPr lang="en-US" sz="2000" dirty="0" smtClean="0"/>
              <a:t>How </a:t>
            </a:r>
            <a:r>
              <a:rPr lang="en-US" sz="2000" dirty="0"/>
              <a:t>or from where this information could be </a:t>
            </a:r>
            <a:r>
              <a:rPr lang="en-US" sz="2000" dirty="0" smtClean="0"/>
              <a:t>obtained</a:t>
            </a:r>
          </a:p>
          <a:p>
            <a:pPr lvl="1" algn="just">
              <a:buFont typeface="Wingdings" panose="05000000000000000000" pitchFamily="2" charset="2"/>
              <a:buChar char="ü"/>
            </a:pPr>
            <a:r>
              <a:rPr lang="en-US" sz="2000" dirty="0" smtClean="0"/>
              <a:t>How </a:t>
            </a:r>
            <a:r>
              <a:rPr lang="en-US" sz="2000" dirty="0"/>
              <a:t>could the information be used </a:t>
            </a:r>
            <a:r>
              <a:rPr lang="en-US" sz="2000" dirty="0" smtClean="0"/>
              <a:t>strategically</a:t>
            </a:r>
          </a:p>
          <a:p>
            <a:pPr lvl="1" algn="just">
              <a:buFont typeface="Wingdings" panose="05000000000000000000" pitchFamily="2" charset="2"/>
              <a:buChar char="ü"/>
            </a:pPr>
            <a:r>
              <a:rPr lang="en-US" sz="2000" dirty="0" smtClean="0"/>
              <a:t>Who </a:t>
            </a:r>
            <a:r>
              <a:rPr lang="en-US" sz="2000" dirty="0"/>
              <a:t>are the best target group for such information- </a:t>
            </a:r>
            <a:r>
              <a:rPr lang="en-US" sz="2000" dirty="0" smtClean="0">
                <a:solidFill>
                  <a:srgbClr val="00B050"/>
                </a:solidFill>
              </a:rPr>
              <a:t>the position of  </a:t>
            </a:r>
            <a:r>
              <a:rPr lang="en-US" sz="2000" dirty="0">
                <a:solidFill>
                  <a:srgbClr val="00B050"/>
                </a:solidFill>
              </a:rPr>
              <a:t>users for whom the availability of this information will make a huge </a:t>
            </a:r>
            <a:r>
              <a:rPr lang="en-US" sz="2000" dirty="0" smtClean="0">
                <a:solidFill>
                  <a:srgbClr val="00B050"/>
                </a:solidFill>
              </a:rPr>
              <a:t>difference in implementing good governance.</a:t>
            </a:r>
            <a:endParaRPr lang="en-US" sz="2000" dirty="0">
              <a:solidFill>
                <a:srgbClr val="00B05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619511813"/>
              </p:ext>
            </p:extLst>
          </p:nvPr>
        </p:nvGraphicFramePr>
        <p:xfrm>
          <a:off x="457200" y="609600"/>
          <a:ext cx="2133600" cy="533400"/>
        </p:xfrm>
        <a:graphic>
          <a:graphicData uri="http://schemas.openxmlformats.org/drawingml/2006/table">
            <a:tbl>
              <a:tblPr/>
              <a:tblGrid>
                <a:gridCol w="2133600">
                  <a:extLst>
                    <a:ext uri="{9D8B030D-6E8A-4147-A177-3AD203B41FA5}">
                      <a16:colId xmlns:a16="http://schemas.microsoft.com/office/drawing/2014/main" val="20000"/>
                    </a:ext>
                  </a:extLst>
                </a:gridCol>
              </a:tblGrid>
              <a:tr h="533400">
                <a:tc>
                  <a:txBody>
                    <a:bodyPr/>
                    <a:lstStyle/>
                    <a:p>
                      <a:pPr marL="0" marR="0" algn="l">
                        <a:lnSpc>
                          <a:spcPts val="2875"/>
                        </a:lnSpc>
                        <a:spcBef>
                          <a:spcPts val="0"/>
                        </a:spcBef>
                        <a:spcAft>
                          <a:spcPts val="0"/>
                        </a:spcAft>
                      </a:pPr>
                      <a:r>
                        <a:rPr lang="ru-RU" sz="2400" dirty="0">
                          <a:solidFill>
                            <a:srgbClr val="FF0000"/>
                          </a:solidFill>
                          <a:latin typeface="RLBHGC+FuturaBT-Light"/>
                          <a:ea typeface="Calibri"/>
                          <a:cs typeface="Times New Roman"/>
                        </a:rPr>
                        <a:t>•     </a:t>
                      </a:r>
                      <a:r>
                        <a:rPr lang="ru-RU" sz="3200" dirty="0">
                          <a:solidFill>
                            <a:srgbClr val="FF0000"/>
                          </a:solidFill>
                          <a:latin typeface="RLBHGC+FuturaBT-Light"/>
                          <a:ea typeface="Calibri"/>
                          <a:cs typeface="Times New Roman"/>
                        </a:rPr>
                        <a:t>Principle</a:t>
                      </a:r>
                      <a:endParaRPr lang="en-US" sz="32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ru-RU" dirty="0">
                <a:solidFill>
                  <a:srgbClr val="0070C0"/>
                </a:solidFill>
              </a:rPr>
              <a:t>Critical Flow Model</a:t>
            </a:r>
            <a:endParaRPr lang="en-US" dirty="0"/>
          </a:p>
        </p:txBody>
      </p:sp>
      <p:sp>
        <p:nvSpPr>
          <p:cNvPr id="3" name="Content Placeholder 2"/>
          <p:cNvSpPr>
            <a:spLocks noGrp="1"/>
          </p:cNvSpPr>
          <p:nvPr>
            <p:ph idx="1"/>
          </p:nvPr>
        </p:nvSpPr>
        <p:spPr>
          <a:xfrm>
            <a:off x="489155" y="1488358"/>
            <a:ext cx="8229600" cy="4525963"/>
          </a:xfrm>
        </p:spPr>
        <p:txBody>
          <a:bodyPr>
            <a:normAutofit fontScale="77500" lnSpcReduction="20000"/>
          </a:bodyPr>
          <a:lstStyle/>
          <a:p>
            <a:pPr algn="just">
              <a:buNone/>
            </a:pPr>
            <a:r>
              <a:rPr lang="ru-RU" dirty="0" smtClean="0"/>
              <a:t>–   </a:t>
            </a:r>
            <a:r>
              <a:rPr lang="ru-RU" dirty="0" smtClean="0">
                <a:solidFill>
                  <a:srgbClr val="7030A0"/>
                </a:solidFill>
              </a:rPr>
              <a:t>May  </a:t>
            </a:r>
            <a:r>
              <a:rPr lang="ru-RU" dirty="0">
                <a:solidFill>
                  <a:srgbClr val="7030A0"/>
                </a:solidFill>
              </a:rPr>
              <a:t>also  involve  locating  users  to  whom  </a:t>
            </a:r>
            <a:r>
              <a:rPr lang="ru-RU" dirty="0" smtClean="0">
                <a:solidFill>
                  <a:srgbClr val="7030A0"/>
                </a:solidFill>
              </a:rPr>
              <a:t>the</a:t>
            </a:r>
            <a:r>
              <a:rPr lang="en-US" dirty="0" smtClean="0">
                <a:solidFill>
                  <a:srgbClr val="7030A0"/>
                </a:solidFill>
              </a:rPr>
              <a:t> </a:t>
            </a:r>
            <a:r>
              <a:rPr lang="ru-RU" dirty="0" smtClean="0">
                <a:solidFill>
                  <a:srgbClr val="7030A0"/>
                </a:solidFill>
              </a:rPr>
              <a:t>availability  </a:t>
            </a:r>
            <a:r>
              <a:rPr lang="ru-RU" dirty="0">
                <a:solidFill>
                  <a:srgbClr val="7030A0"/>
                </a:solidFill>
              </a:rPr>
              <a:t>of  a </a:t>
            </a:r>
            <a:r>
              <a:rPr lang="en-US" dirty="0" smtClean="0">
                <a:solidFill>
                  <a:srgbClr val="7030A0"/>
                </a:solidFill>
              </a:rPr>
              <a:t> </a:t>
            </a:r>
            <a:r>
              <a:rPr lang="ru-RU" dirty="0" smtClean="0">
                <a:solidFill>
                  <a:srgbClr val="7030A0"/>
                </a:solidFill>
              </a:rPr>
              <a:t>particular  </a:t>
            </a:r>
            <a:r>
              <a:rPr lang="ru-RU" dirty="0">
                <a:solidFill>
                  <a:srgbClr val="7030A0"/>
                </a:solidFill>
              </a:rPr>
              <a:t>information  set   would  make  a  critical  difference   in </a:t>
            </a:r>
            <a:r>
              <a:rPr lang="ru-RU" dirty="0" smtClean="0">
                <a:solidFill>
                  <a:srgbClr val="7030A0"/>
                </a:solidFill>
              </a:rPr>
              <a:t>initiating </a:t>
            </a:r>
            <a:r>
              <a:rPr lang="ru-RU" dirty="0">
                <a:solidFill>
                  <a:srgbClr val="7030A0"/>
                </a:solidFill>
              </a:rPr>
              <a:t>good governance. </a:t>
            </a:r>
            <a:endParaRPr lang="en-US" dirty="0" smtClean="0">
              <a:solidFill>
                <a:srgbClr val="7030A0"/>
              </a:solidFill>
            </a:endParaRPr>
          </a:p>
          <a:p>
            <a:pPr algn="just">
              <a:buNone/>
            </a:pPr>
            <a:r>
              <a:rPr lang="ru-RU" dirty="0" smtClean="0"/>
              <a:t>– The </a:t>
            </a:r>
            <a:r>
              <a:rPr lang="ru-RU" dirty="0">
                <a:solidFill>
                  <a:srgbClr val="7030A0"/>
                </a:solidFill>
              </a:rPr>
              <a:t>strength of critical-flow model </a:t>
            </a:r>
            <a:r>
              <a:rPr lang="ru-RU" dirty="0"/>
              <a:t>is </a:t>
            </a:r>
            <a:r>
              <a:rPr lang="ru-RU" dirty="0" smtClean="0"/>
              <a:t>the</a:t>
            </a:r>
            <a:r>
              <a:rPr lang="en-US" dirty="0" smtClean="0"/>
              <a:t> </a:t>
            </a:r>
            <a:r>
              <a:rPr lang="en-US" dirty="0"/>
              <a:t>concept of 'distance' and 'time' becomes redundant when information is hosted on a digital network.</a:t>
            </a:r>
            <a:r>
              <a:rPr lang="ru-RU" dirty="0" smtClean="0"/>
              <a:t> </a:t>
            </a:r>
            <a:endParaRPr lang="en-US" dirty="0" smtClean="0"/>
          </a:p>
          <a:p>
            <a:pPr lvl="1" algn="just">
              <a:buFont typeface="Wingdings" panose="05000000000000000000" pitchFamily="2" charset="2"/>
              <a:buChar char="ü"/>
            </a:pPr>
            <a:r>
              <a:rPr lang="ru-RU" dirty="0" smtClean="0"/>
              <a:t>This </a:t>
            </a:r>
            <a:r>
              <a:rPr lang="en-US" dirty="0" smtClean="0"/>
              <a:t> </a:t>
            </a:r>
            <a:r>
              <a:rPr lang="ru-RU" dirty="0" smtClean="0"/>
              <a:t>reduces </a:t>
            </a:r>
            <a:r>
              <a:rPr lang="ru-RU" dirty="0"/>
              <a:t>the cases of </a:t>
            </a:r>
            <a:r>
              <a:rPr lang="ru-RU" dirty="0" smtClean="0"/>
              <a:t>exploitative </a:t>
            </a:r>
            <a:r>
              <a:rPr lang="ru-RU" dirty="0"/>
              <a:t>governance possible earlier due </a:t>
            </a:r>
            <a:r>
              <a:rPr lang="ru-RU" dirty="0" smtClean="0"/>
              <a:t>to </a:t>
            </a:r>
            <a:r>
              <a:rPr lang="ru-RU" dirty="0"/>
              <a:t>time lag between availability of information to different users. </a:t>
            </a:r>
            <a:endParaRPr lang="en-US" dirty="0"/>
          </a:p>
          <a:p>
            <a:pPr algn="just">
              <a:buNone/>
            </a:pPr>
            <a:r>
              <a:rPr lang="ru-RU" dirty="0"/>
              <a:t>– </a:t>
            </a:r>
            <a:r>
              <a:rPr lang="en-US" dirty="0"/>
              <a:t> </a:t>
            </a:r>
            <a:r>
              <a:rPr lang="en-US" dirty="0" smtClean="0"/>
              <a:t>Once </a:t>
            </a:r>
            <a:r>
              <a:rPr lang="en-US" dirty="0"/>
              <a:t>available on the digital network, the </a:t>
            </a:r>
            <a:r>
              <a:rPr lang="en-US" dirty="0">
                <a:solidFill>
                  <a:srgbClr val="00B050"/>
                </a:solidFill>
              </a:rPr>
              <a:t>information could be used </a:t>
            </a:r>
            <a:r>
              <a:rPr lang="en-US" dirty="0" smtClean="0">
                <a:solidFill>
                  <a:srgbClr val="00B050"/>
                </a:solidFill>
              </a:rPr>
              <a:t>advantageously- by </a:t>
            </a:r>
            <a:r>
              <a:rPr lang="en-US" dirty="0">
                <a:solidFill>
                  <a:srgbClr val="00B050"/>
                </a:solidFill>
              </a:rPr>
              <a:t>instantly transferring the critical information to its user group located anywhere </a:t>
            </a:r>
            <a:r>
              <a:rPr lang="en-US" dirty="0"/>
              <a:t>or by making it freely available in the wider public domain.</a:t>
            </a:r>
            <a:endParaRPr lang="en-US" dirty="0">
              <a:solidFill>
                <a:srgbClr val="7030A0"/>
              </a:solidFill>
            </a:endParaRPr>
          </a:p>
          <a:p>
            <a:pPr>
              <a:buNone/>
            </a:pPr>
            <a:endParaRPr lang="en-US" dirty="0"/>
          </a:p>
          <a:p>
            <a:endParaRPr lang="en-US"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988447381"/>
              </p:ext>
            </p:extLst>
          </p:nvPr>
        </p:nvGraphicFramePr>
        <p:xfrm>
          <a:off x="457200" y="952500"/>
          <a:ext cx="2133600" cy="533400"/>
        </p:xfrm>
        <a:graphic>
          <a:graphicData uri="http://schemas.openxmlformats.org/drawingml/2006/table">
            <a:tbl>
              <a:tblPr/>
              <a:tblGrid>
                <a:gridCol w="2133600">
                  <a:extLst>
                    <a:ext uri="{9D8B030D-6E8A-4147-A177-3AD203B41FA5}">
                      <a16:colId xmlns:a16="http://schemas.microsoft.com/office/drawing/2014/main" val="20000"/>
                    </a:ext>
                  </a:extLst>
                </a:gridCol>
              </a:tblGrid>
              <a:tr h="533400">
                <a:tc>
                  <a:txBody>
                    <a:bodyPr/>
                    <a:lstStyle/>
                    <a:p>
                      <a:pPr marL="0" marR="0" algn="l">
                        <a:lnSpc>
                          <a:spcPts val="2875"/>
                        </a:lnSpc>
                        <a:spcBef>
                          <a:spcPts val="0"/>
                        </a:spcBef>
                        <a:spcAft>
                          <a:spcPts val="0"/>
                        </a:spcAft>
                      </a:pPr>
                      <a:r>
                        <a:rPr lang="ru-RU" sz="2400" dirty="0">
                          <a:solidFill>
                            <a:srgbClr val="FF0000"/>
                          </a:solidFill>
                          <a:latin typeface="RLBHGC+FuturaBT-Light"/>
                          <a:ea typeface="Calibri"/>
                          <a:cs typeface="Times New Roman"/>
                        </a:rPr>
                        <a:t>•     </a:t>
                      </a:r>
                      <a:r>
                        <a:rPr lang="ru-RU" sz="3200" dirty="0">
                          <a:solidFill>
                            <a:srgbClr val="FF0000"/>
                          </a:solidFill>
                          <a:latin typeface="RLBHGC+FuturaBT-Light"/>
                          <a:ea typeface="Calibri"/>
                          <a:cs typeface="Times New Roman"/>
                        </a:rPr>
                        <a:t>Principle</a:t>
                      </a:r>
                      <a:endParaRPr lang="en-US" sz="32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5014301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ru-RU" sz="3600" dirty="0" smtClean="0">
                <a:solidFill>
                  <a:srgbClr val="0070C0"/>
                </a:solidFill>
              </a:rPr>
              <a:t>Critical Flow Model</a:t>
            </a:r>
            <a:endParaRPr lang="en-US" sz="3600" dirty="0"/>
          </a:p>
        </p:txBody>
      </p:sp>
      <p:sp>
        <p:nvSpPr>
          <p:cNvPr id="3" name="Content Placeholder 2"/>
          <p:cNvSpPr>
            <a:spLocks noGrp="1"/>
          </p:cNvSpPr>
          <p:nvPr>
            <p:ph idx="1"/>
          </p:nvPr>
        </p:nvSpPr>
        <p:spPr>
          <a:xfrm>
            <a:off x="381000" y="1524001"/>
            <a:ext cx="8153400" cy="4952999"/>
          </a:xfrm>
        </p:spPr>
        <p:txBody>
          <a:bodyPr>
            <a:normAutofit fontScale="70000" lnSpcReduction="20000"/>
          </a:bodyPr>
          <a:lstStyle/>
          <a:p>
            <a:pPr marL="514350" indent="-514350" algn="just">
              <a:buFont typeface="+mj-lt"/>
              <a:buAutoNum type="arabicPeriod"/>
            </a:pPr>
            <a:r>
              <a:rPr lang="ru-RU" dirty="0" smtClean="0">
                <a:solidFill>
                  <a:srgbClr val="00B050"/>
                </a:solidFill>
              </a:rPr>
              <a:t>Making   available   information  on   corruption   of  a   particular government   ministry  or   government  officials</a:t>
            </a:r>
            <a:r>
              <a:rPr lang="en-US" dirty="0" smtClean="0">
                <a:solidFill>
                  <a:srgbClr val="00B050"/>
                </a:solidFill>
              </a:rPr>
              <a:t> available</a:t>
            </a:r>
            <a:r>
              <a:rPr lang="ru-RU" dirty="0" smtClean="0">
                <a:solidFill>
                  <a:srgbClr val="00B050"/>
                </a:solidFill>
              </a:rPr>
              <a:t>  </a:t>
            </a:r>
            <a:r>
              <a:rPr lang="ru-RU" dirty="0" smtClean="0">
                <a:solidFill>
                  <a:srgbClr val="7030A0"/>
                </a:solidFill>
              </a:rPr>
              <a:t>to   its  electoral constituency</a:t>
            </a:r>
            <a:r>
              <a:rPr lang="en-US" dirty="0" smtClean="0">
                <a:solidFill>
                  <a:srgbClr val="7030A0"/>
                </a:solidFill>
              </a:rPr>
              <a:t>/body</a:t>
            </a:r>
            <a:r>
              <a:rPr lang="ru-RU" dirty="0" smtClean="0">
                <a:solidFill>
                  <a:srgbClr val="7030A0"/>
                </a:solidFill>
              </a:rPr>
              <a:t> or to the concerned </a:t>
            </a:r>
            <a:r>
              <a:rPr lang="en-US" dirty="0" smtClean="0">
                <a:solidFill>
                  <a:srgbClr val="7030A0"/>
                </a:solidFill>
              </a:rPr>
              <a:t>regulatory</a:t>
            </a:r>
            <a:r>
              <a:rPr lang="ru-RU" dirty="0" smtClean="0">
                <a:solidFill>
                  <a:srgbClr val="7030A0"/>
                </a:solidFill>
              </a:rPr>
              <a:t> body</a:t>
            </a:r>
            <a:r>
              <a:rPr lang="en-US" dirty="0" smtClean="0">
                <a:solidFill>
                  <a:srgbClr val="7030A0"/>
                </a:solidFill>
              </a:rPr>
              <a:t> or governing council</a:t>
            </a:r>
            <a:r>
              <a:rPr lang="ru-RU" dirty="0" smtClean="0">
                <a:solidFill>
                  <a:srgbClr val="7030A0"/>
                </a:solidFill>
              </a:rPr>
              <a:t>. </a:t>
            </a:r>
            <a:endParaRPr lang="en-US" dirty="0" smtClean="0">
              <a:solidFill>
                <a:srgbClr val="7030A0"/>
              </a:solidFill>
            </a:endParaRPr>
          </a:p>
          <a:p>
            <a:pPr marL="514350" indent="-514350" algn="just">
              <a:buFont typeface="+mj-lt"/>
              <a:buAutoNum type="arabicPeriod"/>
            </a:pPr>
            <a:r>
              <a:rPr lang="ru-RU" dirty="0" smtClean="0"/>
              <a:t>Making </a:t>
            </a:r>
            <a:r>
              <a:rPr lang="en-US" dirty="0" smtClean="0"/>
              <a:t> available </a:t>
            </a:r>
            <a:r>
              <a:rPr lang="en-US" dirty="0">
                <a:solidFill>
                  <a:srgbClr val="7030A0"/>
                </a:solidFill>
              </a:rPr>
              <a:t>R</a:t>
            </a:r>
            <a:r>
              <a:rPr lang="ru-RU" dirty="0" smtClean="0">
                <a:solidFill>
                  <a:srgbClr val="7030A0"/>
                </a:solidFill>
              </a:rPr>
              <a:t>esearch studies, </a:t>
            </a:r>
            <a:r>
              <a:rPr lang="en-US" dirty="0" smtClean="0">
                <a:solidFill>
                  <a:srgbClr val="7030A0"/>
                </a:solidFill>
              </a:rPr>
              <a:t>E</a:t>
            </a:r>
            <a:r>
              <a:rPr lang="ru-RU" dirty="0" smtClean="0">
                <a:solidFill>
                  <a:srgbClr val="7030A0"/>
                </a:solidFill>
              </a:rPr>
              <a:t>nquiry reports and appraisals</a:t>
            </a:r>
            <a:r>
              <a:rPr lang="en-US" dirty="0" smtClean="0">
                <a:solidFill>
                  <a:srgbClr val="7030A0"/>
                </a:solidFill>
              </a:rPr>
              <a:t>/impacts</a:t>
            </a:r>
            <a:r>
              <a:rPr lang="ru-RU" dirty="0" smtClean="0">
                <a:solidFill>
                  <a:srgbClr val="7030A0"/>
                </a:solidFill>
              </a:rPr>
              <a:t> commissioned by the government</a:t>
            </a:r>
            <a:r>
              <a:rPr lang="en-US" dirty="0" smtClean="0">
                <a:solidFill>
                  <a:srgbClr val="7030A0"/>
                </a:solidFill>
              </a:rPr>
              <a:t> </a:t>
            </a:r>
            <a:r>
              <a:rPr lang="en-US" dirty="0"/>
              <a:t>or Independent commissions </a:t>
            </a:r>
            <a:r>
              <a:rPr lang="en-US" dirty="0" smtClean="0">
                <a:solidFill>
                  <a:srgbClr val="00B050"/>
                </a:solidFill>
              </a:rPr>
              <a:t>available </a:t>
            </a:r>
            <a:r>
              <a:rPr lang="ru-RU" dirty="0" smtClean="0">
                <a:solidFill>
                  <a:srgbClr val="00B050"/>
                </a:solidFill>
              </a:rPr>
              <a:t>to the affected parties. </a:t>
            </a:r>
            <a:endParaRPr lang="en-US" dirty="0" smtClean="0">
              <a:solidFill>
                <a:srgbClr val="00B050"/>
              </a:solidFill>
            </a:endParaRPr>
          </a:p>
          <a:p>
            <a:pPr marL="514350" indent="-514350" algn="just">
              <a:buFont typeface="+mj-lt"/>
              <a:buAutoNum type="arabicPeriod"/>
            </a:pPr>
            <a:r>
              <a:rPr lang="ru-RU" dirty="0" smtClean="0"/>
              <a:t>Making</a:t>
            </a:r>
            <a:r>
              <a:rPr lang="en-US" dirty="0" smtClean="0"/>
              <a:t> or Availing records of </a:t>
            </a:r>
            <a:r>
              <a:rPr lang="ru-RU" dirty="0" smtClean="0"/>
              <a:t>   </a:t>
            </a:r>
            <a:r>
              <a:rPr lang="ru-RU" dirty="0" smtClean="0">
                <a:solidFill>
                  <a:srgbClr val="FF0000"/>
                </a:solidFill>
              </a:rPr>
              <a:t>Human    Rights    violation    and    criminal impeachment</a:t>
            </a:r>
            <a:r>
              <a:rPr lang="ru-RU" dirty="0" smtClean="0"/>
              <a:t> </a:t>
            </a:r>
            <a:r>
              <a:rPr lang="ru-RU" dirty="0" smtClean="0">
                <a:solidFill>
                  <a:srgbClr val="FF0000"/>
                </a:solidFill>
              </a:rPr>
              <a:t>records</a:t>
            </a:r>
            <a:r>
              <a:rPr lang="ru-RU" dirty="0" smtClean="0"/>
              <a:t> against government officials </a:t>
            </a:r>
            <a:r>
              <a:rPr lang="en-US" dirty="0" smtClean="0"/>
              <a:t> </a:t>
            </a:r>
            <a:r>
              <a:rPr lang="en-US" dirty="0" smtClean="0">
                <a:solidFill>
                  <a:srgbClr val="7030A0"/>
                </a:solidFill>
              </a:rPr>
              <a:t>available </a:t>
            </a:r>
            <a:r>
              <a:rPr lang="ru-RU" dirty="0" smtClean="0">
                <a:solidFill>
                  <a:srgbClr val="7030A0"/>
                </a:solidFill>
              </a:rPr>
              <a:t>to </a:t>
            </a:r>
            <a:r>
              <a:rPr lang="en-US" dirty="0"/>
              <a:t>Judiciary, </a:t>
            </a:r>
            <a:r>
              <a:rPr lang="ru-RU" dirty="0" smtClean="0">
                <a:solidFill>
                  <a:srgbClr val="7030A0"/>
                </a:solidFill>
              </a:rPr>
              <a:t>NGOs and concerned citizens. </a:t>
            </a:r>
            <a:endParaRPr lang="en-US" dirty="0" smtClean="0">
              <a:solidFill>
                <a:srgbClr val="7030A0"/>
              </a:solidFill>
            </a:endParaRPr>
          </a:p>
          <a:p>
            <a:pPr marL="514350" indent="-514350" algn="just">
              <a:buFont typeface="+mj-lt"/>
              <a:buAutoNum type="arabicPeriod"/>
            </a:pPr>
            <a:r>
              <a:rPr lang="ru-RU" dirty="0" smtClean="0"/>
              <a:t>Making  </a:t>
            </a:r>
            <a:r>
              <a:rPr lang="ru-RU" dirty="0" smtClean="0">
                <a:solidFill>
                  <a:srgbClr val="7030A0"/>
                </a:solidFill>
              </a:rPr>
              <a:t>environment  related  information  </a:t>
            </a:r>
            <a:r>
              <a:rPr lang="ru-RU" dirty="0" smtClean="0"/>
              <a:t>available  </a:t>
            </a:r>
            <a:r>
              <a:rPr lang="ru-RU" dirty="0" smtClean="0">
                <a:solidFill>
                  <a:srgbClr val="00B050"/>
                </a:solidFill>
              </a:rPr>
              <a:t>to local  communities. </a:t>
            </a:r>
            <a:r>
              <a:rPr lang="ru-RU" dirty="0" smtClean="0"/>
              <a:t>  </a:t>
            </a:r>
            <a:endParaRPr lang="en-US" dirty="0" smtClean="0"/>
          </a:p>
          <a:p>
            <a:pPr lvl="1" algn="just">
              <a:buFont typeface="Wingdings" panose="05000000000000000000" pitchFamily="2" charset="2"/>
              <a:buChar char="ü"/>
            </a:pPr>
            <a:r>
              <a:rPr lang="ru-RU" dirty="0" smtClean="0"/>
              <a:t>For  example,   information  on   radioactivity spills</a:t>
            </a:r>
            <a:r>
              <a:rPr lang="en-US" dirty="0" smtClean="0"/>
              <a:t> which are health hazards</a:t>
            </a:r>
            <a:r>
              <a:rPr lang="ru-RU" dirty="0" smtClean="0"/>
              <a:t>, effluent discharge in rivers, green ratings of a company</a:t>
            </a:r>
            <a:r>
              <a:rPr lang="en-US" dirty="0" smtClean="0"/>
              <a:t> </a:t>
            </a:r>
            <a:r>
              <a:rPr lang="en-US" dirty="0"/>
              <a:t>to concerned </a:t>
            </a:r>
            <a:r>
              <a:rPr lang="en-US" dirty="0" smtClean="0"/>
              <a:t>community </a:t>
            </a:r>
            <a:r>
              <a:rPr lang="ru-RU" dirty="0" smtClean="0"/>
              <a:t> etc. </a:t>
            </a:r>
            <a:endParaRPr lang="en-US" dirty="0" smtClean="0"/>
          </a:p>
          <a:p>
            <a:endParaRPr lang="en-US" dirty="0"/>
          </a:p>
        </p:txBody>
      </p:sp>
      <p:graphicFrame>
        <p:nvGraphicFramePr>
          <p:cNvPr id="4" name="Table 3"/>
          <p:cNvGraphicFramePr>
            <a:graphicFrameLocks noGrp="1"/>
          </p:cNvGraphicFramePr>
          <p:nvPr/>
        </p:nvGraphicFramePr>
        <p:xfrm>
          <a:off x="457200" y="990600"/>
          <a:ext cx="2609850" cy="368300"/>
        </p:xfrm>
        <a:graphic>
          <a:graphicData uri="http://schemas.openxmlformats.org/drawingml/2006/table">
            <a:tbl>
              <a:tblPr/>
              <a:tblGrid>
                <a:gridCol w="2609850">
                  <a:extLst>
                    <a:ext uri="{9D8B030D-6E8A-4147-A177-3AD203B41FA5}">
                      <a16:colId xmlns:a16="http://schemas.microsoft.com/office/drawing/2014/main" val="20000"/>
                    </a:ext>
                  </a:extLst>
                </a:gridCol>
              </a:tblGrid>
              <a:tr h="0">
                <a:tc>
                  <a:txBody>
                    <a:bodyPr/>
                    <a:lstStyle/>
                    <a:p>
                      <a:pPr marL="0" marR="0" algn="l">
                        <a:lnSpc>
                          <a:spcPts val="2875"/>
                        </a:lnSpc>
                        <a:spcBef>
                          <a:spcPts val="0"/>
                        </a:spcBef>
                        <a:spcAft>
                          <a:spcPts val="0"/>
                        </a:spcAft>
                      </a:pPr>
                      <a:r>
                        <a:rPr lang="ru-RU" sz="2400" dirty="0">
                          <a:solidFill>
                            <a:srgbClr val="FF0000"/>
                          </a:solidFill>
                          <a:latin typeface="RLBHGC+FuturaBT-Light"/>
                          <a:ea typeface="Calibri"/>
                          <a:cs typeface="Times New Roman"/>
                        </a:rPr>
                        <a:t>•     Applications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685800"/>
          </a:xfrm>
        </p:spPr>
        <p:txBody>
          <a:bodyPr>
            <a:normAutofit/>
          </a:bodyPr>
          <a:lstStyle/>
          <a:p>
            <a:r>
              <a:rPr lang="ru-RU" sz="3600" dirty="0" smtClean="0">
                <a:solidFill>
                  <a:srgbClr val="0070C0"/>
                </a:solidFill>
              </a:rPr>
              <a:t>Critical Flow Model</a:t>
            </a:r>
            <a:endParaRPr lang="en-US" sz="3600" dirty="0"/>
          </a:p>
        </p:txBody>
      </p:sp>
      <p:sp>
        <p:nvSpPr>
          <p:cNvPr id="3" name="Content Placeholder 2"/>
          <p:cNvSpPr>
            <a:spLocks noGrp="1"/>
          </p:cNvSpPr>
          <p:nvPr>
            <p:ph idx="1"/>
          </p:nvPr>
        </p:nvSpPr>
        <p:spPr>
          <a:xfrm>
            <a:off x="381000" y="1295400"/>
            <a:ext cx="8229600" cy="5334000"/>
          </a:xfrm>
        </p:spPr>
        <p:txBody>
          <a:bodyPr>
            <a:normAutofit fontScale="25000" lnSpcReduction="20000"/>
          </a:bodyPr>
          <a:lstStyle/>
          <a:p>
            <a:pPr>
              <a:buNone/>
            </a:pPr>
            <a:r>
              <a:rPr lang="ru-RU" sz="8000" dirty="0" smtClean="0"/>
              <a:t>–    This model is </a:t>
            </a:r>
            <a:r>
              <a:rPr lang="ru-RU" sz="8000" dirty="0" smtClean="0">
                <a:solidFill>
                  <a:srgbClr val="C00000"/>
                </a:solidFill>
              </a:rPr>
              <a:t>more directed in terms of its information content </a:t>
            </a:r>
            <a:r>
              <a:rPr lang="ru-RU" sz="8000" dirty="0" smtClean="0"/>
              <a:t>and its </a:t>
            </a:r>
            <a:r>
              <a:rPr lang="en-US" sz="8000" dirty="0" smtClean="0"/>
              <a:t> </a:t>
            </a:r>
            <a:r>
              <a:rPr lang="ru-RU" sz="8000" dirty="0" smtClean="0"/>
              <a:t>intended  users.  </a:t>
            </a:r>
            <a:endParaRPr lang="en-US" sz="8000" dirty="0"/>
          </a:p>
          <a:p>
            <a:pPr>
              <a:buNone/>
            </a:pPr>
            <a:r>
              <a:rPr lang="ru-RU" sz="7200" dirty="0"/>
              <a:t>– </a:t>
            </a:r>
            <a:r>
              <a:rPr lang="en-US" sz="7200" dirty="0" smtClean="0"/>
              <a:t>    </a:t>
            </a:r>
            <a:r>
              <a:rPr lang="ru-RU" sz="7600" dirty="0" smtClean="0"/>
              <a:t>By  focusing  on  the  critical  aspect  of  information</a:t>
            </a:r>
            <a:r>
              <a:rPr lang="en-US" sz="7600" dirty="0">
                <a:solidFill>
                  <a:srgbClr val="C00000"/>
                </a:solidFill>
              </a:rPr>
              <a:t> </a:t>
            </a:r>
            <a:r>
              <a:rPr lang="en-US" sz="8000" dirty="0" smtClean="0"/>
              <a:t>and </a:t>
            </a:r>
            <a:r>
              <a:rPr lang="en-US" sz="8000" dirty="0"/>
              <a:t>locating its likeable users, the </a:t>
            </a:r>
            <a:r>
              <a:rPr lang="en-US" sz="8000" dirty="0">
                <a:solidFill>
                  <a:srgbClr val="00B050"/>
                </a:solidFill>
              </a:rPr>
              <a:t>model corrects information failure, raising awareness about the bad governance practices, and acts as a hindrance to bad governance practices.</a:t>
            </a:r>
            <a:endParaRPr lang="en-US" sz="8000" dirty="0" smtClean="0">
              <a:solidFill>
                <a:srgbClr val="00B050"/>
              </a:solidFill>
            </a:endParaRPr>
          </a:p>
          <a:p>
            <a:pPr>
              <a:buNone/>
            </a:pPr>
            <a:r>
              <a:rPr lang="ru-RU" sz="8000" dirty="0" smtClean="0"/>
              <a:t>–    It  </a:t>
            </a:r>
            <a:r>
              <a:rPr lang="ru-RU" sz="8000" dirty="0" smtClean="0">
                <a:solidFill>
                  <a:srgbClr val="C00000"/>
                </a:solidFill>
              </a:rPr>
              <a:t>informs  people   about  specific  cases  of   state-failure  and  bad-governance to build up a case for concerted</a:t>
            </a:r>
            <a:r>
              <a:rPr lang="en-US" sz="8000" dirty="0" smtClean="0">
                <a:solidFill>
                  <a:srgbClr val="C00000"/>
                </a:solidFill>
              </a:rPr>
              <a:t>(Coordinated)</a:t>
            </a:r>
            <a:r>
              <a:rPr lang="ru-RU" sz="8000" dirty="0" smtClean="0">
                <a:solidFill>
                  <a:srgbClr val="C00000"/>
                </a:solidFill>
              </a:rPr>
              <a:t> action</a:t>
            </a:r>
            <a:r>
              <a:rPr lang="ru-RU" sz="8000" dirty="0" smtClean="0"/>
              <a:t>.</a:t>
            </a:r>
            <a:endParaRPr lang="en-US" sz="8000" dirty="0" smtClean="0"/>
          </a:p>
          <a:p>
            <a:endParaRPr lang="en-US" dirty="0"/>
          </a:p>
          <a:p>
            <a:pPr marL="0" indent="0">
              <a:buNone/>
            </a:pPr>
            <a:r>
              <a:rPr lang="ru-RU" sz="8000" dirty="0"/>
              <a:t>– </a:t>
            </a:r>
            <a:r>
              <a:rPr lang="en-US" sz="8000" dirty="0" smtClean="0"/>
              <a:t>   This </a:t>
            </a:r>
            <a:r>
              <a:rPr lang="en-US" sz="8000" dirty="0"/>
              <a:t>model informs people about particular instances of political failure </a:t>
            </a:r>
            <a:endParaRPr lang="en-US" sz="8000" dirty="0" smtClean="0"/>
          </a:p>
          <a:p>
            <a:pPr marL="0" indent="0">
              <a:buNone/>
            </a:pPr>
            <a:r>
              <a:rPr lang="en-US" sz="8000" dirty="0"/>
              <a:t> </a:t>
            </a:r>
            <a:r>
              <a:rPr lang="en-US" sz="8000" dirty="0" smtClean="0"/>
              <a:t>      and </a:t>
            </a:r>
            <a:r>
              <a:rPr lang="en-US" sz="8000" dirty="0"/>
              <a:t>improper governance. </a:t>
            </a:r>
            <a:endParaRPr lang="en-US" sz="8000" dirty="0" smtClean="0"/>
          </a:p>
          <a:p>
            <a:pPr>
              <a:buNone/>
            </a:pPr>
            <a:r>
              <a:rPr lang="ru-RU" sz="8000" dirty="0"/>
              <a:t>– </a:t>
            </a:r>
            <a:r>
              <a:rPr lang="en-US" sz="8000" dirty="0" smtClean="0"/>
              <a:t>   At </a:t>
            </a:r>
            <a:r>
              <a:rPr lang="en-US" sz="8000" dirty="0"/>
              <a:t>the same time, the model exerts indirect pressure on the concerned governance institution / policy-making body to </a:t>
            </a:r>
            <a:r>
              <a:rPr lang="en-US" sz="8000" dirty="0">
                <a:solidFill>
                  <a:srgbClr val="00B050"/>
                </a:solidFill>
              </a:rPr>
              <a:t>move away from optimal ignorance attitude to reform, and take into cognizance the interest and opinion of the masses in decision- making processes</a:t>
            </a:r>
            <a:r>
              <a:rPr lang="en-US" sz="8000" dirty="0" smtClean="0">
                <a:solidFill>
                  <a:srgbClr val="00B050"/>
                </a:solidFill>
              </a:rPr>
              <a:t>. </a:t>
            </a:r>
          </a:p>
          <a:p>
            <a:pPr>
              <a:buNone/>
            </a:pPr>
            <a:endParaRPr lang="en-US" sz="8000" dirty="0" smtClean="0">
              <a:solidFill>
                <a:srgbClr val="00B050"/>
              </a:solidFill>
            </a:endParaRPr>
          </a:p>
          <a:p>
            <a:pPr>
              <a:buNone/>
            </a:pPr>
            <a:r>
              <a:rPr lang="ru-RU" sz="8000" dirty="0" smtClean="0"/>
              <a:t>–    The responsibility of creating such </a:t>
            </a:r>
            <a:r>
              <a:rPr lang="ru-RU" sz="8000" dirty="0" smtClean="0">
                <a:solidFill>
                  <a:srgbClr val="00B050"/>
                </a:solidFill>
              </a:rPr>
              <a:t>models may lie more with the civil society  organizations</a:t>
            </a:r>
            <a:r>
              <a:rPr lang="ru-RU" sz="8000" dirty="0" smtClean="0"/>
              <a:t>  to   emerge  as  an   </a:t>
            </a:r>
            <a:r>
              <a:rPr lang="ru-RU" sz="8000" dirty="0" smtClean="0">
                <a:solidFill>
                  <a:srgbClr val="FF0000"/>
                </a:solidFill>
              </a:rPr>
              <a:t>effective  watch  guard  to government policies and actions</a:t>
            </a:r>
            <a:r>
              <a:rPr lang="ru-RU" sz="8000" dirty="0" smtClean="0"/>
              <a:t>. The government by itself may not have   sufficient  incentive   and   an  attitude   towards  sharing   such information. </a:t>
            </a:r>
            <a:endParaRPr lang="en-US" sz="8000" dirty="0" smtClean="0"/>
          </a:p>
          <a:p>
            <a:pPr>
              <a:buNone/>
            </a:pPr>
            <a:endParaRPr lang="en-US" dirty="0"/>
          </a:p>
        </p:txBody>
      </p:sp>
      <p:graphicFrame>
        <p:nvGraphicFramePr>
          <p:cNvPr id="4" name="Table 3"/>
          <p:cNvGraphicFramePr>
            <a:graphicFrameLocks noGrp="1"/>
          </p:cNvGraphicFramePr>
          <p:nvPr/>
        </p:nvGraphicFramePr>
        <p:xfrm>
          <a:off x="533400" y="838200"/>
          <a:ext cx="4343400" cy="330200"/>
        </p:xfrm>
        <a:graphic>
          <a:graphicData uri="http://schemas.openxmlformats.org/drawingml/2006/table">
            <a:tbl>
              <a:tblPr/>
              <a:tblGrid>
                <a:gridCol w="4343400">
                  <a:extLst>
                    <a:ext uri="{9D8B030D-6E8A-4147-A177-3AD203B41FA5}">
                      <a16:colId xmlns:a16="http://schemas.microsoft.com/office/drawing/2014/main" val="20000"/>
                    </a:ext>
                  </a:extLst>
                </a:gridCol>
              </a:tblGrid>
              <a:tr h="0">
                <a:tc>
                  <a:txBody>
                    <a:bodyPr/>
                    <a:lstStyle/>
                    <a:p>
                      <a:pPr marL="0" marR="0" algn="l">
                        <a:lnSpc>
                          <a:spcPts val="2640"/>
                        </a:lnSpc>
                        <a:spcBef>
                          <a:spcPts val="0"/>
                        </a:spcBef>
                        <a:spcAft>
                          <a:spcPts val="0"/>
                        </a:spcAft>
                      </a:pPr>
                      <a:r>
                        <a:rPr lang="ru-RU" sz="2200" dirty="0">
                          <a:solidFill>
                            <a:srgbClr val="FF0000"/>
                          </a:solidFill>
                          <a:latin typeface="RLBHGC+FuturaBT-Light"/>
                          <a:ea typeface="Calibri"/>
                          <a:cs typeface="Times New Roman"/>
                        </a:rPr>
                        <a:t>•     Evaluation (Pros And Cons)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ru-RU" dirty="0">
                <a:solidFill>
                  <a:srgbClr val="0070C0"/>
                </a:solidFill>
              </a:rPr>
              <a:t>Critical Flow Model</a:t>
            </a:r>
            <a:endParaRPr lang="en-US" dirty="0"/>
          </a:p>
        </p:txBody>
      </p:sp>
      <p:sp>
        <p:nvSpPr>
          <p:cNvPr id="3" name="Content Placeholder 2"/>
          <p:cNvSpPr>
            <a:spLocks noGrp="1"/>
          </p:cNvSpPr>
          <p:nvPr>
            <p:ph idx="1"/>
          </p:nvPr>
        </p:nvSpPr>
        <p:spPr>
          <a:xfrm>
            <a:off x="457200" y="1905000"/>
            <a:ext cx="8229600" cy="4221163"/>
          </a:xfrm>
        </p:spPr>
        <p:txBody>
          <a:bodyPr>
            <a:normAutofit fontScale="77500" lnSpcReduction="20000"/>
          </a:bodyPr>
          <a:lstStyle/>
          <a:p>
            <a:pPr>
              <a:buNone/>
            </a:pPr>
            <a:r>
              <a:rPr lang="ru-RU" dirty="0"/>
              <a:t>– </a:t>
            </a:r>
            <a:r>
              <a:rPr lang="ru-RU" dirty="0" smtClean="0"/>
              <a:t>The </a:t>
            </a:r>
            <a:r>
              <a:rPr lang="ru-RU" dirty="0"/>
              <a:t>model </a:t>
            </a:r>
            <a:r>
              <a:rPr lang="ru-RU" dirty="0">
                <a:solidFill>
                  <a:srgbClr val="7030A0"/>
                </a:solidFill>
              </a:rPr>
              <a:t>will not work in cases   where government mechanisms do not  foster  public  debates  and  censure  (criticize)  all  information  of critical nature.</a:t>
            </a:r>
            <a:endParaRPr lang="en-US" dirty="0">
              <a:solidFill>
                <a:srgbClr val="7030A0"/>
              </a:solidFill>
            </a:endParaRPr>
          </a:p>
          <a:p>
            <a:pPr>
              <a:buNone/>
            </a:pPr>
            <a:r>
              <a:rPr lang="ru-RU" dirty="0"/>
              <a:t>– </a:t>
            </a:r>
            <a:r>
              <a:rPr lang="en-US" dirty="0" smtClean="0"/>
              <a:t> </a:t>
            </a:r>
            <a:r>
              <a:rPr lang="ru-RU" dirty="0" smtClean="0"/>
              <a:t>It </a:t>
            </a:r>
            <a:r>
              <a:rPr lang="ru-RU" dirty="0"/>
              <a:t>will </a:t>
            </a:r>
            <a:r>
              <a:rPr lang="ru-RU" dirty="0">
                <a:solidFill>
                  <a:srgbClr val="C00000"/>
                </a:solidFill>
              </a:rPr>
              <a:t>also fail where the government maintains a tight control  over all information   </a:t>
            </a:r>
            <a:r>
              <a:rPr lang="ru-RU" dirty="0"/>
              <a:t>and  it   remains  restricted   to   top  few   levels  of   the government. </a:t>
            </a:r>
            <a:endParaRPr lang="en-US" dirty="0" smtClean="0"/>
          </a:p>
          <a:p>
            <a:pPr>
              <a:buNone/>
            </a:pPr>
            <a:r>
              <a:rPr lang="ru-RU" dirty="0"/>
              <a:t>– </a:t>
            </a:r>
            <a:r>
              <a:rPr lang="en-US" dirty="0"/>
              <a:t> </a:t>
            </a:r>
            <a:r>
              <a:rPr lang="en-US" dirty="0" smtClean="0"/>
              <a:t>This </a:t>
            </a:r>
            <a:r>
              <a:rPr lang="en-US" dirty="0"/>
              <a:t>model unlike the Broadcasting/ Wider-Dissemination model would be </a:t>
            </a:r>
            <a:r>
              <a:rPr lang="en-US" dirty="0">
                <a:solidFill>
                  <a:srgbClr val="00B050"/>
                </a:solidFill>
              </a:rPr>
              <a:t>more effective in situations of Optimal Ignorance of the Government</a:t>
            </a:r>
            <a:r>
              <a:rPr lang="en-US" dirty="0" smtClean="0"/>
              <a:t>.</a:t>
            </a:r>
          </a:p>
          <a:p>
            <a:pPr lvl="1">
              <a:buFont typeface="Wingdings" panose="05000000000000000000" pitchFamily="2" charset="2"/>
              <a:buChar char="ü"/>
            </a:pPr>
            <a:r>
              <a:rPr lang="en-US" dirty="0"/>
              <a:t>Optimal ignorance occurs when </a:t>
            </a:r>
            <a:r>
              <a:rPr lang="en-US" dirty="0">
                <a:solidFill>
                  <a:srgbClr val="FF0000"/>
                </a:solidFill>
              </a:rPr>
              <a:t>injudicious decisions are taken not in the absence of availability of enough information but because of disregard of information by the decision-makers</a:t>
            </a:r>
            <a:r>
              <a:rPr lang="en-US" dirty="0"/>
              <a:t>.</a:t>
            </a:r>
          </a:p>
          <a:p>
            <a:endParaRPr lang="en-US"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173406034"/>
              </p:ext>
            </p:extLst>
          </p:nvPr>
        </p:nvGraphicFramePr>
        <p:xfrm>
          <a:off x="457200" y="1371600"/>
          <a:ext cx="4343400" cy="330200"/>
        </p:xfrm>
        <a:graphic>
          <a:graphicData uri="http://schemas.openxmlformats.org/drawingml/2006/table">
            <a:tbl>
              <a:tblPr/>
              <a:tblGrid>
                <a:gridCol w="4343400">
                  <a:extLst>
                    <a:ext uri="{9D8B030D-6E8A-4147-A177-3AD203B41FA5}">
                      <a16:colId xmlns:a16="http://schemas.microsoft.com/office/drawing/2014/main" val="20000"/>
                    </a:ext>
                  </a:extLst>
                </a:gridCol>
              </a:tblGrid>
              <a:tr h="279400">
                <a:tc>
                  <a:txBody>
                    <a:bodyPr/>
                    <a:lstStyle/>
                    <a:p>
                      <a:pPr marL="0" marR="0" algn="l">
                        <a:lnSpc>
                          <a:spcPts val="2640"/>
                        </a:lnSpc>
                        <a:spcBef>
                          <a:spcPts val="0"/>
                        </a:spcBef>
                        <a:spcAft>
                          <a:spcPts val="0"/>
                        </a:spcAft>
                      </a:pPr>
                      <a:r>
                        <a:rPr lang="ru-RU" sz="2400" dirty="0">
                          <a:solidFill>
                            <a:srgbClr val="FF0000"/>
                          </a:solidFill>
                          <a:latin typeface="RLBHGC+FuturaBT-Light"/>
                          <a:ea typeface="Calibri"/>
                          <a:cs typeface="Times New Roman"/>
                        </a:rPr>
                        <a:t>•     Evaluation (Pros And Cons)</a:t>
                      </a:r>
                      <a:endParaRPr lang="en-US" sz="24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015591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rmAutofit fontScale="90000"/>
          </a:bodyPr>
          <a:lstStyle/>
          <a:p>
            <a:r>
              <a:rPr lang="en-US" sz="3100" dirty="0" smtClean="0">
                <a:solidFill>
                  <a:srgbClr val="0070C0"/>
                </a:solidFill>
              </a:rPr>
              <a:t/>
            </a:r>
            <a:br>
              <a:rPr lang="en-US" sz="3100" dirty="0" smtClean="0">
                <a:solidFill>
                  <a:srgbClr val="0070C0"/>
                </a:solidFill>
              </a:rPr>
            </a:br>
            <a:r>
              <a:rPr lang="ru-RU" sz="3100" dirty="0" smtClean="0">
                <a:solidFill>
                  <a:srgbClr val="0070C0"/>
                </a:solidFill>
              </a:rPr>
              <a:t>Organizations / Projects based on Critical Flow Model</a:t>
            </a:r>
            <a:r>
              <a:rPr lang="en-US" dirty="0" smtClean="0"/>
              <a:t/>
            </a:r>
            <a:br>
              <a:rPr lang="en-US" dirty="0" smtClean="0"/>
            </a:br>
            <a:endParaRPr lang="en-US" dirty="0"/>
          </a:p>
        </p:txBody>
      </p:sp>
      <p:sp>
        <p:nvSpPr>
          <p:cNvPr id="3" name="Content Placeholder 2"/>
          <p:cNvSpPr>
            <a:spLocks noGrp="1"/>
          </p:cNvSpPr>
          <p:nvPr>
            <p:ph idx="1"/>
          </p:nvPr>
        </p:nvSpPr>
        <p:spPr>
          <a:xfrm>
            <a:off x="381000" y="762000"/>
            <a:ext cx="8458200" cy="5486400"/>
          </a:xfrm>
        </p:spPr>
        <p:txBody>
          <a:bodyPr>
            <a:normAutofit fontScale="25000" lnSpcReduction="20000"/>
          </a:bodyPr>
          <a:lstStyle/>
          <a:p>
            <a:pPr algn="just">
              <a:buNone/>
            </a:pPr>
            <a:r>
              <a:rPr lang="ru-RU" sz="8000" dirty="0" smtClean="0"/>
              <a:t>•     India</a:t>
            </a:r>
            <a:endParaRPr lang="en-US" sz="8000" dirty="0"/>
          </a:p>
          <a:p>
            <a:pPr lvl="1" algn="just"/>
            <a:r>
              <a:rPr lang="ru-RU" sz="7600" dirty="0" smtClean="0"/>
              <a:t> Central Vigilance Committee (India): </a:t>
            </a:r>
            <a:r>
              <a:rPr lang="ru-RU" sz="7600" u="sng" dirty="0" smtClean="0"/>
              <a:t>http://cvc.nic.in</a:t>
            </a:r>
            <a:endParaRPr lang="en-US" sz="7600" u="sng" dirty="0" smtClean="0"/>
          </a:p>
          <a:p>
            <a:pPr algn="just">
              <a:buNone/>
            </a:pPr>
            <a:r>
              <a:rPr lang="en-US" sz="8000" dirty="0" smtClean="0"/>
              <a:t>	   </a:t>
            </a:r>
            <a:r>
              <a:rPr lang="ru-RU" sz="8000" dirty="0" smtClean="0"/>
              <a:t>–   </a:t>
            </a:r>
            <a:r>
              <a:rPr lang="en-US" sz="8000" dirty="0" smtClean="0"/>
              <a:t> </a:t>
            </a:r>
            <a:r>
              <a:rPr lang="ru-RU" sz="8000" dirty="0" smtClean="0">
                <a:solidFill>
                  <a:srgbClr val="C00000"/>
                </a:solidFill>
              </a:rPr>
              <a:t>An   initiative  on  e-vigilance</a:t>
            </a:r>
            <a:r>
              <a:rPr lang="ru-RU" sz="8000" dirty="0" smtClean="0"/>
              <a:t>.   </a:t>
            </a:r>
            <a:endParaRPr lang="en-US" sz="8000" dirty="0" smtClean="0"/>
          </a:p>
          <a:p>
            <a:pPr lvl="2" algn="just">
              <a:buFont typeface="Wingdings" panose="05000000000000000000" pitchFamily="2" charset="2"/>
              <a:buChar char="ü"/>
            </a:pPr>
            <a:r>
              <a:rPr lang="ru-RU" sz="7200" dirty="0" smtClean="0"/>
              <a:t>The  website  provides   </a:t>
            </a:r>
            <a:r>
              <a:rPr lang="ru-RU" sz="7200" dirty="0" smtClean="0">
                <a:solidFill>
                  <a:srgbClr val="7030A0"/>
                </a:solidFill>
              </a:rPr>
              <a:t>free-access </a:t>
            </a:r>
            <a:r>
              <a:rPr lang="en-US" sz="7200" dirty="0" smtClean="0">
                <a:solidFill>
                  <a:srgbClr val="7030A0"/>
                </a:solidFill>
              </a:rPr>
              <a:t>	</a:t>
            </a:r>
            <a:r>
              <a:rPr lang="ru-RU" sz="7200" dirty="0" smtClean="0">
                <a:solidFill>
                  <a:srgbClr val="7030A0"/>
                </a:solidFill>
              </a:rPr>
              <a:t>information to citizens about government officials who have been</a:t>
            </a:r>
            <a:r>
              <a:rPr lang="en-US" sz="7200" dirty="0" smtClean="0">
                <a:solidFill>
                  <a:srgbClr val="7030A0"/>
                </a:solidFill>
              </a:rPr>
              <a:t> 	</a:t>
            </a:r>
            <a:r>
              <a:rPr lang="ru-RU" sz="7200" dirty="0" smtClean="0">
                <a:solidFill>
                  <a:srgbClr val="7030A0"/>
                </a:solidFill>
              </a:rPr>
              <a:t>indicted on judicial charges relating to corruption and have been </a:t>
            </a:r>
            <a:r>
              <a:rPr lang="en-US" sz="7200" dirty="0" smtClean="0">
                <a:solidFill>
                  <a:srgbClr val="7030A0"/>
                </a:solidFill>
              </a:rPr>
              <a:t>	</a:t>
            </a:r>
            <a:r>
              <a:rPr lang="ru-RU" sz="7200" dirty="0" smtClean="0">
                <a:solidFill>
                  <a:srgbClr val="7030A0"/>
                </a:solidFill>
              </a:rPr>
              <a:t>advised  penalty.</a:t>
            </a:r>
            <a:r>
              <a:rPr lang="ru-RU" sz="7200" dirty="0" smtClean="0"/>
              <a:t>  </a:t>
            </a:r>
            <a:endParaRPr lang="en-US" sz="7200" dirty="0" smtClean="0"/>
          </a:p>
          <a:p>
            <a:pPr lvl="2" algn="just">
              <a:buFont typeface="Wingdings" panose="05000000000000000000" pitchFamily="2" charset="2"/>
              <a:buChar char="ü"/>
            </a:pPr>
            <a:r>
              <a:rPr lang="ru-RU" sz="7200" dirty="0" smtClean="0"/>
              <a:t>People   can  also  file  complaints  against   any public </a:t>
            </a:r>
            <a:r>
              <a:rPr lang="en-US" sz="7200" dirty="0" smtClean="0"/>
              <a:t>	</a:t>
            </a:r>
            <a:r>
              <a:rPr lang="ru-RU" sz="7200" dirty="0" smtClean="0"/>
              <a:t>servant who fall within the jurisdiction of the Commission. </a:t>
            </a:r>
            <a:endParaRPr lang="en-US" sz="7200" dirty="0"/>
          </a:p>
          <a:p>
            <a:pPr lvl="1"/>
            <a:r>
              <a:rPr lang="en-US" sz="7600" dirty="0"/>
              <a:t>Project </a:t>
            </a:r>
            <a:r>
              <a:rPr lang="en-US" sz="7600" dirty="0" smtClean="0"/>
              <a:t>VIGEYE: </a:t>
            </a:r>
            <a:r>
              <a:rPr lang="en-US" sz="7600" u="sng" dirty="0" smtClean="0">
                <a:hlinkClick r:id="rId2"/>
              </a:rPr>
              <a:t>http</a:t>
            </a:r>
            <a:r>
              <a:rPr lang="en-US" sz="7600" u="sng" dirty="0">
                <a:hlinkClick r:id="rId2"/>
              </a:rPr>
              <a:t>://www.vigeye.com/</a:t>
            </a:r>
            <a:endParaRPr lang="en-US" sz="7600" dirty="0"/>
          </a:p>
          <a:p>
            <a:pPr lvl="2">
              <a:buFont typeface="Wingdings" panose="05000000000000000000" pitchFamily="2" charset="2"/>
              <a:buChar char="ü"/>
            </a:pPr>
            <a:r>
              <a:rPr lang="en-US" sz="7200" dirty="0" err="1"/>
              <a:t>Vigeye</a:t>
            </a:r>
            <a:r>
              <a:rPr lang="en-US" sz="7200" dirty="0"/>
              <a:t> (Vigilance Eye) is a citizen-centric initiative, wherein citizens join hands with the Central Vigilance Commission in fighting corruption in </a:t>
            </a:r>
            <a:r>
              <a:rPr lang="en-US" sz="7200" dirty="0" smtClean="0"/>
              <a:t>India.</a:t>
            </a:r>
          </a:p>
          <a:p>
            <a:pPr lvl="2">
              <a:buFont typeface="Wingdings" panose="05000000000000000000" pitchFamily="2" charset="2"/>
              <a:buChar char="ü"/>
            </a:pPr>
            <a:r>
              <a:rPr lang="en-US" sz="7200" dirty="0" smtClean="0"/>
              <a:t>Project </a:t>
            </a:r>
            <a:r>
              <a:rPr lang="en-US" sz="7200" dirty="0" err="1"/>
              <a:t>Vigeye</a:t>
            </a:r>
            <a:r>
              <a:rPr lang="en-US" sz="7200" dirty="0"/>
              <a:t> is the platform through which vigilance information flows freely through common public, the government agencies and the vigilance commission, making it possible to achieve a step jump in improving the corruption index of the </a:t>
            </a:r>
            <a:r>
              <a:rPr lang="en-US" sz="7200" dirty="0" smtClean="0"/>
              <a:t>nation</a:t>
            </a:r>
          </a:p>
          <a:p>
            <a:pPr algn="just">
              <a:buNone/>
            </a:pPr>
            <a:r>
              <a:rPr lang="ru-RU" sz="8000" dirty="0" smtClean="0"/>
              <a:t>•     Bangladesh </a:t>
            </a:r>
            <a:endParaRPr lang="en-US" sz="8000" dirty="0" smtClean="0"/>
          </a:p>
          <a:p>
            <a:pPr algn="just">
              <a:buNone/>
            </a:pPr>
            <a:r>
              <a:rPr lang="en-US" sz="8000" dirty="0" smtClean="0"/>
              <a:t>	   </a:t>
            </a:r>
            <a:r>
              <a:rPr lang="ru-RU" sz="8000" dirty="0" smtClean="0"/>
              <a:t>–    Human Rights Portal: </a:t>
            </a:r>
            <a:r>
              <a:rPr lang="ru-RU" sz="8000" u="sng" dirty="0" smtClean="0"/>
              <a:t>http://www.banglarights.net</a:t>
            </a:r>
            <a:endParaRPr lang="en-US" sz="8000" u="sng" dirty="0" smtClean="0"/>
          </a:p>
          <a:p>
            <a:pPr algn="just">
              <a:buNone/>
            </a:pPr>
            <a:r>
              <a:rPr lang="en-US" sz="8000" dirty="0" smtClean="0"/>
              <a:t>	   </a:t>
            </a:r>
            <a:r>
              <a:rPr lang="ru-RU" sz="8000" dirty="0" smtClean="0"/>
              <a:t>–    The </a:t>
            </a:r>
            <a:r>
              <a:rPr lang="ru-RU" sz="8000" dirty="0" smtClean="0">
                <a:solidFill>
                  <a:srgbClr val="7030A0"/>
                </a:solidFill>
              </a:rPr>
              <a:t>Bangladesh Human Rights Network actively promotes human rights  </a:t>
            </a:r>
            <a:r>
              <a:rPr lang="en-US" sz="8000" dirty="0" smtClean="0">
                <a:solidFill>
                  <a:srgbClr val="7030A0"/>
                </a:solidFill>
              </a:rPr>
              <a:t>	</a:t>
            </a:r>
            <a:r>
              <a:rPr lang="ru-RU" sz="8000" dirty="0" smtClean="0">
                <a:solidFill>
                  <a:srgbClr val="7030A0"/>
                </a:solidFill>
              </a:rPr>
              <a:t>reforms  both  within  Bangladesh  </a:t>
            </a:r>
            <a:r>
              <a:rPr lang="ru-RU" sz="8000" dirty="0" smtClean="0"/>
              <a:t>and  across  geographical and  </a:t>
            </a:r>
            <a:r>
              <a:rPr lang="en-US" sz="8000" dirty="0" smtClean="0"/>
              <a:t>	</a:t>
            </a:r>
            <a:r>
              <a:rPr lang="ru-RU" sz="8000" dirty="0" smtClean="0"/>
              <a:t>political  boundaries,  and   </a:t>
            </a:r>
            <a:r>
              <a:rPr lang="ru-RU" sz="8000" dirty="0" smtClean="0">
                <a:solidFill>
                  <a:srgbClr val="C00000"/>
                </a:solidFill>
              </a:rPr>
              <a:t>supports  women,  children,  and </a:t>
            </a:r>
            <a:r>
              <a:rPr lang="en-US" sz="8000" dirty="0" smtClean="0">
                <a:solidFill>
                  <a:srgbClr val="C00000"/>
                </a:solidFill>
              </a:rPr>
              <a:t>	</a:t>
            </a:r>
            <a:r>
              <a:rPr lang="ru-RU" sz="8000" dirty="0" smtClean="0">
                <a:solidFill>
                  <a:srgbClr val="C00000"/>
                </a:solidFill>
              </a:rPr>
              <a:t>marginalized communities in resisting social oppression</a:t>
            </a:r>
            <a:r>
              <a:rPr lang="en-US" sz="8000" dirty="0" smtClean="0">
                <a:solidFill>
                  <a:srgbClr val="C00000"/>
                </a:solidFill>
              </a:rPr>
              <a:t>(unjust    </a:t>
            </a:r>
          </a:p>
          <a:p>
            <a:pPr algn="just">
              <a:buNone/>
            </a:pPr>
            <a:r>
              <a:rPr lang="en-US" sz="8000" dirty="0">
                <a:solidFill>
                  <a:srgbClr val="C00000"/>
                </a:solidFill>
              </a:rPr>
              <a:t> </a:t>
            </a:r>
            <a:r>
              <a:rPr lang="en-US" sz="8000" dirty="0" smtClean="0">
                <a:solidFill>
                  <a:srgbClr val="C00000"/>
                </a:solidFill>
              </a:rPr>
              <a:t>               treatment)</a:t>
            </a:r>
            <a:r>
              <a:rPr lang="ru-RU" sz="8000" dirty="0" smtClean="0"/>
              <a:t>. </a:t>
            </a:r>
            <a:endParaRPr lang="en-US" sz="8000"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Organizations </a:t>
            </a:r>
            <a:r>
              <a:rPr lang="ru-RU" dirty="0">
                <a:solidFill>
                  <a:srgbClr val="0070C0"/>
                </a:solidFill>
              </a:rPr>
              <a:t>/ Projects based on Critical Flow Model</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ru-RU" sz="2200" dirty="0" smtClean="0"/>
              <a:t>Global</a:t>
            </a:r>
            <a:endParaRPr lang="en-US" sz="2200" dirty="0" smtClean="0"/>
          </a:p>
          <a:p>
            <a:pPr lvl="1" algn="just"/>
            <a:r>
              <a:rPr lang="ru-RU" sz="2200" dirty="0" smtClean="0"/>
              <a:t>Transparency</a:t>
            </a:r>
            <a:r>
              <a:rPr lang="en-US" sz="2200" dirty="0" smtClean="0"/>
              <a:t> </a:t>
            </a:r>
            <a:r>
              <a:rPr lang="ru-RU" sz="2200" dirty="0"/>
              <a:t>International's Corruption News:  </a:t>
            </a:r>
            <a:r>
              <a:rPr lang="en-US" sz="2200" dirty="0"/>
              <a:t>	</a:t>
            </a:r>
            <a:r>
              <a:rPr lang="ru-RU" sz="2200" u="sng" dirty="0">
                <a:hlinkClick r:id="rId2"/>
              </a:rPr>
              <a:t>http://</a:t>
            </a:r>
            <a:r>
              <a:rPr lang="ru-RU" sz="2200" u="sng" dirty="0" smtClean="0">
                <a:hlinkClick r:id="rId2"/>
              </a:rPr>
              <a:t>www.transparency.org/press_moni.html</a:t>
            </a:r>
            <a:endParaRPr lang="en-US" sz="2200" u="sng" dirty="0" smtClean="0"/>
          </a:p>
          <a:p>
            <a:pPr lvl="1" algn="just"/>
            <a:r>
              <a:rPr lang="ru-RU" sz="2200" dirty="0" smtClean="0"/>
              <a:t>A  </a:t>
            </a:r>
            <a:r>
              <a:rPr lang="ru-RU" sz="2200" dirty="0">
                <a:solidFill>
                  <a:srgbClr val="C00000"/>
                </a:solidFill>
              </a:rPr>
              <a:t>trial  service  run  by  Transparency  International</a:t>
            </a:r>
            <a:r>
              <a:rPr lang="ru-RU" sz="2200" dirty="0"/>
              <a:t>  called  the  "</a:t>
            </a:r>
            <a:r>
              <a:rPr lang="ru-RU" sz="2200" dirty="0" smtClean="0">
                <a:solidFill>
                  <a:srgbClr val="7030A0"/>
                </a:solidFill>
              </a:rPr>
              <a:t>The</a:t>
            </a:r>
            <a:r>
              <a:rPr lang="en-US" sz="2200" dirty="0" smtClean="0">
                <a:solidFill>
                  <a:srgbClr val="7030A0"/>
                </a:solidFill>
              </a:rPr>
              <a:t> </a:t>
            </a:r>
            <a:r>
              <a:rPr lang="ru-RU" sz="2200" dirty="0" smtClean="0">
                <a:solidFill>
                  <a:srgbClr val="7030A0"/>
                </a:solidFill>
              </a:rPr>
              <a:t>Daily </a:t>
            </a:r>
            <a:r>
              <a:rPr lang="ru-RU" sz="2200" dirty="0">
                <a:solidFill>
                  <a:srgbClr val="7030A0"/>
                </a:solidFill>
              </a:rPr>
              <a:t>Corruption News</a:t>
            </a:r>
            <a:r>
              <a:rPr lang="ru-RU" sz="2200" dirty="0"/>
              <a:t>"  which reports on corruption from around the </a:t>
            </a:r>
            <a:r>
              <a:rPr lang="ru-RU" sz="2200" dirty="0" smtClean="0"/>
              <a:t>world</a:t>
            </a:r>
            <a:r>
              <a:rPr lang="ru-RU" sz="2200" dirty="0"/>
              <a:t>. </a:t>
            </a:r>
            <a:endParaRPr lang="en-US" sz="2200" dirty="0"/>
          </a:p>
          <a:p>
            <a:pPr lvl="2" algn="just">
              <a:buFont typeface="Wingdings" panose="05000000000000000000" pitchFamily="2" charset="2"/>
              <a:buChar char="ü"/>
            </a:pPr>
            <a:r>
              <a:rPr lang="en-US" sz="2200" dirty="0"/>
              <a:t>The daily corruption news has been coming out since May 2000. </a:t>
            </a:r>
          </a:p>
          <a:p>
            <a:r>
              <a:rPr lang="en-US" sz="2200" dirty="0"/>
              <a:t>China: Human Rights in </a:t>
            </a:r>
            <a:r>
              <a:rPr lang="en-US" sz="2200" dirty="0" smtClean="0"/>
              <a:t>China: </a:t>
            </a:r>
            <a:r>
              <a:rPr lang="en-US" sz="2200" u="sng" dirty="0" smtClean="0">
                <a:hlinkClick r:id="rId3"/>
              </a:rPr>
              <a:t>http</a:t>
            </a:r>
            <a:r>
              <a:rPr lang="en-US" sz="2200" u="sng" dirty="0">
                <a:hlinkClick r:id="rId3"/>
              </a:rPr>
              <a:t>://www.hrichina.org/</a:t>
            </a:r>
            <a:endParaRPr lang="en-US" sz="2200" dirty="0"/>
          </a:p>
          <a:p>
            <a:pPr lvl="1"/>
            <a:r>
              <a:rPr lang="en-US" sz="1800" dirty="0"/>
              <a:t>Human Rights in China (HRIC) is an international non-governmental organization founded by Chinese scientists and scholars in March 1989. </a:t>
            </a:r>
            <a:endParaRPr lang="en-US" sz="1800" dirty="0" smtClean="0"/>
          </a:p>
          <a:p>
            <a:pPr lvl="1"/>
            <a:r>
              <a:rPr lang="en-US" sz="1800" dirty="0" smtClean="0"/>
              <a:t> </a:t>
            </a:r>
            <a:r>
              <a:rPr lang="en-US" sz="1800" dirty="0"/>
              <a:t>It strives to make information on human rights issues accessible to the Chinese people through short-wave Chinese radio broadcasts, overseas Chinese publications, and an evolving virtual media hub on human rights.</a:t>
            </a:r>
          </a:p>
          <a:p>
            <a:pPr>
              <a:buNone/>
            </a:pPr>
            <a:endParaRPr lang="en-US" sz="2000" dirty="0"/>
          </a:p>
          <a:p>
            <a:endParaRPr lang="en-US" dirty="0"/>
          </a:p>
          <a:p>
            <a:endParaRPr lang="en-US" dirty="0"/>
          </a:p>
          <a:p>
            <a:endParaRPr lang="en-US" dirty="0"/>
          </a:p>
        </p:txBody>
      </p:sp>
    </p:spTree>
    <p:extLst>
      <p:ext uri="{BB962C8B-B14F-4D97-AF65-F5344CB8AC3E}">
        <p14:creationId xmlns:p14="http://schemas.microsoft.com/office/powerpoint/2010/main" val="3458222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39762"/>
          </a:xfrm>
        </p:spPr>
        <p:txBody>
          <a:bodyPr>
            <a:normAutofit fontScale="90000"/>
          </a:bodyPr>
          <a:lstStyle/>
          <a:p>
            <a:r>
              <a:rPr lang="ru-RU" dirty="0">
                <a:solidFill>
                  <a:srgbClr val="0070C0"/>
                </a:solidFill>
              </a:rPr>
              <a:t>Comparative Analysis Model</a:t>
            </a:r>
            <a:endParaRPr lang="en-US" dirty="0"/>
          </a:p>
        </p:txBody>
      </p:sp>
      <p:sp>
        <p:nvSpPr>
          <p:cNvPr id="3" name="Content Placeholder 2"/>
          <p:cNvSpPr>
            <a:spLocks noGrp="1"/>
          </p:cNvSpPr>
          <p:nvPr>
            <p:ph idx="1"/>
          </p:nvPr>
        </p:nvSpPr>
        <p:spPr>
          <a:xfrm>
            <a:off x="457200" y="990600"/>
            <a:ext cx="8229600" cy="5334000"/>
          </a:xfrm>
        </p:spPr>
        <p:txBody>
          <a:bodyPr>
            <a:normAutofit fontScale="70000" lnSpcReduction="20000"/>
          </a:bodyPr>
          <a:lstStyle/>
          <a:p>
            <a:pPr algn="just"/>
            <a:r>
              <a:rPr lang="en-US" dirty="0"/>
              <a:t>Comparative Analysis Model is one of the least-used but a high potential e-governance model for developing countries. </a:t>
            </a:r>
            <a:endParaRPr lang="en-US" dirty="0" smtClean="0"/>
          </a:p>
          <a:p>
            <a:pPr algn="just"/>
            <a:r>
              <a:rPr lang="en-US" dirty="0" smtClean="0"/>
              <a:t>The </a:t>
            </a:r>
            <a:r>
              <a:rPr lang="en-US" dirty="0"/>
              <a:t>model can be used to empower people by comparing cases of bad governance with those of good governance and identifying specific aspects of bad governance, the reasons and people behind them, and how the situation can be improved</a:t>
            </a:r>
            <a:r>
              <a:rPr lang="en-US" dirty="0" smtClean="0"/>
              <a:t>.</a:t>
            </a:r>
          </a:p>
          <a:p>
            <a:pPr algn="just"/>
            <a:r>
              <a:rPr lang="en-US" dirty="0" smtClean="0"/>
              <a:t>The model is based on using immense capacity of ICT and social media tools to explore given information sets with comparable information available in the public or private domain. </a:t>
            </a:r>
          </a:p>
          <a:p>
            <a:pPr algn="just"/>
            <a:r>
              <a:rPr lang="en-US" dirty="0" smtClean="0"/>
              <a:t>For instance, if a given amount of money can build 5 primary schools in District 'A'  in a country, then why does the same amount of money build only 2 schools in District 'B'?  </a:t>
            </a:r>
          </a:p>
          <a:p>
            <a:pPr lvl="1" algn="just"/>
            <a:r>
              <a:rPr lang="en-US" dirty="0" smtClean="0"/>
              <a:t>Could this be because of corruption of officials and contractors involved, or siphoning of money for other things?  </a:t>
            </a:r>
          </a:p>
          <a:p>
            <a:pPr lvl="1" algn="just"/>
            <a:r>
              <a:rPr lang="en-US" dirty="0" smtClean="0"/>
              <a:t>The outcomes are strategic learning's and empowerment, and can lay the basis for possible action, e.g.: filing of right to information (RTI)     to find where the money went.</a:t>
            </a:r>
            <a:br>
              <a:rPr lang="en-US" dirty="0" smtClean="0"/>
            </a:br>
            <a:endParaRPr lang="en-US" dirty="0" smtClean="0"/>
          </a:p>
          <a:p>
            <a:pPr>
              <a:buNone/>
            </a:pPr>
            <a:endParaRPr lang="en-US" dirty="0" smtClean="0"/>
          </a:p>
        </p:txBody>
      </p:sp>
    </p:spTree>
    <p:extLst>
      <p:ext uri="{BB962C8B-B14F-4D97-AF65-F5344CB8AC3E}">
        <p14:creationId xmlns:p14="http://schemas.microsoft.com/office/powerpoint/2010/main" val="42444221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3600" dirty="0" smtClean="0">
                <a:solidFill>
                  <a:srgbClr val="0070C0"/>
                </a:solidFill>
              </a:rPr>
              <a:t/>
            </a:r>
            <a:br>
              <a:rPr lang="en-US" sz="3600" dirty="0" smtClean="0">
                <a:solidFill>
                  <a:srgbClr val="0070C0"/>
                </a:solidFill>
              </a:rPr>
            </a:br>
            <a:r>
              <a:rPr lang="ru-RU" sz="3600" dirty="0" smtClean="0">
                <a:solidFill>
                  <a:srgbClr val="0070C0"/>
                </a:solidFill>
              </a:rPr>
              <a:t>Comparative Analysis Model</a:t>
            </a:r>
            <a:r>
              <a:rPr lang="en-US" sz="3600" dirty="0" smtClean="0">
                <a:solidFill>
                  <a:srgbClr val="0070C0"/>
                </a:solidFill>
              </a:rPr>
              <a:t/>
            </a:r>
            <a:br>
              <a:rPr lang="en-US" sz="3600" dirty="0" smtClean="0">
                <a:solidFill>
                  <a:srgbClr val="0070C0"/>
                </a:solidFill>
              </a:rPr>
            </a:br>
            <a:endParaRPr lang="en-US" sz="3600" dirty="0">
              <a:solidFill>
                <a:srgbClr val="0070C0"/>
              </a:solidFill>
            </a:endParaRPr>
          </a:p>
        </p:txBody>
      </p:sp>
      <p:pic>
        <p:nvPicPr>
          <p:cNvPr id="27650" name="Picture 2"/>
          <p:cNvPicPr>
            <a:picLocks noGrp="1" noChangeAspect="1" noChangeArrowheads="1"/>
          </p:cNvPicPr>
          <p:nvPr>
            <p:ph idx="1"/>
          </p:nvPr>
        </p:nvPicPr>
        <p:blipFill>
          <a:blip r:embed="rId2"/>
          <a:srcRect/>
          <a:stretch>
            <a:fillRect/>
          </a:stretch>
        </p:blipFill>
        <p:spPr bwMode="auto">
          <a:xfrm>
            <a:off x="457200" y="1812468"/>
            <a:ext cx="8229600" cy="4101426"/>
          </a:xfrm>
          <a:prstGeom prst="rect">
            <a:avLst/>
          </a:prstGeom>
          <a:noFill/>
          <a:ln w="9525">
            <a:noFill/>
            <a:miter lim="800000"/>
            <a:headEnd/>
            <a:tailEnd/>
          </a:ln>
          <a:effectLst/>
        </p:spPr>
      </p:pic>
      <p:pic>
        <p:nvPicPr>
          <p:cNvPr id="27651" name="Picture 3"/>
          <p:cNvPicPr>
            <a:picLocks noChangeAspect="1" noChangeArrowheads="1"/>
          </p:cNvPicPr>
          <p:nvPr/>
        </p:nvPicPr>
        <p:blipFill>
          <a:blip r:embed="rId3"/>
          <a:srcRect/>
          <a:stretch>
            <a:fillRect/>
          </a:stretch>
        </p:blipFill>
        <p:spPr bwMode="auto">
          <a:xfrm>
            <a:off x="304800" y="1143000"/>
            <a:ext cx="8572500" cy="361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noAutofit/>
          </a:bodyPr>
          <a:lstStyle/>
          <a:p>
            <a:r>
              <a:rPr lang="en-US" sz="3600" dirty="0" smtClean="0">
                <a:solidFill>
                  <a:srgbClr val="0070C0"/>
                </a:solidFill>
              </a:rPr>
              <a:t/>
            </a:r>
            <a:br>
              <a:rPr lang="en-US" sz="3600" dirty="0" smtClean="0">
                <a:solidFill>
                  <a:srgbClr val="0070C0"/>
                </a:solidFill>
              </a:rPr>
            </a:br>
            <a:r>
              <a:rPr lang="ru-RU" sz="3600" dirty="0" smtClean="0">
                <a:solidFill>
                  <a:srgbClr val="0070C0"/>
                </a:solidFill>
              </a:rPr>
              <a:t>Comparative Analysis Model</a:t>
            </a:r>
            <a:r>
              <a:rPr lang="en-US" sz="3600" dirty="0" smtClean="0">
                <a:solidFill>
                  <a:srgbClr val="0070C0"/>
                </a:solidFill>
              </a:rPr>
              <a:t/>
            </a:r>
            <a:br>
              <a:rPr lang="en-US" sz="3600" dirty="0" smtClean="0">
                <a:solidFill>
                  <a:srgbClr val="0070C0"/>
                </a:solidFill>
              </a:rPr>
            </a:br>
            <a:endParaRPr lang="en-US" sz="3600" dirty="0"/>
          </a:p>
        </p:txBody>
      </p:sp>
      <p:sp>
        <p:nvSpPr>
          <p:cNvPr id="3" name="Content Placeholder 2"/>
          <p:cNvSpPr>
            <a:spLocks noGrp="1"/>
          </p:cNvSpPr>
          <p:nvPr>
            <p:ph idx="1"/>
          </p:nvPr>
        </p:nvSpPr>
        <p:spPr>
          <a:xfrm>
            <a:off x="381000" y="1371600"/>
            <a:ext cx="8229600" cy="5181600"/>
          </a:xfrm>
        </p:spPr>
        <p:txBody>
          <a:bodyPr>
            <a:normAutofit fontScale="25000" lnSpcReduction="20000"/>
          </a:bodyPr>
          <a:lstStyle/>
          <a:p>
            <a:pPr algn="just">
              <a:buNone/>
            </a:pPr>
            <a:r>
              <a:rPr lang="en-US" dirty="0" smtClean="0"/>
              <a:t>	</a:t>
            </a:r>
            <a:r>
              <a:rPr lang="ru-RU" sz="8800" dirty="0" smtClean="0"/>
              <a:t>–     </a:t>
            </a:r>
            <a:r>
              <a:rPr lang="en-US" sz="8800" dirty="0" smtClean="0"/>
              <a:t>  </a:t>
            </a:r>
            <a:r>
              <a:rPr lang="ru-RU" sz="8800" dirty="0" smtClean="0">
                <a:solidFill>
                  <a:srgbClr val="7030A0"/>
                </a:solidFill>
              </a:rPr>
              <a:t>One  of  the  least-used  but  a  highly  effective  model  </a:t>
            </a:r>
            <a:r>
              <a:rPr lang="ru-RU" sz="8800" dirty="0" smtClean="0"/>
              <a:t>that  is </a:t>
            </a:r>
            <a:r>
              <a:rPr lang="en-US" sz="8800" dirty="0" smtClean="0"/>
              <a:t>        	</a:t>
            </a:r>
            <a:r>
              <a:rPr lang="ru-RU" sz="8800" dirty="0" smtClean="0"/>
              <a:t>gradually gaining popularity. </a:t>
            </a:r>
            <a:endParaRPr lang="en-US" sz="8800" dirty="0" smtClean="0"/>
          </a:p>
          <a:p>
            <a:pPr algn="just">
              <a:buNone/>
            </a:pPr>
            <a:r>
              <a:rPr lang="en-US" sz="8800" dirty="0" smtClean="0"/>
              <a:t>	</a:t>
            </a:r>
            <a:r>
              <a:rPr lang="ru-RU" sz="8800" dirty="0" smtClean="0"/>
              <a:t>–    </a:t>
            </a:r>
            <a:r>
              <a:rPr lang="en-US" sz="8800" dirty="0" smtClean="0"/>
              <a:t>  </a:t>
            </a:r>
            <a:r>
              <a:rPr lang="ru-RU" sz="8800" dirty="0" smtClean="0"/>
              <a:t> Based  on  </a:t>
            </a:r>
            <a:r>
              <a:rPr lang="ru-RU" sz="8800" dirty="0" smtClean="0">
                <a:solidFill>
                  <a:srgbClr val="7030A0"/>
                </a:solidFill>
              </a:rPr>
              <a:t>exploring   information  available  in  the  public   or </a:t>
            </a:r>
            <a:r>
              <a:rPr lang="en-US" sz="8800" dirty="0" smtClean="0">
                <a:solidFill>
                  <a:srgbClr val="7030A0"/>
                </a:solidFill>
              </a:rPr>
              <a:t>	</a:t>
            </a:r>
            <a:r>
              <a:rPr lang="ru-RU" sz="8800" dirty="0" smtClean="0">
                <a:solidFill>
                  <a:srgbClr val="7030A0"/>
                </a:solidFill>
              </a:rPr>
              <a:t>private </a:t>
            </a:r>
            <a:r>
              <a:rPr lang="en-US" sz="8800" dirty="0" smtClean="0">
                <a:solidFill>
                  <a:srgbClr val="7030A0"/>
                </a:solidFill>
              </a:rPr>
              <a:t>	</a:t>
            </a:r>
            <a:r>
              <a:rPr lang="ru-RU" sz="8800" dirty="0" smtClean="0">
                <a:solidFill>
                  <a:srgbClr val="7030A0"/>
                </a:solidFill>
              </a:rPr>
              <a:t>domain and comparing it with the known information </a:t>
            </a:r>
            <a:r>
              <a:rPr lang="en-US" sz="8800" dirty="0" smtClean="0">
                <a:solidFill>
                  <a:srgbClr val="7030A0"/>
                </a:solidFill>
              </a:rPr>
              <a:t>	</a:t>
            </a:r>
            <a:r>
              <a:rPr lang="ru-RU" sz="8800" dirty="0" smtClean="0">
                <a:solidFill>
                  <a:srgbClr val="7030A0"/>
                </a:solidFill>
              </a:rPr>
              <a:t>sets</a:t>
            </a:r>
            <a:r>
              <a:rPr lang="ru-RU" sz="8800" dirty="0" smtClean="0"/>
              <a:t> to </a:t>
            </a:r>
            <a:r>
              <a:rPr lang="ru-RU" sz="8800" dirty="0" smtClean="0">
                <a:solidFill>
                  <a:srgbClr val="C00000"/>
                </a:solidFill>
              </a:rPr>
              <a:t>derive strategic learning and arguments. </a:t>
            </a:r>
            <a:endParaRPr lang="en-US" sz="8800" dirty="0" smtClean="0">
              <a:solidFill>
                <a:srgbClr val="C00000"/>
              </a:solidFill>
            </a:endParaRPr>
          </a:p>
          <a:p>
            <a:pPr algn="just">
              <a:buNone/>
            </a:pPr>
            <a:r>
              <a:rPr lang="en-US" sz="8800" dirty="0" smtClean="0"/>
              <a:t>	</a:t>
            </a:r>
            <a:r>
              <a:rPr lang="ru-RU" sz="8800" dirty="0" smtClean="0"/>
              <a:t>–   </a:t>
            </a:r>
            <a:r>
              <a:rPr lang="en-US" sz="8800" dirty="0" smtClean="0"/>
              <a:t>  </a:t>
            </a:r>
            <a:r>
              <a:rPr lang="ru-RU" sz="8800" dirty="0" smtClean="0"/>
              <a:t>  </a:t>
            </a:r>
            <a:r>
              <a:rPr lang="en-US" sz="8800" dirty="0" smtClean="0"/>
              <a:t>This model </a:t>
            </a:r>
            <a:r>
              <a:rPr lang="ru-RU" sz="8800" dirty="0" smtClean="0"/>
              <a:t>Continuously </a:t>
            </a:r>
            <a:r>
              <a:rPr lang="ru-RU" sz="8800" dirty="0" smtClean="0">
                <a:solidFill>
                  <a:srgbClr val="C00000"/>
                </a:solidFill>
              </a:rPr>
              <a:t>assimilates</a:t>
            </a:r>
            <a:r>
              <a:rPr lang="ru-RU" sz="8800" dirty="0" smtClean="0"/>
              <a:t> </a:t>
            </a:r>
            <a:r>
              <a:rPr lang="en-US" sz="8000" dirty="0" smtClean="0"/>
              <a:t>“best practices” in different</a:t>
            </a:r>
          </a:p>
          <a:p>
            <a:pPr algn="just">
              <a:buNone/>
            </a:pPr>
            <a:r>
              <a:rPr lang="en-US" sz="8000" dirty="0" smtClean="0"/>
              <a:t>                areas of  governance and uses them as  </a:t>
            </a:r>
            <a:r>
              <a:rPr lang="ru-RU" sz="8800" dirty="0" smtClean="0">
                <a:solidFill>
                  <a:srgbClr val="FF0000"/>
                </a:solidFill>
              </a:rPr>
              <a:t>to  evaluate,   influence  or  </a:t>
            </a:r>
            <a:r>
              <a:rPr lang="en-US" sz="8800" dirty="0" smtClean="0">
                <a:solidFill>
                  <a:srgbClr val="FF0000"/>
                </a:solidFill>
              </a:rPr>
              <a:t>	</a:t>
            </a:r>
            <a:r>
              <a:rPr lang="ru-RU" sz="8800" dirty="0" smtClean="0">
                <a:solidFill>
                  <a:srgbClr val="FF0000"/>
                </a:solidFill>
              </a:rPr>
              <a:t>advocate changes in current governance policies and </a:t>
            </a:r>
            <a:r>
              <a:rPr lang="en-US" sz="8800" dirty="0" smtClean="0">
                <a:solidFill>
                  <a:srgbClr val="FF0000"/>
                </a:solidFill>
              </a:rPr>
              <a:t>	</a:t>
            </a:r>
            <a:r>
              <a:rPr lang="ru-RU" sz="8800" dirty="0" smtClean="0">
                <a:solidFill>
                  <a:srgbClr val="FF0000"/>
                </a:solidFill>
              </a:rPr>
              <a:t>actions. </a:t>
            </a:r>
            <a:endParaRPr lang="en-US" sz="8800" dirty="0" smtClean="0">
              <a:solidFill>
                <a:srgbClr val="FF0000"/>
              </a:solidFill>
            </a:endParaRPr>
          </a:p>
          <a:p>
            <a:pPr algn="just">
              <a:buNone/>
            </a:pPr>
            <a:r>
              <a:rPr lang="en-US" sz="8800" dirty="0" smtClean="0"/>
              <a:t>	</a:t>
            </a:r>
            <a:r>
              <a:rPr lang="ru-RU" sz="8800" dirty="0" smtClean="0"/>
              <a:t>–    </a:t>
            </a:r>
            <a:r>
              <a:rPr lang="en-US" sz="8800" dirty="0" smtClean="0"/>
              <a:t>  </a:t>
            </a:r>
            <a:r>
              <a:rPr lang="ru-RU" sz="8800" dirty="0" smtClean="0"/>
              <a:t>The  </a:t>
            </a:r>
            <a:r>
              <a:rPr lang="ru-RU" sz="8800" dirty="0" smtClean="0">
                <a:solidFill>
                  <a:srgbClr val="C00000"/>
                </a:solidFill>
              </a:rPr>
              <a:t>comparison  could  be  made  over  a  time  scale  to  get  </a:t>
            </a:r>
            <a:r>
              <a:rPr lang="en-US" sz="8800" dirty="0" smtClean="0">
                <a:solidFill>
                  <a:srgbClr val="C00000"/>
                </a:solidFill>
              </a:rPr>
              <a:t>	</a:t>
            </a:r>
            <a:r>
              <a:rPr lang="ru-RU" sz="8800" dirty="0" smtClean="0">
                <a:solidFill>
                  <a:srgbClr val="C00000"/>
                </a:solidFill>
              </a:rPr>
              <a:t>a </a:t>
            </a:r>
            <a:r>
              <a:rPr lang="en-US" sz="8800" dirty="0" smtClean="0">
                <a:solidFill>
                  <a:srgbClr val="C00000"/>
                </a:solidFill>
              </a:rPr>
              <a:t> </a:t>
            </a:r>
            <a:r>
              <a:rPr lang="ru-RU" sz="8800" dirty="0" smtClean="0">
                <a:solidFill>
                  <a:srgbClr val="C00000"/>
                </a:solidFill>
              </a:rPr>
              <a:t>snapshot   of   the  past   and   present   situation   </a:t>
            </a:r>
            <a:r>
              <a:rPr lang="ru-RU" sz="8800" dirty="0" smtClean="0"/>
              <a:t>(before-</a:t>
            </a:r>
            <a:r>
              <a:rPr lang="en-US" sz="8800" dirty="0" smtClean="0"/>
              <a:t> 	</a:t>
            </a:r>
            <a:r>
              <a:rPr lang="ru-RU" sz="8800" dirty="0" smtClean="0"/>
              <a:t>after </a:t>
            </a:r>
            <a:r>
              <a:rPr lang="en-US" sz="8800" dirty="0" smtClean="0"/>
              <a:t>	</a:t>
            </a:r>
            <a:r>
              <a:rPr lang="ru-RU" sz="8800" dirty="0" smtClean="0"/>
              <a:t>analysis) or </a:t>
            </a:r>
            <a:r>
              <a:rPr lang="en-US" sz="8000" dirty="0" smtClean="0"/>
              <a:t>could be used to </a:t>
            </a:r>
            <a:r>
              <a:rPr lang="en-US" sz="8000" dirty="0" smtClean="0">
                <a:solidFill>
                  <a:srgbClr val="00B050"/>
                </a:solidFill>
              </a:rPr>
              <a:t>compare the effectiveness of</a:t>
            </a:r>
          </a:p>
          <a:p>
            <a:pPr algn="just">
              <a:buNone/>
            </a:pPr>
            <a:r>
              <a:rPr lang="en-US" sz="8000" dirty="0" smtClean="0">
                <a:solidFill>
                  <a:srgbClr val="00B050"/>
                </a:solidFill>
              </a:rPr>
              <a:t>                an intervention by comparing two similar situations</a:t>
            </a:r>
            <a:r>
              <a:rPr lang="en-US" sz="8000" dirty="0" smtClean="0"/>
              <a:t>.</a:t>
            </a:r>
            <a:r>
              <a:rPr lang="ru-RU" sz="8000" dirty="0" smtClean="0"/>
              <a:t> </a:t>
            </a:r>
            <a:r>
              <a:rPr lang="ru-RU" sz="8800" dirty="0" smtClean="0"/>
              <a:t>(with-without </a:t>
            </a:r>
            <a:r>
              <a:rPr lang="en-US" sz="8800" dirty="0" smtClean="0"/>
              <a:t>	</a:t>
            </a:r>
            <a:r>
              <a:rPr lang="ru-RU" sz="8800" dirty="0" smtClean="0"/>
              <a:t>analysis). </a:t>
            </a:r>
            <a:endParaRPr lang="en-US" sz="8800" dirty="0" smtClean="0"/>
          </a:p>
          <a:p>
            <a:pPr algn="just">
              <a:buNone/>
            </a:pPr>
            <a:r>
              <a:rPr lang="en-US" sz="8800" dirty="0" smtClean="0"/>
              <a:t>	</a:t>
            </a:r>
            <a:r>
              <a:rPr lang="ru-RU" sz="8800" dirty="0" smtClean="0"/>
              <a:t>–   </a:t>
            </a:r>
            <a:r>
              <a:rPr lang="en-US" sz="8800" dirty="0" smtClean="0"/>
              <a:t>  </a:t>
            </a:r>
            <a:r>
              <a:rPr lang="ru-RU" sz="8800" dirty="0" smtClean="0"/>
              <a:t>  The </a:t>
            </a:r>
            <a:r>
              <a:rPr lang="ru-RU" sz="8800" dirty="0" smtClean="0">
                <a:solidFill>
                  <a:srgbClr val="C00000"/>
                </a:solidFill>
              </a:rPr>
              <a:t>strength</a:t>
            </a:r>
            <a:r>
              <a:rPr lang="ru-RU" sz="8800" dirty="0" smtClean="0"/>
              <a:t> of this model lies in the </a:t>
            </a:r>
            <a:r>
              <a:rPr lang="ru-RU" sz="8800" dirty="0" smtClean="0">
                <a:solidFill>
                  <a:srgbClr val="00B050"/>
                </a:solidFill>
              </a:rPr>
              <a:t>boundless capacity of ICT</a:t>
            </a:r>
            <a:r>
              <a:rPr lang="en-US" sz="8800" dirty="0" smtClean="0">
                <a:solidFill>
                  <a:srgbClr val="00B050"/>
                </a:solidFill>
              </a:rPr>
              <a:t> 	</a:t>
            </a:r>
            <a:r>
              <a:rPr lang="ru-RU" sz="8800" dirty="0" smtClean="0">
                <a:solidFill>
                  <a:srgbClr val="00B050"/>
                </a:solidFill>
              </a:rPr>
              <a:t>to  store  information  in  a  retrievable  manner  and </a:t>
            </a:r>
            <a:r>
              <a:rPr lang="en-US" sz="8800" dirty="0" smtClean="0">
                <a:solidFill>
                  <a:srgbClr val="00B050"/>
                </a:solidFill>
              </a:rPr>
              <a:t> </a:t>
            </a:r>
            <a:r>
              <a:rPr lang="ru-RU" sz="8800" dirty="0" smtClean="0">
                <a:solidFill>
                  <a:srgbClr val="00B050"/>
                </a:solidFill>
              </a:rPr>
              <a:t>transmit  </a:t>
            </a:r>
            <a:r>
              <a:rPr lang="en-US" sz="8800" dirty="0" smtClean="0">
                <a:solidFill>
                  <a:srgbClr val="00B050"/>
                </a:solidFill>
              </a:rPr>
              <a:t>	</a:t>
            </a:r>
            <a:r>
              <a:rPr lang="ru-RU" sz="8800" dirty="0" smtClean="0">
                <a:solidFill>
                  <a:srgbClr val="00B050"/>
                </a:solidFill>
              </a:rPr>
              <a:t>it almost   instantaneously   across   all    </a:t>
            </a:r>
            <a:r>
              <a:rPr lang="en-US" sz="8800" dirty="0" smtClean="0">
                <a:solidFill>
                  <a:srgbClr val="00B050"/>
                </a:solidFill>
              </a:rPr>
              <a:t>	</a:t>
            </a:r>
            <a:r>
              <a:rPr lang="ru-RU" sz="8800" dirty="0" smtClean="0">
                <a:solidFill>
                  <a:srgbClr val="00B050"/>
                </a:solidFill>
              </a:rPr>
              <a:t>geographical     and </a:t>
            </a:r>
            <a:r>
              <a:rPr lang="en-US" sz="8800" dirty="0" smtClean="0">
                <a:solidFill>
                  <a:srgbClr val="00B050"/>
                </a:solidFill>
              </a:rPr>
              <a:t>	</a:t>
            </a:r>
            <a:r>
              <a:rPr lang="ru-RU" sz="8800" dirty="0" smtClean="0">
                <a:solidFill>
                  <a:srgbClr val="00B050"/>
                </a:solidFill>
              </a:rPr>
              <a:t>hierarchical </a:t>
            </a:r>
            <a:r>
              <a:rPr lang="en-US" sz="8800" dirty="0" smtClean="0">
                <a:solidFill>
                  <a:srgbClr val="00B050"/>
                </a:solidFill>
              </a:rPr>
              <a:t> </a:t>
            </a:r>
            <a:r>
              <a:rPr lang="ru-RU" sz="8800" dirty="0" smtClean="0">
                <a:solidFill>
                  <a:srgbClr val="00B050"/>
                </a:solidFill>
              </a:rPr>
              <a:t>barriers. </a:t>
            </a:r>
            <a:endParaRPr lang="en-US" sz="8800" dirty="0" smtClean="0">
              <a:solidFill>
                <a:srgbClr val="00B050"/>
              </a:solidFill>
            </a:endParaRPr>
          </a:p>
          <a:p>
            <a:endParaRPr lang="en-US" dirty="0">
              <a:solidFill>
                <a:srgbClr val="00B050"/>
              </a:solidFill>
            </a:endParaRPr>
          </a:p>
        </p:txBody>
      </p:sp>
      <p:graphicFrame>
        <p:nvGraphicFramePr>
          <p:cNvPr id="4" name="Table 3"/>
          <p:cNvGraphicFramePr>
            <a:graphicFrameLocks noGrp="1"/>
          </p:cNvGraphicFramePr>
          <p:nvPr/>
        </p:nvGraphicFramePr>
        <p:xfrm>
          <a:off x="685800" y="762000"/>
          <a:ext cx="2286000" cy="533400"/>
        </p:xfrm>
        <a:graphic>
          <a:graphicData uri="http://schemas.openxmlformats.org/drawingml/2006/table">
            <a:tbl>
              <a:tblPr/>
              <a:tblGrid>
                <a:gridCol w="2286000">
                  <a:extLst>
                    <a:ext uri="{9D8B030D-6E8A-4147-A177-3AD203B41FA5}">
                      <a16:colId xmlns:a16="http://schemas.microsoft.com/office/drawing/2014/main" val="20000"/>
                    </a:ext>
                  </a:extLst>
                </a:gridCol>
              </a:tblGrid>
              <a:tr h="533400">
                <a:tc>
                  <a:txBody>
                    <a:bodyPr/>
                    <a:lstStyle/>
                    <a:p>
                      <a:pPr marL="0" marR="0" algn="l">
                        <a:lnSpc>
                          <a:spcPts val="3835"/>
                        </a:lnSpc>
                        <a:spcBef>
                          <a:spcPts val="0"/>
                        </a:spcBef>
                        <a:spcAft>
                          <a:spcPts val="0"/>
                        </a:spcAft>
                      </a:pPr>
                      <a:r>
                        <a:rPr lang="ru-RU" sz="3200" dirty="0">
                          <a:solidFill>
                            <a:srgbClr val="FF0000"/>
                          </a:solidFill>
                          <a:latin typeface="RLBHGC+FuturaBT-Light"/>
                          <a:ea typeface="Calibri"/>
                          <a:cs typeface="Times New Roman"/>
                        </a:rPr>
                        <a:t>•   </a:t>
                      </a:r>
                      <a:r>
                        <a:rPr lang="ru-RU" sz="3200" dirty="0" smtClean="0">
                          <a:solidFill>
                            <a:srgbClr val="FF0000"/>
                          </a:solidFill>
                          <a:latin typeface="RLBHGC+FuturaBT-Light"/>
                          <a:ea typeface="Calibri"/>
                          <a:cs typeface="Times New Roman"/>
                        </a:rPr>
                        <a:t>Principle</a:t>
                      </a:r>
                      <a:endParaRPr lang="en-US" sz="32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ru-RU" sz="3600" dirty="0" smtClean="0">
                <a:solidFill>
                  <a:srgbClr val="0070C0"/>
                </a:solidFill>
              </a:rPr>
              <a:t>Comparative Analysis Model</a:t>
            </a:r>
            <a:endParaRPr lang="en-US" sz="3600" dirty="0"/>
          </a:p>
        </p:txBody>
      </p:sp>
      <p:sp>
        <p:nvSpPr>
          <p:cNvPr id="3" name="Content Placeholder 2"/>
          <p:cNvSpPr>
            <a:spLocks noGrp="1"/>
          </p:cNvSpPr>
          <p:nvPr>
            <p:ph idx="1"/>
          </p:nvPr>
        </p:nvSpPr>
        <p:spPr>
          <a:xfrm>
            <a:off x="457200" y="1066800"/>
            <a:ext cx="8229600" cy="5334000"/>
          </a:xfrm>
        </p:spPr>
        <p:txBody>
          <a:bodyPr>
            <a:normAutofit fontScale="70000" lnSpcReduction="20000"/>
          </a:bodyPr>
          <a:lstStyle/>
          <a:p>
            <a:pPr>
              <a:buNone/>
            </a:pPr>
            <a:r>
              <a:rPr lang="ru-RU" sz="4000" dirty="0" smtClean="0">
                <a:solidFill>
                  <a:srgbClr val="FF0000"/>
                </a:solidFill>
              </a:rPr>
              <a:t>•    Applications</a:t>
            </a:r>
            <a:endParaRPr lang="en-US" sz="4000" dirty="0" smtClean="0">
              <a:solidFill>
                <a:srgbClr val="FF0000"/>
              </a:solidFill>
            </a:endParaRPr>
          </a:p>
          <a:p>
            <a:pPr marL="514350" indent="-514350" algn="just">
              <a:buFont typeface="+mj-lt"/>
              <a:buAutoNum type="arabicPeriod"/>
            </a:pPr>
            <a:r>
              <a:rPr lang="ru-RU" dirty="0" smtClean="0"/>
              <a:t>For  </a:t>
            </a:r>
            <a:r>
              <a:rPr lang="ru-RU" dirty="0" smtClean="0">
                <a:solidFill>
                  <a:srgbClr val="C00000"/>
                </a:solidFill>
              </a:rPr>
              <a:t>gauging</a:t>
            </a:r>
            <a:r>
              <a:rPr lang="en-US" dirty="0" smtClean="0">
                <a:solidFill>
                  <a:srgbClr val="C00000"/>
                </a:solidFill>
              </a:rPr>
              <a:t>(measuring)</a:t>
            </a:r>
            <a:r>
              <a:rPr lang="ru-RU" dirty="0" smtClean="0">
                <a:solidFill>
                  <a:srgbClr val="C00000"/>
                </a:solidFill>
              </a:rPr>
              <a:t>  the  effectiveness  of  current  policies  </a:t>
            </a:r>
            <a:r>
              <a:rPr lang="ru-RU" dirty="0" smtClean="0"/>
              <a:t>by extracting   learning   from   government   policies   and </a:t>
            </a:r>
            <a:r>
              <a:rPr lang="en-US" dirty="0" smtClean="0"/>
              <a:t> </a:t>
            </a:r>
            <a:r>
              <a:rPr lang="ru-RU" dirty="0" smtClean="0"/>
              <a:t>actions in the past</a:t>
            </a:r>
            <a:r>
              <a:rPr lang="en-US" dirty="0" smtClean="0"/>
              <a:t>  and derive learning lessons for future policy-making.</a:t>
            </a:r>
          </a:p>
          <a:p>
            <a:pPr marL="514350" indent="-514350" algn="just">
              <a:buFont typeface="+mj-lt"/>
              <a:buAutoNum type="arabicPeriod"/>
            </a:pPr>
            <a:r>
              <a:rPr lang="en-US" dirty="0" smtClean="0"/>
              <a:t>To evaluate the effectiveness of the current policies and identify key </a:t>
            </a:r>
            <a:r>
              <a:rPr lang="en-US" dirty="0" err="1" smtClean="0"/>
              <a:t>learnings</a:t>
            </a:r>
            <a:r>
              <a:rPr lang="en-US" dirty="0" smtClean="0"/>
              <a:t> in terms of strengths and flaws in the policies.</a:t>
            </a:r>
          </a:p>
          <a:p>
            <a:pPr marL="514350" indent="-514350" algn="just">
              <a:buFont typeface="+mj-lt"/>
              <a:buAutoNum type="arabicPeriod"/>
            </a:pPr>
            <a:r>
              <a:rPr lang="ru-RU" dirty="0" smtClean="0">
                <a:solidFill>
                  <a:srgbClr val="C00000"/>
                </a:solidFill>
              </a:rPr>
              <a:t>Establishing conditions of prior-precedence</a:t>
            </a:r>
            <a:r>
              <a:rPr lang="ru-RU" dirty="0" smtClean="0"/>
              <a:t>, especially in  the  case  of  judicial  or  legal  decision-making  and using it to influence future decision-making. </a:t>
            </a:r>
            <a:endParaRPr lang="en-US" dirty="0" smtClean="0"/>
          </a:p>
          <a:p>
            <a:pPr marL="914400" lvl="1" indent="-514350" algn="just">
              <a:buFont typeface="Wingdings" pitchFamily="2" charset="2"/>
              <a:buChar char="ü"/>
            </a:pPr>
            <a:r>
              <a:rPr lang="ru-RU" dirty="0" smtClean="0"/>
              <a:t>This could be  useful  in resolving  patent-related  disputes,  public </a:t>
            </a:r>
            <a:r>
              <a:rPr lang="en-US" dirty="0" smtClean="0"/>
              <a:t> </a:t>
            </a:r>
            <a:r>
              <a:rPr lang="ru-RU" dirty="0" smtClean="0"/>
              <a:t>goods ownership rights etc. </a:t>
            </a:r>
            <a:endParaRPr lang="en-US" dirty="0" smtClean="0"/>
          </a:p>
          <a:p>
            <a:pPr marL="514350" indent="-514350" algn="just">
              <a:buFont typeface="+mj-lt"/>
              <a:buAutoNum type="arabicPeriod"/>
            </a:pPr>
            <a:r>
              <a:rPr lang="ru-RU" dirty="0" smtClean="0">
                <a:solidFill>
                  <a:srgbClr val="00B050"/>
                </a:solidFill>
              </a:rPr>
              <a:t>Enabling  informed   decision-making  at  all  levels</a:t>
            </a:r>
            <a:r>
              <a:rPr lang="ru-RU" dirty="0" smtClean="0"/>
              <a:t>   by enhancing </a:t>
            </a:r>
            <a:r>
              <a:rPr lang="en-US" dirty="0" smtClean="0"/>
              <a:t> </a:t>
            </a:r>
            <a:r>
              <a:rPr lang="ru-RU" dirty="0" smtClean="0"/>
              <a:t>the background knowledge and providing a </a:t>
            </a:r>
            <a:r>
              <a:rPr lang="en-US" dirty="0" smtClean="0"/>
              <a:t> </a:t>
            </a:r>
            <a:r>
              <a:rPr lang="ru-RU" dirty="0" smtClean="0"/>
              <a:t>rationale for future course of action. </a:t>
            </a:r>
            <a:endParaRPr lang="en-US" dirty="0" smtClean="0"/>
          </a:p>
          <a:p>
            <a:pPr marL="514350" indent="-514350" algn="just">
              <a:buFont typeface="+mj-lt"/>
              <a:buAutoNum type="arabicPeriod"/>
            </a:pPr>
            <a:r>
              <a:rPr lang="ru-RU" dirty="0" smtClean="0">
                <a:solidFill>
                  <a:srgbClr val="00B050"/>
                </a:solidFill>
              </a:rPr>
              <a:t>Evaluating  the   performance </a:t>
            </a:r>
            <a:r>
              <a:rPr lang="en-US" dirty="0" smtClean="0">
                <a:solidFill>
                  <a:srgbClr val="00B050"/>
                </a:solidFill>
              </a:rPr>
              <a:t>and track </a:t>
            </a:r>
            <a:r>
              <a:rPr lang="ru-RU" dirty="0" smtClean="0">
                <a:solidFill>
                  <a:srgbClr val="00B050"/>
                </a:solidFill>
              </a:rPr>
              <a:t> record   of  a   particular government official or ministry</a:t>
            </a:r>
            <a:r>
              <a:rPr lang="en-US" dirty="0" smtClean="0">
                <a:solidFill>
                  <a:srgbClr val="00B050"/>
                </a:solidFill>
              </a:rPr>
              <a:t> i.e. </a:t>
            </a:r>
            <a:r>
              <a:rPr lang="en-US" dirty="0" smtClean="0"/>
              <a:t>decision-maker/ decision-making body.</a:t>
            </a:r>
            <a:r>
              <a:rPr lang="ru-RU" dirty="0" smtClean="0">
                <a:solidFill>
                  <a:srgbClr val="00B050"/>
                </a:solidFill>
              </a:rPr>
              <a:t> </a:t>
            </a:r>
            <a:endParaRPr lang="en-US" dirty="0" smtClean="0">
              <a:solidFill>
                <a:srgbClr val="00B050"/>
              </a:solidFill>
            </a:endParaRPr>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406" y="155423"/>
            <a:ext cx="8229600" cy="715962"/>
          </a:xfrm>
        </p:spPr>
        <p:txBody>
          <a:bodyPr>
            <a:normAutofit fontScale="90000"/>
          </a:bodyPr>
          <a:lstStyle/>
          <a:p>
            <a:r>
              <a:rPr lang="ru-RU" dirty="0" smtClean="0">
                <a:solidFill>
                  <a:srgbClr val="0070C0"/>
                </a:solidFill>
              </a:rPr>
              <a:t>Comparative Analysis Model</a:t>
            </a:r>
            <a:endParaRPr lang="en-US" dirty="0"/>
          </a:p>
        </p:txBody>
      </p:sp>
      <p:sp>
        <p:nvSpPr>
          <p:cNvPr id="3" name="Content Placeholder 2"/>
          <p:cNvSpPr>
            <a:spLocks noGrp="1"/>
          </p:cNvSpPr>
          <p:nvPr>
            <p:ph idx="1"/>
          </p:nvPr>
        </p:nvSpPr>
        <p:spPr>
          <a:xfrm>
            <a:off x="462116" y="1603887"/>
            <a:ext cx="8229600" cy="5025513"/>
          </a:xfrm>
        </p:spPr>
        <p:txBody>
          <a:bodyPr>
            <a:normAutofit fontScale="70000" lnSpcReduction="20000"/>
          </a:bodyPr>
          <a:lstStyle/>
          <a:p>
            <a:pPr algn="just">
              <a:buFont typeface="Wingdings" pitchFamily="2" charset="2"/>
              <a:buChar char="v"/>
            </a:pPr>
            <a:r>
              <a:rPr lang="ru-RU" dirty="0" smtClean="0"/>
              <a:t>Developing   countries  can   effectively  use   this </a:t>
            </a:r>
            <a:r>
              <a:rPr lang="en-US" dirty="0" smtClean="0"/>
              <a:t>comparative</a:t>
            </a:r>
            <a:r>
              <a:rPr lang="ru-RU" dirty="0" smtClean="0"/>
              <a:t> model   to  their </a:t>
            </a:r>
            <a:r>
              <a:rPr lang="en-US" dirty="0" smtClean="0"/>
              <a:t> </a:t>
            </a:r>
            <a:r>
              <a:rPr lang="ru-RU" dirty="0" smtClean="0"/>
              <a:t>advantage  as  </a:t>
            </a:r>
            <a:r>
              <a:rPr lang="ru-RU" dirty="0" smtClean="0">
                <a:solidFill>
                  <a:srgbClr val="00B050"/>
                </a:solidFill>
              </a:rPr>
              <a:t>ICT  opens  access  to  global  and  local  knowledge products at a relatively low cost. </a:t>
            </a:r>
            <a:endParaRPr lang="en-US" dirty="0" smtClean="0">
              <a:solidFill>
                <a:srgbClr val="00B050"/>
              </a:solidFill>
            </a:endParaRPr>
          </a:p>
          <a:p>
            <a:pPr algn="just">
              <a:buFont typeface="Wingdings" pitchFamily="2" charset="2"/>
              <a:buChar char="v"/>
            </a:pPr>
            <a:r>
              <a:rPr lang="en-US" dirty="0" smtClean="0"/>
              <a:t>The model is very much based on the existing sets of information but requires the ability to </a:t>
            </a:r>
            <a:r>
              <a:rPr lang="en-US" dirty="0" err="1" smtClean="0"/>
              <a:t>analyse</a:t>
            </a:r>
            <a:r>
              <a:rPr lang="en-US" dirty="0" smtClean="0"/>
              <a:t> and bring out strong arguments which could then be used to catalyze existing efforts towards self governance.</a:t>
            </a:r>
          </a:p>
          <a:p>
            <a:pPr algn="just">
              <a:buFont typeface="Wingdings" pitchFamily="2" charset="2"/>
              <a:buChar char="v"/>
            </a:pPr>
            <a:r>
              <a:rPr lang="en-US" dirty="0"/>
              <a:t>Organizations trusted in maintaining this digital platform may use it to track the performance of electoral candidates and share the records in their constituencies. </a:t>
            </a:r>
            <a:endParaRPr lang="en-US" dirty="0" smtClean="0">
              <a:solidFill>
                <a:srgbClr val="00B050"/>
              </a:solidFill>
            </a:endParaRPr>
          </a:p>
          <a:p>
            <a:pPr algn="just">
              <a:buFont typeface="Wingdings" pitchFamily="2" charset="2"/>
              <a:buChar char="v"/>
            </a:pPr>
            <a:r>
              <a:rPr lang="ru-RU" dirty="0" smtClean="0"/>
              <a:t>The  model  is  however  </a:t>
            </a:r>
            <a:r>
              <a:rPr lang="ru-RU" dirty="0" smtClean="0">
                <a:solidFill>
                  <a:srgbClr val="C00000"/>
                </a:solidFill>
              </a:rPr>
              <a:t>reliant  on  the  availability  of  comparative information sets and the ability of users to analyze </a:t>
            </a:r>
            <a:r>
              <a:rPr lang="ru-RU" dirty="0" smtClean="0"/>
              <a:t>and bring  out </a:t>
            </a:r>
            <a:r>
              <a:rPr lang="en-US" dirty="0" smtClean="0"/>
              <a:t> </a:t>
            </a:r>
            <a:r>
              <a:rPr lang="ru-RU" dirty="0" smtClean="0"/>
              <a:t>strong arguments or self</a:t>
            </a:r>
            <a:r>
              <a:rPr lang="en-US" dirty="0" smtClean="0"/>
              <a:t> </a:t>
            </a:r>
            <a:r>
              <a:rPr lang="ru-RU" dirty="0" smtClean="0"/>
              <a:t>explanatory graphics from the analysis.</a:t>
            </a:r>
            <a:endParaRPr lang="en-US" dirty="0" smtClean="0"/>
          </a:p>
          <a:p>
            <a:pPr algn="just">
              <a:buFont typeface="Wingdings" pitchFamily="2" charset="2"/>
              <a:buChar char="v"/>
            </a:pPr>
            <a:r>
              <a:rPr lang="ru-RU" dirty="0" smtClean="0"/>
              <a:t>The model </a:t>
            </a:r>
            <a:r>
              <a:rPr lang="ru-RU" dirty="0" smtClean="0">
                <a:solidFill>
                  <a:srgbClr val="00B050"/>
                </a:solidFill>
              </a:rPr>
              <a:t>becomes ineffective in absence of a strong civil society interest and short public memory</a:t>
            </a:r>
            <a:r>
              <a:rPr lang="en-US" dirty="0">
                <a:solidFill>
                  <a:srgbClr val="00B050"/>
                </a:solidFill>
              </a:rPr>
              <a:t>,</a:t>
            </a:r>
            <a:r>
              <a:rPr lang="en-US" dirty="0" smtClean="0"/>
              <a:t> which is essential to force decision-makers to improve existing governance practices.</a:t>
            </a:r>
            <a:endParaRPr lang="en-US" dirty="0" smtClean="0">
              <a:solidFill>
                <a:srgbClr val="00B050"/>
              </a:solidFill>
            </a:endParaRP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670298982"/>
              </p:ext>
            </p:extLst>
          </p:nvPr>
        </p:nvGraphicFramePr>
        <p:xfrm>
          <a:off x="304800" y="1012723"/>
          <a:ext cx="5943600" cy="457200"/>
        </p:xfrm>
        <a:graphic>
          <a:graphicData uri="http://schemas.openxmlformats.org/drawingml/2006/table">
            <a:tbl>
              <a:tblPr/>
              <a:tblGrid>
                <a:gridCol w="5943600">
                  <a:extLst>
                    <a:ext uri="{9D8B030D-6E8A-4147-A177-3AD203B41FA5}">
                      <a16:colId xmlns:a16="http://schemas.microsoft.com/office/drawing/2014/main" val="20000"/>
                    </a:ext>
                  </a:extLst>
                </a:gridCol>
              </a:tblGrid>
              <a:tr h="457200">
                <a:tc>
                  <a:txBody>
                    <a:bodyPr/>
                    <a:lstStyle/>
                    <a:p>
                      <a:pPr marL="0" marR="0" algn="l">
                        <a:lnSpc>
                          <a:spcPts val="2875"/>
                        </a:lnSpc>
                        <a:spcBef>
                          <a:spcPts val="0"/>
                        </a:spcBef>
                        <a:spcAft>
                          <a:spcPts val="0"/>
                        </a:spcAft>
                      </a:pPr>
                      <a:r>
                        <a:rPr lang="ru-RU" sz="2800" b="1" dirty="0">
                          <a:solidFill>
                            <a:srgbClr val="FF0000"/>
                          </a:solidFill>
                          <a:latin typeface="RLBHGC+FuturaBT-Light"/>
                          <a:ea typeface="Calibri"/>
                          <a:cs typeface="Times New Roman"/>
                        </a:rPr>
                        <a:t>•     Evaluation (Pros And Cons)</a:t>
                      </a:r>
                      <a:endParaRPr lang="en-US" sz="2800" b="1"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ru-RU" dirty="0" smtClean="0">
                <a:solidFill>
                  <a:srgbClr val="0070C0"/>
                </a:solidFill>
              </a:rPr>
              <a:t>Comparative Analysis Model</a:t>
            </a:r>
            <a:endParaRPr lang="en-US" dirty="0"/>
          </a:p>
        </p:txBody>
      </p:sp>
      <p:sp>
        <p:nvSpPr>
          <p:cNvPr id="3" name="Content Placeholder 2"/>
          <p:cNvSpPr>
            <a:spLocks noGrp="1"/>
          </p:cNvSpPr>
          <p:nvPr>
            <p:ph idx="1"/>
          </p:nvPr>
        </p:nvSpPr>
        <p:spPr>
          <a:xfrm>
            <a:off x="381000" y="1730375"/>
            <a:ext cx="8229600" cy="4525963"/>
          </a:xfrm>
        </p:spPr>
        <p:txBody>
          <a:bodyPr>
            <a:normAutofit/>
          </a:bodyPr>
          <a:lstStyle/>
          <a:p>
            <a:pPr algn="just"/>
            <a:r>
              <a:rPr lang="en-US" sz="2400" dirty="0" smtClean="0"/>
              <a:t>There is a vast scope of application of this model for </a:t>
            </a:r>
            <a:r>
              <a:rPr lang="en-US" sz="2400" dirty="0" smtClean="0">
                <a:solidFill>
                  <a:srgbClr val="FF0000"/>
                </a:solidFill>
              </a:rPr>
              <a:t>judicial advocacy as landmark/key judgments </a:t>
            </a:r>
            <a:r>
              <a:rPr lang="en-US" sz="2400" dirty="0" smtClean="0"/>
              <a:t>of the past could be used as precedence for influencing future decision making. </a:t>
            </a:r>
          </a:p>
          <a:p>
            <a:pPr algn="just"/>
            <a:r>
              <a:rPr lang="ru-RU" sz="2400" dirty="0"/>
              <a:t>Watch  guard   organizations  and  monitor-groups  could  </a:t>
            </a:r>
            <a:r>
              <a:rPr lang="ru-RU" sz="2400" dirty="0">
                <a:solidFill>
                  <a:srgbClr val="7030A0"/>
                </a:solidFill>
              </a:rPr>
              <a:t>use  the </a:t>
            </a:r>
            <a:r>
              <a:rPr lang="en-US" sz="2400" dirty="0">
                <a:solidFill>
                  <a:srgbClr val="7030A0"/>
                </a:solidFill>
              </a:rPr>
              <a:t> </a:t>
            </a:r>
            <a:r>
              <a:rPr lang="ru-RU" sz="2400" dirty="0">
                <a:solidFill>
                  <a:srgbClr val="7030A0"/>
                </a:solidFill>
              </a:rPr>
              <a:t>model  to  track  the  </a:t>
            </a:r>
            <a:r>
              <a:rPr lang="en-US" sz="2400" dirty="0"/>
              <a:t>the governance past record and performance and compare with different information sets</a:t>
            </a:r>
            <a:r>
              <a:rPr lang="en-US" sz="2400" dirty="0" smtClean="0"/>
              <a:t>.</a:t>
            </a:r>
          </a:p>
          <a:p>
            <a:pPr algn="just"/>
            <a:r>
              <a:rPr lang="en-US" sz="2400" dirty="0" smtClean="0"/>
              <a:t>Also</a:t>
            </a:r>
            <a:r>
              <a:rPr lang="en-US" sz="2400" dirty="0"/>
              <a:t>, the </a:t>
            </a:r>
            <a:r>
              <a:rPr lang="en-US" sz="2400" dirty="0">
                <a:solidFill>
                  <a:srgbClr val="FF0000"/>
                </a:solidFill>
              </a:rPr>
              <a:t>model relies on the availability of other information’s for comparison </a:t>
            </a:r>
            <a:r>
              <a:rPr lang="en-US" sz="2400" dirty="0"/>
              <a:t>and the attitude of people to examine and come up with self-explanatory or strong arguments from the analysis. </a:t>
            </a:r>
            <a:endParaRPr lang="en-US" sz="2400" dirty="0" smtClean="0"/>
          </a:p>
        </p:txBody>
      </p:sp>
      <p:graphicFrame>
        <p:nvGraphicFramePr>
          <p:cNvPr id="4" name="Table 3"/>
          <p:cNvGraphicFramePr>
            <a:graphicFrameLocks noGrp="1"/>
          </p:cNvGraphicFramePr>
          <p:nvPr>
            <p:extLst>
              <p:ext uri="{D42A27DB-BD31-4B8C-83A1-F6EECF244321}">
                <p14:modId xmlns:p14="http://schemas.microsoft.com/office/powerpoint/2010/main" val="2366508659"/>
              </p:ext>
            </p:extLst>
          </p:nvPr>
        </p:nvGraphicFramePr>
        <p:xfrm>
          <a:off x="685800" y="1165225"/>
          <a:ext cx="6096000" cy="565150"/>
        </p:xfrm>
        <a:graphic>
          <a:graphicData uri="http://schemas.openxmlformats.org/drawingml/2006/table">
            <a:tbl>
              <a:tblPr/>
              <a:tblGrid>
                <a:gridCol w="6096000">
                  <a:extLst>
                    <a:ext uri="{9D8B030D-6E8A-4147-A177-3AD203B41FA5}">
                      <a16:colId xmlns:a16="http://schemas.microsoft.com/office/drawing/2014/main" val="20000"/>
                    </a:ext>
                  </a:extLst>
                </a:gridCol>
              </a:tblGrid>
              <a:tr h="565150">
                <a:tc>
                  <a:txBody>
                    <a:bodyPr/>
                    <a:lstStyle/>
                    <a:p>
                      <a:pPr marL="0" marR="0" algn="l">
                        <a:lnSpc>
                          <a:spcPts val="2875"/>
                        </a:lnSpc>
                        <a:spcBef>
                          <a:spcPts val="0"/>
                        </a:spcBef>
                        <a:spcAft>
                          <a:spcPts val="0"/>
                        </a:spcAft>
                      </a:pPr>
                      <a:r>
                        <a:rPr lang="ru-RU" sz="2800" dirty="0">
                          <a:solidFill>
                            <a:srgbClr val="FF0000"/>
                          </a:solidFill>
                          <a:latin typeface="RLBHGC+FuturaBT-Light"/>
                          <a:ea typeface="Calibri"/>
                          <a:cs typeface="Times New Roman"/>
                        </a:rPr>
                        <a:t>•     Evaluation (Pros And Cons)</a:t>
                      </a:r>
                      <a:endParaRPr lang="en-US" sz="28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normAutofit fontScale="90000"/>
          </a:bodyPr>
          <a:lstStyle/>
          <a:p>
            <a:r>
              <a:rPr lang="ru-RU" sz="2800" b="1" dirty="0" smtClean="0">
                <a:solidFill>
                  <a:srgbClr val="0070C0"/>
                </a:solidFill>
              </a:rPr>
              <a:t>Organizations / Projects based on Comparative Analysis Model</a:t>
            </a:r>
            <a:endParaRPr lang="en-US" sz="2800" b="1" dirty="0">
              <a:solidFill>
                <a:srgbClr val="0070C0"/>
              </a:solidFill>
            </a:endParaRPr>
          </a:p>
        </p:txBody>
      </p:sp>
      <p:sp>
        <p:nvSpPr>
          <p:cNvPr id="3" name="Content Placeholder 2"/>
          <p:cNvSpPr>
            <a:spLocks noGrp="1"/>
          </p:cNvSpPr>
          <p:nvPr>
            <p:ph idx="1"/>
          </p:nvPr>
        </p:nvSpPr>
        <p:spPr>
          <a:xfrm>
            <a:off x="304800" y="838200"/>
            <a:ext cx="8534400" cy="5867400"/>
          </a:xfrm>
        </p:spPr>
        <p:txBody>
          <a:bodyPr>
            <a:normAutofit fontScale="25000" lnSpcReduction="20000"/>
          </a:bodyPr>
          <a:lstStyle/>
          <a:p>
            <a:pPr>
              <a:buNone/>
            </a:pPr>
            <a:r>
              <a:rPr lang="ru-RU" sz="8000" dirty="0" smtClean="0"/>
              <a:t>•    </a:t>
            </a:r>
            <a:r>
              <a:rPr lang="ru-RU" sz="8000" b="1" dirty="0" smtClean="0"/>
              <a:t>India</a:t>
            </a:r>
            <a:r>
              <a:rPr lang="en-US" sz="8000" b="1" dirty="0" smtClean="0"/>
              <a:t>: </a:t>
            </a:r>
            <a:r>
              <a:rPr lang="ru-RU" sz="8000" b="1" dirty="0" smtClean="0"/>
              <a:t>Green Ratings Project:</a:t>
            </a:r>
            <a:r>
              <a:rPr lang="en-US" sz="8000" b="1" dirty="0"/>
              <a:t> </a:t>
            </a:r>
            <a:r>
              <a:rPr lang="ru-RU" sz="8000" dirty="0" smtClean="0"/>
              <a:t>http://www.oneworld.org/cse/html/eyou/eyou31.htm </a:t>
            </a:r>
            <a:endParaRPr lang="en-US" sz="8000" dirty="0"/>
          </a:p>
          <a:p>
            <a:pPr lvl="1" algn="just">
              <a:buFont typeface="Wingdings" panose="05000000000000000000" pitchFamily="2" charset="2"/>
              <a:buChar char="ü"/>
            </a:pPr>
            <a:r>
              <a:rPr lang="ru-RU" sz="7600" dirty="0" smtClean="0"/>
              <a:t>The </a:t>
            </a:r>
            <a:r>
              <a:rPr lang="ru-RU" sz="7600" dirty="0" smtClean="0">
                <a:solidFill>
                  <a:srgbClr val="00B050"/>
                </a:solidFill>
              </a:rPr>
              <a:t>Centre for Science and Environment in India </a:t>
            </a:r>
            <a:r>
              <a:rPr lang="ru-RU" sz="7600" dirty="0" smtClean="0"/>
              <a:t>conducts a survey of how </a:t>
            </a:r>
            <a:r>
              <a:rPr lang="en-US" sz="7600" dirty="0" smtClean="0"/>
              <a:t>  </a:t>
            </a:r>
            <a:r>
              <a:rPr lang="ru-RU" sz="7600" dirty="0" smtClean="0"/>
              <a:t>Green the Indian industries are. </a:t>
            </a:r>
            <a:endParaRPr lang="en-US" sz="7600" dirty="0" smtClean="0"/>
          </a:p>
          <a:p>
            <a:pPr lvl="1" algn="just">
              <a:buFont typeface="Wingdings" panose="05000000000000000000" pitchFamily="2" charset="2"/>
              <a:buChar char="ü"/>
            </a:pPr>
            <a:r>
              <a:rPr lang="ru-RU" sz="7600" dirty="0" smtClean="0"/>
              <a:t>The Green Rating Project is an attempt to</a:t>
            </a:r>
            <a:r>
              <a:rPr lang="en-US" sz="7600" dirty="0" smtClean="0"/>
              <a:t> </a:t>
            </a:r>
            <a:r>
              <a:rPr lang="ru-RU" sz="7600" dirty="0" smtClean="0">
                <a:solidFill>
                  <a:srgbClr val="00B050"/>
                </a:solidFill>
              </a:rPr>
              <a:t>provide   an    independent    and   fair    evaluation   of    the   comparative </a:t>
            </a:r>
            <a:r>
              <a:rPr lang="ru-RU" sz="7600" dirty="0" smtClean="0"/>
              <a:t>environmental   performance   of   companies,  from   a   perspective   which</a:t>
            </a:r>
            <a:r>
              <a:rPr lang="en-US" sz="7600" dirty="0" smtClean="0"/>
              <a:t> </a:t>
            </a:r>
            <a:r>
              <a:rPr lang="ru-RU" sz="7600" dirty="0" smtClean="0"/>
              <a:t>supports responsible industry and encourages poor performers to improve. </a:t>
            </a:r>
            <a:endParaRPr lang="en-US" sz="7600" dirty="0" smtClean="0"/>
          </a:p>
          <a:p>
            <a:pPr lvl="1" algn="just">
              <a:buFont typeface="Wingdings" panose="05000000000000000000" pitchFamily="2" charset="2"/>
              <a:buChar char="ü"/>
            </a:pPr>
            <a:r>
              <a:rPr lang="ru-RU" sz="7600" dirty="0" smtClean="0"/>
              <a:t>Performance reports of companies are shared over Internet and other media and  people's  opinion  is  solicited</a:t>
            </a:r>
            <a:r>
              <a:rPr lang="en-US" sz="7600" dirty="0" smtClean="0"/>
              <a:t>/requested</a:t>
            </a:r>
            <a:r>
              <a:rPr lang="ru-RU" sz="7600" dirty="0" smtClean="0"/>
              <a:t>  in  deciding  the  greenest environmental managers etc. </a:t>
            </a:r>
            <a:endParaRPr lang="en-US" sz="7600" dirty="0" smtClean="0"/>
          </a:p>
          <a:p>
            <a:r>
              <a:rPr lang="en-US" sz="8000" b="1" dirty="0" smtClean="0"/>
              <a:t>India</a:t>
            </a:r>
            <a:r>
              <a:rPr lang="en-US" sz="8000" b="1" dirty="0"/>
              <a:t>: Comparative Learning from </a:t>
            </a:r>
            <a:r>
              <a:rPr lang="en-US" sz="8000" b="1" dirty="0" smtClean="0"/>
              <a:t>Disasters</a:t>
            </a:r>
            <a:r>
              <a:rPr lang="en-US" sz="8000" dirty="0"/>
              <a:t> </a:t>
            </a:r>
            <a:r>
              <a:rPr lang="en-US" sz="8000" b="1" dirty="0" smtClean="0">
                <a:hlinkClick r:id="rId2"/>
              </a:rPr>
              <a:t>http</a:t>
            </a:r>
            <a:r>
              <a:rPr lang="en-US" sz="8000" b="1" dirty="0">
                <a:hlinkClick r:id="rId2"/>
              </a:rPr>
              <a:t>://www.cddc.vt.edu/digitalgov/Latur-Gujarat.htm</a:t>
            </a:r>
            <a:endParaRPr lang="en-US" sz="8000" dirty="0"/>
          </a:p>
          <a:p>
            <a:pPr lvl="1" algn="just">
              <a:buFont typeface="Wingdings" panose="05000000000000000000" pitchFamily="2" charset="2"/>
              <a:buChar char="ü"/>
            </a:pPr>
            <a:r>
              <a:rPr lang="en-US" sz="7600" dirty="0"/>
              <a:t>In the wake of earthquake in Kutch in India (January 2001), there was a lot of comparative learning relating to disaster management drawn from a high intensity earthquake which shook </a:t>
            </a:r>
            <a:r>
              <a:rPr lang="en-US" sz="7600" dirty="0" err="1"/>
              <a:t>Latur</a:t>
            </a:r>
            <a:r>
              <a:rPr lang="en-US" sz="7600" dirty="0"/>
              <a:t> in India in 1993. </a:t>
            </a:r>
            <a:endParaRPr lang="en-US" sz="7600" dirty="0" smtClean="0"/>
          </a:p>
          <a:p>
            <a:pPr lvl="1" algn="just">
              <a:buFont typeface="Wingdings" panose="05000000000000000000" pitchFamily="2" charset="2"/>
              <a:buChar char="ü"/>
            </a:pPr>
            <a:r>
              <a:rPr lang="en-US" sz="7600" dirty="0" smtClean="0"/>
              <a:t>The </a:t>
            </a:r>
            <a:r>
              <a:rPr lang="en-US" sz="7600" dirty="0"/>
              <a:t>extensive information available on internet on both these earthquakes open up vast scope of comparison by all segments of the </a:t>
            </a:r>
            <a:r>
              <a:rPr lang="en-US" sz="7600" dirty="0" smtClean="0"/>
              <a:t>society.</a:t>
            </a:r>
            <a:endParaRPr lang="en-US" sz="7600" dirty="0"/>
          </a:p>
          <a:p>
            <a:pPr lvl="1" algn="just">
              <a:buFont typeface="Wingdings" panose="05000000000000000000" pitchFamily="2" charset="2"/>
              <a:buChar char="ü"/>
            </a:pPr>
            <a:r>
              <a:rPr lang="en-US" sz="8000" dirty="0" smtClean="0"/>
              <a:t>Comparison </a:t>
            </a:r>
            <a:r>
              <a:rPr lang="en-US" sz="8000" dirty="0"/>
              <a:t>of different Disasters can make people </a:t>
            </a:r>
            <a:r>
              <a:rPr lang="en-US" sz="8000" dirty="0" smtClean="0"/>
              <a:t>realize </a:t>
            </a:r>
            <a:r>
              <a:rPr lang="en-US" sz="8000" dirty="0"/>
              <a:t>that damages to life and property incurred are not just a factor of intensity of the disaster but also dependent on the preparedness of the Government machinery and conducive government policies to  handle that disaster.</a:t>
            </a:r>
          </a:p>
          <a:p>
            <a:pPr>
              <a:buNone/>
            </a:pPr>
            <a:endParaRPr lang="en-US" sz="7200" dirty="0" smtClean="0"/>
          </a:p>
          <a:p>
            <a:pPr>
              <a:buNone/>
            </a:pPr>
            <a:endParaRPr lang="en-US" sz="7200" dirty="0" smtClean="0"/>
          </a:p>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ru-RU" b="1" dirty="0">
                <a:solidFill>
                  <a:srgbClr val="0070C0"/>
                </a:solidFill>
              </a:rPr>
              <a:t>Organizations / Projects based on Comparative Analysis Model</a:t>
            </a:r>
            <a:endParaRPr lang="en-US" dirty="0"/>
          </a:p>
        </p:txBody>
      </p:sp>
      <p:sp>
        <p:nvSpPr>
          <p:cNvPr id="3" name="Content Placeholder 2"/>
          <p:cNvSpPr>
            <a:spLocks noGrp="1"/>
          </p:cNvSpPr>
          <p:nvPr>
            <p:ph idx="1"/>
          </p:nvPr>
        </p:nvSpPr>
        <p:spPr>
          <a:xfrm>
            <a:off x="228600" y="1219200"/>
            <a:ext cx="8229600" cy="4525963"/>
          </a:xfrm>
        </p:spPr>
        <p:txBody>
          <a:bodyPr>
            <a:normAutofit fontScale="25000" lnSpcReduction="20000"/>
          </a:bodyPr>
          <a:lstStyle/>
          <a:p>
            <a:pPr algn="just"/>
            <a:r>
              <a:rPr lang="ru-RU" sz="8000" b="1" dirty="0"/>
              <a:t>Philippines </a:t>
            </a:r>
            <a:endParaRPr lang="en-US" sz="8000" b="1" dirty="0"/>
          </a:p>
          <a:p>
            <a:pPr marL="627063" algn="just">
              <a:buNone/>
            </a:pPr>
            <a:r>
              <a:rPr lang="en-US" sz="8000" dirty="0"/>
              <a:t>	   </a:t>
            </a:r>
            <a:r>
              <a:rPr lang="ru-RU" sz="8000" dirty="0"/>
              <a:t>–  Vote.ph: </a:t>
            </a:r>
            <a:r>
              <a:rPr lang="ru-RU" sz="8000" dirty="0">
                <a:hlinkClick r:id="rId2"/>
              </a:rPr>
              <a:t>http://www.vote.ph</a:t>
            </a:r>
            <a:endParaRPr lang="en-US" sz="8000" dirty="0"/>
          </a:p>
          <a:p>
            <a:pPr lvl="1" algn="just">
              <a:buFont typeface="Wingdings" panose="05000000000000000000" pitchFamily="2" charset="2"/>
              <a:buChar char="ü"/>
            </a:pPr>
            <a:r>
              <a:rPr lang="en-US" sz="8000" dirty="0" smtClean="0"/>
              <a:t>   </a:t>
            </a:r>
            <a:r>
              <a:rPr lang="ru-RU" sz="8000" dirty="0" smtClean="0"/>
              <a:t> </a:t>
            </a:r>
            <a:r>
              <a:rPr lang="ru-RU" sz="8000" dirty="0"/>
              <a:t>Vote.ph   is   the  </a:t>
            </a:r>
            <a:r>
              <a:rPr lang="ru-RU" sz="8000" dirty="0" smtClean="0"/>
              <a:t>non-partisan</a:t>
            </a:r>
            <a:r>
              <a:rPr lang="en-US" sz="8000" dirty="0" smtClean="0"/>
              <a:t>/non biased</a:t>
            </a:r>
            <a:r>
              <a:rPr lang="ru-RU" sz="8000" dirty="0" smtClean="0">
                <a:solidFill>
                  <a:srgbClr val="C00000"/>
                </a:solidFill>
              </a:rPr>
              <a:t>,   </a:t>
            </a:r>
            <a:r>
              <a:rPr lang="ru-RU" sz="8000" dirty="0">
                <a:solidFill>
                  <a:srgbClr val="C00000"/>
                </a:solidFill>
              </a:rPr>
              <a:t>non-sectoral   online   directory  and   quick </a:t>
            </a:r>
            <a:r>
              <a:rPr lang="ru-RU" sz="8000" dirty="0" smtClean="0">
                <a:solidFill>
                  <a:srgbClr val="C00000"/>
                </a:solidFill>
              </a:rPr>
              <a:t>reference  </a:t>
            </a:r>
            <a:r>
              <a:rPr lang="ru-RU" sz="8000" dirty="0">
                <a:solidFill>
                  <a:srgbClr val="C00000"/>
                </a:solidFill>
              </a:rPr>
              <a:t>center  on  Philippine  elected  government  officials  and </a:t>
            </a:r>
            <a:r>
              <a:rPr lang="en-US" sz="8000" dirty="0">
                <a:solidFill>
                  <a:srgbClr val="C00000"/>
                </a:solidFill>
              </a:rPr>
              <a:t> </a:t>
            </a:r>
            <a:r>
              <a:rPr lang="ru-RU" sz="8000" dirty="0">
                <a:solidFill>
                  <a:srgbClr val="C00000"/>
                </a:solidFill>
              </a:rPr>
              <a:t>election </a:t>
            </a:r>
            <a:r>
              <a:rPr lang="en-US" sz="8000" dirty="0">
                <a:solidFill>
                  <a:srgbClr val="C00000"/>
                </a:solidFill>
              </a:rPr>
              <a:t>	</a:t>
            </a:r>
            <a:r>
              <a:rPr lang="ru-RU" sz="8000" dirty="0">
                <a:solidFill>
                  <a:srgbClr val="C00000"/>
                </a:solidFill>
              </a:rPr>
              <a:t>candidates for both the national and the local levels.</a:t>
            </a:r>
            <a:r>
              <a:rPr lang="ru-RU" sz="8000" dirty="0"/>
              <a:t> It serves  the</a:t>
            </a:r>
            <a:r>
              <a:rPr lang="en-US" sz="8000" dirty="0"/>
              <a:t>  </a:t>
            </a:r>
            <a:r>
              <a:rPr lang="ru-RU" sz="8000" dirty="0"/>
              <a:t>purpose of </a:t>
            </a:r>
            <a:r>
              <a:rPr lang="en-US" sz="8000" dirty="0"/>
              <a:t>	</a:t>
            </a:r>
            <a:r>
              <a:rPr lang="ru-RU" sz="8000" dirty="0"/>
              <a:t>informing  voters  know  who  are  the  electoral  candidates  running  in  their </a:t>
            </a:r>
            <a:r>
              <a:rPr lang="en-US" sz="8000" dirty="0"/>
              <a:t>	</a:t>
            </a:r>
            <a:r>
              <a:rPr lang="ru-RU" sz="8000" dirty="0"/>
              <a:t>respective area and who their </a:t>
            </a:r>
            <a:r>
              <a:rPr lang="ru-RU" sz="8000" dirty="0" smtClean="0"/>
              <a:t>incumbent</a:t>
            </a:r>
            <a:r>
              <a:rPr lang="en-US" sz="8000" dirty="0" smtClean="0"/>
              <a:t>(current)</a:t>
            </a:r>
            <a:r>
              <a:rPr lang="ru-RU" sz="8000" dirty="0" smtClean="0"/>
              <a:t> </a:t>
            </a:r>
            <a:r>
              <a:rPr lang="ru-RU" sz="8000" dirty="0"/>
              <a:t>elected officials are. </a:t>
            </a:r>
            <a:endParaRPr lang="en-US" sz="8000" dirty="0"/>
          </a:p>
          <a:p>
            <a:pPr algn="just">
              <a:buNone/>
            </a:pPr>
            <a:r>
              <a:rPr lang="ru-RU" sz="8000" dirty="0"/>
              <a:t>•   </a:t>
            </a:r>
            <a:r>
              <a:rPr lang="en-US" sz="8000" b="1" dirty="0" smtClean="0"/>
              <a:t>France </a:t>
            </a:r>
            <a:r>
              <a:rPr lang="en-US" sz="8000" b="1" dirty="0"/>
              <a:t>: Opening of a Platform for Comparison of programs of Electoral Candidates </a:t>
            </a:r>
            <a:r>
              <a:rPr lang="en-US" b="1" dirty="0"/>
              <a:t>     </a:t>
            </a:r>
            <a:r>
              <a:rPr lang="en-US" sz="7200" b="1" dirty="0">
                <a:hlinkClick r:id="rId3"/>
              </a:rPr>
              <a:t>http://www.sciences-po.fr/etudiants/electionsM/index.htm</a:t>
            </a:r>
            <a:endParaRPr lang="en-US" sz="7200" b="1" dirty="0"/>
          </a:p>
          <a:p>
            <a:pPr lvl="1" algn="just">
              <a:buFont typeface="Wingdings" panose="05000000000000000000" pitchFamily="2" charset="2"/>
              <a:buChar char="ü"/>
            </a:pPr>
            <a:r>
              <a:rPr lang="en-US" sz="8000" dirty="0" smtClean="0"/>
              <a:t>The </a:t>
            </a:r>
            <a:r>
              <a:rPr lang="en-US" sz="8000" dirty="0"/>
              <a:t>site compare according to 15 topics the principal proposals of the electoral candidates for the town hall of Paris. </a:t>
            </a:r>
            <a:endParaRPr lang="en-US" sz="8000" dirty="0" smtClean="0"/>
          </a:p>
          <a:p>
            <a:pPr lvl="1" algn="just">
              <a:buFont typeface="Wingdings" panose="05000000000000000000" pitchFamily="2" charset="2"/>
              <a:buChar char="ü"/>
            </a:pPr>
            <a:r>
              <a:rPr lang="en-US" sz="8000" dirty="0" smtClean="0"/>
              <a:t>The </a:t>
            </a:r>
            <a:r>
              <a:rPr lang="en-US" sz="8000" dirty="0"/>
              <a:t>platform also presents the electoral system of the capital, the biographies of the candidates to the town hall of Paris as well as a list with accompanying notes of links relating to the local elections. </a:t>
            </a:r>
            <a:endParaRPr lang="en-US" sz="8000" dirty="0" smtClean="0"/>
          </a:p>
          <a:p>
            <a:pPr lvl="1" algn="just">
              <a:buFont typeface="Wingdings" panose="05000000000000000000" pitchFamily="2" charset="2"/>
              <a:buChar char="ü"/>
            </a:pPr>
            <a:r>
              <a:rPr lang="en-US" sz="8000" dirty="0" smtClean="0"/>
              <a:t>In </a:t>
            </a:r>
            <a:r>
              <a:rPr lang="en-US" sz="8000" dirty="0"/>
              <a:t>addition to information which it will offer to the Parisian voters, this experimental project has as an ambition to open a discussion on the interest for the democratic life of comparative electoral sites. </a:t>
            </a:r>
            <a:endParaRPr lang="en-US" sz="8000" dirty="0" smtClean="0"/>
          </a:p>
          <a:p>
            <a:pPr lvl="1" algn="just">
              <a:buFont typeface="Wingdings" panose="05000000000000000000" pitchFamily="2" charset="2"/>
              <a:buChar char="ü"/>
            </a:pPr>
            <a:r>
              <a:rPr lang="en-US" sz="8000" dirty="0" smtClean="0"/>
              <a:t>Its </a:t>
            </a:r>
            <a:r>
              <a:rPr lang="en-US" sz="8000" dirty="0"/>
              <a:t>users are invited to make share of their comments and reactions for the development of the site for the next elections.</a:t>
            </a:r>
            <a:endParaRPr lang="en-US" sz="8000" dirty="0" smtClean="0"/>
          </a:p>
          <a:p>
            <a:endParaRPr lang="en-US" dirty="0"/>
          </a:p>
        </p:txBody>
      </p:sp>
    </p:spTree>
    <p:extLst>
      <p:ext uri="{BB962C8B-B14F-4D97-AF65-F5344CB8AC3E}">
        <p14:creationId xmlns:p14="http://schemas.microsoft.com/office/powerpoint/2010/main" val="146097652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b="1" dirty="0">
                <a:solidFill>
                  <a:srgbClr val="0070C0"/>
                </a:solidFill>
              </a:rPr>
              <a:t>Organizations / Projects based on Comparative Analysis Model</a:t>
            </a:r>
            <a:endParaRPr lang="en-US" dirty="0"/>
          </a:p>
        </p:txBody>
      </p:sp>
      <p:sp>
        <p:nvSpPr>
          <p:cNvPr id="3" name="Content Placeholder 2"/>
          <p:cNvSpPr>
            <a:spLocks noGrp="1"/>
          </p:cNvSpPr>
          <p:nvPr>
            <p:ph idx="1"/>
          </p:nvPr>
        </p:nvSpPr>
        <p:spPr/>
        <p:txBody>
          <a:bodyPr>
            <a:normAutofit lnSpcReduction="10000"/>
          </a:bodyPr>
          <a:lstStyle/>
          <a:p>
            <a:pPr algn="just"/>
            <a:r>
              <a:rPr lang="ru-RU" dirty="0"/>
              <a:t> </a:t>
            </a:r>
            <a:r>
              <a:rPr lang="ru-RU" b="1" dirty="0"/>
              <a:t>Global </a:t>
            </a:r>
            <a:endParaRPr lang="en-US" b="1" dirty="0"/>
          </a:p>
          <a:p>
            <a:pPr lvl="1" algn="just">
              <a:buFont typeface="Courier New" panose="02070309020205020404" pitchFamily="49" charset="0"/>
              <a:buChar char="o"/>
            </a:pPr>
            <a:r>
              <a:rPr lang="en-US" dirty="0" smtClean="0"/>
              <a:t> </a:t>
            </a:r>
            <a:r>
              <a:rPr lang="ru-RU" dirty="0" smtClean="0"/>
              <a:t>Human </a:t>
            </a:r>
            <a:r>
              <a:rPr lang="ru-RU" dirty="0"/>
              <a:t>Development Indicators </a:t>
            </a:r>
            <a:r>
              <a:rPr lang="ru-RU" dirty="0">
                <a:hlinkClick r:id="rId2"/>
              </a:rPr>
              <a:t>http://www.undp.org/hdro/indicators.html</a:t>
            </a:r>
            <a:endParaRPr lang="en-US" dirty="0"/>
          </a:p>
          <a:p>
            <a:pPr lvl="1" algn="just">
              <a:buFont typeface="Wingdings" panose="05000000000000000000" pitchFamily="2" charset="2"/>
              <a:buChar char="ü"/>
            </a:pPr>
            <a:r>
              <a:rPr lang="ru-RU" dirty="0" smtClean="0"/>
              <a:t>The </a:t>
            </a:r>
            <a:r>
              <a:rPr lang="ru-RU" dirty="0"/>
              <a:t>Human Development Report of UNDP </a:t>
            </a:r>
            <a:r>
              <a:rPr lang="ru-RU" dirty="0">
                <a:solidFill>
                  <a:srgbClr val="00B050"/>
                </a:solidFill>
              </a:rPr>
              <a:t>makes use of archived </a:t>
            </a:r>
            <a:r>
              <a:rPr lang="ru-RU" dirty="0" smtClean="0">
                <a:solidFill>
                  <a:srgbClr val="00B050"/>
                </a:solidFill>
              </a:rPr>
              <a:t>statistical</a:t>
            </a:r>
            <a:r>
              <a:rPr lang="en-US" dirty="0" smtClean="0">
                <a:solidFill>
                  <a:srgbClr val="00B050"/>
                </a:solidFill>
              </a:rPr>
              <a:t> </a:t>
            </a:r>
            <a:r>
              <a:rPr lang="ru-RU" dirty="0" smtClean="0">
                <a:solidFill>
                  <a:srgbClr val="00B050"/>
                </a:solidFill>
              </a:rPr>
              <a:t>information   </a:t>
            </a:r>
            <a:r>
              <a:rPr lang="ru-RU" dirty="0">
                <a:solidFill>
                  <a:srgbClr val="00B050"/>
                </a:solidFill>
              </a:rPr>
              <a:t>pertaining  to   literacy,  health,   national   income  etc.   as   a </a:t>
            </a:r>
            <a:r>
              <a:rPr lang="ru-RU" dirty="0" smtClean="0">
                <a:solidFill>
                  <a:srgbClr val="00B050"/>
                </a:solidFill>
              </a:rPr>
              <a:t>benchmark </a:t>
            </a:r>
            <a:r>
              <a:rPr lang="ru-RU" dirty="0">
                <a:solidFill>
                  <a:srgbClr val="00B050"/>
                </a:solidFill>
              </a:rPr>
              <a:t>to assess the progress made by different countries with regards to </a:t>
            </a:r>
            <a:r>
              <a:rPr lang="ru-RU" dirty="0" smtClean="0">
                <a:solidFill>
                  <a:srgbClr val="00B050"/>
                </a:solidFill>
              </a:rPr>
              <a:t>their  </a:t>
            </a:r>
            <a:r>
              <a:rPr lang="ru-RU" dirty="0">
                <a:solidFill>
                  <a:srgbClr val="00B050"/>
                </a:solidFill>
              </a:rPr>
              <a:t>Human  Development   Index  </a:t>
            </a:r>
            <a:r>
              <a:rPr lang="ru-RU" dirty="0"/>
              <a:t>and  suggests  policy  recommendations </a:t>
            </a:r>
            <a:r>
              <a:rPr lang="ru-RU" dirty="0" smtClean="0"/>
              <a:t>based</a:t>
            </a:r>
            <a:r>
              <a:rPr lang="en-US" dirty="0"/>
              <a:t> </a:t>
            </a:r>
            <a:r>
              <a:rPr lang="ru-RU" dirty="0" smtClean="0"/>
              <a:t>o</a:t>
            </a:r>
            <a:r>
              <a:rPr lang="en-US" dirty="0" smtClean="0"/>
              <a:t>n </a:t>
            </a:r>
            <a:r>
              <a:rPr lang="ru-RU" dirty="0" smtClean="0"/>
              <a:t>that. </a:t>
            </a:r>
            <a:endParaRPr lang="en-US" dirty="0"/>
          </a:p>
        </p:txBody>
      </p:sp>
    </p:spTree>
    <p:extLst>
      <p:ext uri="{BB962C8B-B14F-4D97-AF65-F5344CB8AC3E}">
        <p14:creationId xmlns:p14="http://schemas.microsoft.com/office/powerpoint/2010/main" val="95404543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ru-RU" dirty="0">
                <a:solidFill>
                  <a:srgbClr val="0070C0"/>
                </a:solidFill>
              </a:rPr>
              <a:t>Mobilisation and Lobbying Model</a:t>
            </a:r>
            <a:endParaRPr lang="en-US" dirty="0"/>
          </a:p>
        </p:txBody>
      </p:sp>
      <p:sp>
        <p:nvSpPr>
          <p:cNvPr id="3" name="Content Placeholder 2"/>
          <p:cNvSpPr>
            <a:spLocks noGrp="1"/>
          </p:cNvSpPr>
          <p:nvPr>
            <p:ph idx="1"/>
          </p:nvPr>
        </p:nvSpPr>
        <p:spPr>
          <a:xfrm>
            <a:off x="457200" y="1086465"/>
            <a:ext cx="8229600" cy="4525963"/>
          </a:xfrm>
        </p:spPr>
        <p:txBody>
          <a:bodyPr>
            <a:normAutofit/>
          </a:bodyPr>
          <a:lstStyle/>
          <a:p>
            <a:pPr algn="just"/>
            <a:r>
              <a:rPr lang="en-US" sz="2400" dirty="0"/>
              <a:t>E-Advocacy / Mobilization and Lobbying Model is </a:t>
            </a:r>
            <a:r>
              <a:rPr lang="en-US" sz="2400" dirty="0">
                <a:solidFill>
                  <a:srgbClr val="0070C0"/>
                </a:solidFill>
              </a:rPr>
              <a:t>one of the most frequently used Digital Governance model </a:t>
            </a:r>
            <a:r>
              <a:rPr lang="en-US" sz="2400" dirty="0"/>
              <a:t>and has often come to the aid of the global civil society to impact on global decision-making processes. </a:t>
            </a:r>
            <a:endParaRPr lang="en-US" sz="2400" dirty="0" smtClean="0"/>
          </a:p>
          <a:p>
            <a:pPr algn="just"/>
            <a:r>
              <a:rPr lang="en-US" sz="2400" dirty="0"/>
              <a:t>The model is based on </a:t>
            </a:r>
            <a:r>
              <a:rPr lang="en-US" sz="2400" dirty="0">
                <a:solidFill>
                  <a:srgbClr val="FF0000"/>
                </a:solidFill>
              </a:rPr>
              <a:t>setting-up a planned, directed flow of information to build strong virtual allies to complement actions in the real </a:t>
            </a:r>
            <a:r>
              <a:rPr lang="en-US" sz="2400" dirty="0" smtClean="0">
                <a:solidFill>
                  <a:srgbClr val="FF0000"/>
                </a:solidFill>
              </a:rPr>
              <a:t>world</a:t>
            </a:r>
          </a:p>
          <a:p>
            <a:r>
              <a:rPr lang="en-US" sz="2400" dirty="0" smtClean="0"/>
              <a:t>This </a:t>
            </a:r>
            <a:r>
              <a:rPr lang="en-US" sz="2400" dirty="0"/>
              <a:t>model builds the momentum of real-world processes by adding the opinions and concerns </a:t>
            </a:r>
            <a:r>
              <a:rPr lang="en-US" sz="2400" dirty="0" smtClean="0"/>
              <a:t>expressed by virtual society.</a:t>
            </a:r>
          </a:p>
          <a:p>
            <a:r>
              <a:rPr lang="en-US" sz="2400" dirty="0"/>
              <a:t>The model creates synergies between real-world processes, and opinions and concerns expressed by virtual communities. </a:t>
            </a:r>
          </a:p>
        </p:txBody>
      </p:sp>
    </p:spTree>
    <p:extLst>
      <p:ext uri="{BB962C8B-B14F-4D97-AF65-F5344CB8AC3E}">
        <p14:creationId xmlns:p14="http://schemas.microsoft.com/office/powerpoint/2010/main" val="232285117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smtClean="0">
                <a:solidFill>
                  <a:srgbClr val="0070C0"/>
                </a:solidFill>
              </a:rPr>
              <a:t>Mobilisation and Lobbying Model</a:t>
            </a:r>
            <a:r>
              <a:rPr lang="en-US" dirty="0" smtClean="0"/>
              <a:t/>
            </a:r>
            <a:br>
              <a:rPr lang="en-US" dirty="0" smtClean="0"/>
            </a:b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533400" y="1676400"/>
            <a:ext cx="8153400" cy="4495800"/>
          </a:xfrm>
          <a:prstGeom prst="rect">
            <a:avLst/>
          </a:prstGeom>
          <a:noFill/>
          <a:ln w="9525">
            <a:noFill/>
            <a:miter lim="800000"/>
            <a:headEnd/>
            <a:tailEnd/>
          </a:ln>
          <a:effectLst/>
        </p:spPr>
      </p:pic>
      <p:graphicFrame>
        <p:nvGraphicFramePr>
          <p:cNvPr id="6" name="Table 5"/>
          <p:cNvGraphicFramePr>
            <a:graphicFrameLocks noGrp="1"/>
          </p:cNvGraphicFramePr>
          <p:nvPr/>
        </p:nvGraphicFramePr>
        <p:xfrm>
          <a:off x="381000" y="1143000"/>
          <a:ext cx="7772400" cy="812800"/>
        </p:xfrm>
        <a:graphic>
          <a:graphicData uri="http://schemas.openxmlformats.org/drawingml/2006/table">
            <a:tbl>
              <a:tblPr/>
              <a:tblGrid>
                <a:gridCol w="7772400">
                  <a:extLst>
                    <a:ext uri="{9D8B030D-6E8A-4147-A177-3AD203B41FA5}">
                      <a16:colId xmlns:a16="http://schemas.microsoft.com/office/drawing/2014/main" val="20000"/>
                    </a:ext>
                  </a:extLst>
                </a:gridCol>
              </a:tblGrid>
              <a:tr h="264325">
                <a:tc>
                  <a:txBody>
                    <a:bodyPr/>
                    <a:lstStyle/>
                    <a:p>
                      <a:pPr marL="0" marR="0" algn="l">
                        <a:lnSpc>
                          <a:spcPts val="3200"/>
                        </a:lnSpc>
                        <a:spcBef>
                          <a:spcPts val="0"/>
                        </a:spcBef>
                        <a:spcAft>
                          <a:spcPts val="0"/>
                        </a:spcAft>
                      </a:pPr>
                      <a:r>
                        <a:rPr lang="ru-RU" sz="2400" dirty="0">
                          <a:solidFill>
                            <a:srgbClr val="FF0000"/>
                          </a:solidFill>
                          <a:latin typeface="RLBHGC+FuturaBT-Light"/>
                          <a:ea typeface="Calibri"/>
                          <a:cs typeface="Times New Roman"/>
                        </a:rPr>
                        <a:t>Building Allies / Networking Networks for Concerted Action</a:t>
                      </a:r>
                      <a:endParaRPr lang="en-US" sz="24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533400"/>
          </a:xfrm>
        </p:spPr>
        <p:txBody>
          <a:bodyPr>
            <a:normAutofit fontScale="90000"/>
          </a:bodyPr>
          <a:lstStyle/>
          <a:p>
            <a:r>
              <a:rPr lang="en-US" sz="4000" dirty="0" smtClean="0"/>
              <a:t/>
            </a:r>
            <a:br>
              <a:rPr lang="en-US" sz="4000" dirty="0" smtClean="0"/>
            </a:br>
            <a:r>
              <a:rPr lang="ru-RU" sz="4000" dirty="0" smtClean="0">
                <a:solidFill>
                  <a:srgbClr val="0070C0"/>
                </a:solidFill>
              </a:rPr>
              <a:t>Mobilization  and Lobbying Model </a:t>
            </a:r>
            <a:r>
              <a:rPr lang="en-US" dirty="0" smtClean="0"/>
              <a:t/>
            </a:r>
            <a:br>
              <a:rPr lang="en-US" dirty="0" smtClean="0"/>
            </a:br>
            <a:endParaRPr lang="en-US" dirty="0"/>
          </a:p>
        </p:txBody>
      </p:sp>
      <p:sp>
        <p:nvSpPr>
          <p:cNvPr id="3" name="Content Placeholder 2"/>
          <p:cNvSpPr>
            <a:spLocks noGrp="1"/>
          </p:cNvSpPr>
          <p:nvPr>
            <p:ph idx="1"/>
          </p:nvPr>
        </p:nvSpPr>
        <p:spPr>
          <a:xfrm>
            <a:off x="533400" y="1066800"/>
            <a:ext cx="8229600" cy="5410200"/>
          </a:xfrm>
        </p:spPr>
        <p:txBody>
          <a:bodyPr>
            <a:normAutofit fontScale="25000" lnSpcReduction="20000"/>
          </a:bodyPr>
          <a:lstStyle/>
          <a:p>
            <a:pPr algn="just"/>
            <a:r>
              <a:rPr lang="ru-RU" sz="8800" dirty="0" smtClean="0"/>
              <a:t>One  of  the  </a:t>
            </a:r>
            <a:r>
              <a:rPr lang="ru-RU" sz="8800" dirty="0" smtClean="0">
                <a:solidFill>
                  <a:srgbClr val="00B050"/>
                </a:solidFill>
              </a:rPr>
              <a:t>most  frequently  used  digital  governance model </a:t>
            </a:r>
            <a:r>
              <a:rPr lang="ru-RU" sz="8800" dirty="0" smtClean="0"/>
              <a:t>and has often come to the aid of the civil society organizations    in   developing    countries   to    impact international decision-making processes. </a:t>
            </a:r>
            <a:endParaRPr lang="en-US" sz="8800" dirty="0" smtClean="0"/>
          </a:p>
          <a:p>
            <a:pPr lvl="1" algn="just"/>
            <a:r>
              <a:rPr lang="ru-RU" sz="7600" dirty="0" smtClean="0"/>
              <a:t>Based  on  </a:t>
            </a:r>
            <a:r>
              <a:rPr lang="ru-RU" sz="7600" dirty="0" smtClean="0">
                <a:solidFill>
                  <a:srgbClr val="C00000"/>
                </a:solidFill>
              </a:rPr>
              <a:t>planned,  directed,  strategic  flow  of  information  </a:t>
            </a:r>
            <a:r>
              <a:rPr lang="en-US" sz="7600" dirty="0" smtClean="0">
                <a:solidFill>
                  <a:srgbClr val="C00000"/>
                </a:solidFill>
              </a:rPr>
              <a:t>	</a:t>
            </a:r>
            <a:r>
              <a:rPr lang="ru-RU" sz="7600" dirty="0" smtClean="0">
                <a:solidFill>
                  <a:srgbClr val="C00000"/>
                </a:solidFill>
              </a:rPr>
              <a:t>to build strong virtual allies to strengthen action in the real world.</a:t>
            </a:r>
            <a:endParaRPr lang="en-US" sz="7600" dirty="0" smtClean="0">
              <a:solidFill>
                <a:srgbClr val="C00000"/>
              </a:solidFill>
            </a:endParaRPr>
          </a:p>
          <a:p>
            <a:pPr lvl="1" algn="just"/>
            <a:r>
              <a:rPr lang="ru-RU" sz="7600" dirty="0" smtClean="0"/>
              <a:t>Takes    up   the    </a:t>
            </a:r>
            <a:r>
              <a:rPr lang="ru-RU" sz="7600" dirty="0" smtClean="0">
                <a:solidFill>
                  <a:srgbClr val="7030A0"/>
                </a:solidFill>
              </a:rPr>
              <a:t>pro-active   approach    of   forming   virtual</a:t>
            </a:r>
            <a:r>
              <a:rPr lang="en-US" sz="7600" dirty="0" smtClean="0">
                <a:solidFill>
                  <a:srgbClr val="7030A0"/>
                </a:solidFill>
              </a:rPr>
              <a:t> </a:t>
            </a:r>
            <a:r>
              <a:rPr lang="ru-RU" sz="7600" dirty="0" smtClean="0">
                <a:solidFill>
                  <a:srgbClr val="7030A0"/>
                </a:solidFill>
              </a:rPr>
              <a:t>communities   </a:t>
            </a:r>
            <a:r>
              <a:rPr lang="ru-RU" sz="7600" dirty="0" smtClean="0"/>
              <a:t>which   share    similar   values   and    concerns, </a:t>
            </a:r>
            <a:r>
              <a:rPr lang="en-US" sz="7600" dirty="0" smtClean="0"/>
              <a:t>	</a:t>
            </a:r>
            <a:r>
              <a:rPr lang="ru-RU" sz="7600" dirty="0" smtClean="0">
                <a:solidFill>
                  <a:srgbClr val="00B050"/>
                </a:solidFill>
              </a:rPr>
              <a:t>promoting   active   sharing   of    information   between   these </a:t>
            </a:r>
            <a:r>
              <a:rPr lang="en-US" sz="7600" dirty="0" smtClean="0">
                <a:solidFill>
                  <a:srgbClr val="00B050"/>
                </a:solidFill>
              </a:rPr>
              <a:t>	</a:t>
            </a:r>
            <a:r>
              <a:rPr lang="ru-RU" sz="7600" dirty="0" smtClean="0">
                <a:solidFill>
                  <a:srgbClr val="00B050"/>
                </a:solidFill>
              </a:rPr>
              <a:t>communities</a:t>
            </a:r>
            <a:r>
              <a:rPr lang="ru-RU" sz="7600" dirty="0" smtClean="0"/>
              <a:t>, and linking them with real world activities.</a:t>
            </a:r>
            <a:endParaRPr lang="en-US" sz="7600" dirty="0" smtClean="0"/>
          </a:p>
          <a:p>
            <a:pPr lvl="1" algn="just"/>
            <a:r>
              <a:rPr lang="ru-RU" sz="7600" dirty="0" smtClean="0"/>
              <a:t>The  </a:t>
            </a:r>
            <a:r>
              <a:rPr lang="ru-RU" sz="7600" dirty="0" smtClean="0">
                <a:solidFill>
                  <a:srgbClr val="00B050"/>
                </a:solidFill>
              </a:rPr>
              <a:t>strength </a:t>
            </a:r>
            <a:r>
              <a:rPr lang="ru-RU" sz="7600" dirty="0" smtClean="0"/>
              <a:t> of   this  model  is  in  the  </a:t>
            </a:r>
            <a:r>
              <a:rPr lang="ru-RU" sz="7600" dirty="0" smtClean="0">
                <a:solidFill>
                  <a:srgbClr val="00B050"/>
                </a:solidFill>
              </a:rPr>
              <a:t>diversity  of  its   virtual</a:t>
            </a:r>
            <a:r>
              <a:rPr lang="en-US" sz="7600" dirty="0" smtClean="0">
                <a:solidFill>
                  <a:srgbClr val="00B050"/>
                </a:solidFill>
              </a:rPr>
              <a:t> </a:t>
            </a:r>
            <a:r>
              <a:rPr lang="ru-RU" sz="7600" dirty="0" smtClean="0">
                <a:solidFill>
                  <a:srgbClr val="00B050"/>
                </a:solidFill>
              </a:rPr>
              <a:t>community,    </a:t>
            </a:r>
            <a:r>
              <a:rPr lang="ru-RU" sz="7600" dirty="0" smtClean="0"/>
              <a:t>and    the    ideas,    </a:t>
            </a:r>
            <a:r>
              <a:rPr lang="ru-RU" sz="7600" dirty="0" smtClean="0">
                <a:solidFill>
                  <a:srgbClr val="7030A0"/>
                </a:solidFill>
              </a:rPr>
              <a:t>expertise     and    resources</a:t>
            </a:r>
            <a:r>
              <a:rPr lang="en-US" sz="7600" dirty="0" smtClean="0">
                <a:solidFill>
                  <a:srgbClr val="7030A0"/>
                </a:solidFill>
              </a:rPr>
              <a:t> </a:t>
            </a:r>
            <a:r>
              <a:rPr lang="ru-RU" sz="7600" dirty="0" smtClean="0">
                <a:solidFill>
                  <a:srgbClr val="7030A0"/>
                </a:solidFill>
              </a:rPr>
              <a:t>accumulated through virtual forms</a:t>
            </a:r>
            <a:r>
              <a:rPr lang="en-US" sz="7600" dirty="0" smtClean="0">
                <a:solidFill>
                  <a:srgbClr val="7030A0"/>
                </a:solidFill>
              </a:rPr>
              <a:t>/methods</a:t>
            </a:r>
            <a:r>
              <a:rPr lang="ru-RU" sz="7600" dirty="0" smtClean="0">
                <a:solidFill>
                  <a:srgbClr val="7030A0"/>
                </a:solidFill>
              </a:rPr>
              <a:t> of networking.</a:t>
            </a:r>
            <a:endParaRPr lang="en-US" sz="7600" dirty="0" smtClean="0">
              <a:solidFill>
                <a:srgbClr val="7030A0"/>
              </a:solidFill>
            </a:endParaRPr>
          </a:p>
          <a:p>
            <a:pPr lvl="1" algn="just"/>
            <a:r>
              <a:rPr lang="ru-RU" sz="7600" dirty="0" smtClean="0"/>
              <a:t>The   model  is   able  to  </a:t>
            </a:r>
            <a:r>
              <a:rPr lang="en-US" sz="7600" dirty="0" smtClean="0"/>
              <a:t>mobilize and leverage human resource and       information beyond</a:t>
            </a:r>
            <a:r>
              <a:rPr lang="ru-RU" sz="7600" dirty="0" smtClean="0">
                <a:solidFill>
                  <a:srgbClr val="C00000"/>
                </a:solidFill>
              </a:rPr>
              <a:t>  geographical, </a:t>
            </a:r>
            <a:r>
              <a:rPr lang="en-US" sz="7600" dirty="0" smtClean="0">
                <a:solidFill>
                  <a:srgbClr val="C00000"/>
                </a:solidFill>
              </a:rPr>
              <a:t>	</a:t>
            </a:r>
            <a:r>
              <a:rPr lang="ru-RU" sz="7600" dirty="0" smtClean="0">
                <a:solidFill>
                  <a:srgbClr val="C00000"/>
                </a:solidFill>
              </a:rPr>
              <a:t>institutional  and   bureaucratic   barriers</a:t>
            </a:r>
            <a:r>
              <a:rPr lang="ru-RU" sz="7600" dirty="0" smtClean="0"/>
              <a:t>  </a:t>
            </a:r>
            <a:r>
              <a:rPr lang="en-US" sz="7600" dirty="0" smtClean="0"/>
              <a:t>and use it for</a:t>
            </a:r>
            <a:r>
              <a:rPr lang="ru-RU" sz="7600" dirty="0" smtClean="0"/>
              <a:t>  concerted </a:t>
            </a:r>
            <a:r>
              <a:rPr lang="en-US" sz="7600" dirty="0" smtClean="0"/>
              <a:t>(jointly arranged)</a:t>
            </a:r>
            <a:r>
              <a:rPr lang="en-US" sz="7600" dirty="0"/>
              <a:t> </a:t>
            </a:r>
            <a:r>
              <a:rPr lang="ru-RU" sz="7600" dirty="0" smtClean="0"/>
              <a:t>action.</a:t>
            </a:r>
            <a:endParaRPr lang="en-US" sz="7600" dirty="0" smtClean="0"/>
          </a:p>
          <a:p>
            <a:pPr lvl="2" algn="just">
              <a:buFont typeface="Wingdings" panose="05000000000000000000" pitchFamily="2" charset="2"/>
              <a:buChar char="ü"/>
            </a:pPr>
            <a:r>
              <a:rPr lang="en-US" sz="7600" dirty="0" smtClean="0"/>
              <a:t>The </a:t>
            </a:r>
            <a:r>
              <a:rPr lang="en-US" sz="7600" dirty="0"/>
              <a:t>model can effectively overcome institutional, geographical and bureaucratic barriers to shape rigorous action</a:t>
            </a:r>
            <a:endParaRPr lang="en-US" sz="7200" dirty="0"/>
          </a:p>
          <a:p>
            <a:pPr lvl="1" algn="just"/>
            <a:r>
              <a:rPr lang="ru-RU" sz="7600" dirty="0" smtClean="0"/>
              <a:t>The  model   also  </a:t>
            </a:r>
            <a:r>
              <a:rPr lang="ru-RU" sz="7600" dirty="0" smtClean="0">
                <a:solidFill>
                  <a:srgbClr val="C00000"/>
                </a:solidFill>
              </a:rPr>
              <a:t>provides   a  strong  virtual   arm  to  several </a:t>
            </a:r>
            <a:r>
              <a:rPr lang="en-US" sz="7600" dirty="0" smtClean="0">
                <a:solidFill>
                  <a:srgbClr val="C00000"/>
                </a:solidFill>
              </a:rPr>
              <a:t>	</a:t>
            </a:r>
            <a:r>
              <a:rPr lang="ru-RU" sz="7600" dirty="0" smtClean="0">
                <a:solidFill>
                  <a:srgbClr val="C00000"/>
                </a:solidFill>
              </a:rPr>
              <a:t>activities </a:t>
            </a:r>
            <a:r>
              <a:rPr lang="ru-RU" sz="7600" dirty="0" smtClean="0"/>
              <a:t> such  as   directing  campaigns  against  a   particular </a:t>
            </a:r>
            <a:r>
              <a:rPr lang="en-US" sz="7600" dirty="0" smtClean="0"/>
              <a:t>	</a:t>
            </a:r>
            <a:r>
              <a:rPr lang="ru-RU" sz="7600" dirty="0" smtClean="0"/>
              <a:t>individual or decision-making body.</a:t>
            </a:r>
            <a:endParaRPr lang="en-US" sz="7600" dirty="0" smtClean="0"/>
          </a:p>
          <a:p>
            <a:endParaRPr lang="en-US" dirty="0"/>
          </a:p>
        </p:txBody>
      </p:sp>
      <p:graphicFrame>
        <p:nvGraphicFramePr>
          <p:cNvPr id="4" name="Table 3"/>
          <p:cNvGraphicFramePr>
            <a:graphicFrameLocks noGrp="1"/>
          </p:cNvGraphicFramePr>
          <p:nvPr/>
        </p:nvGraphicFramePr>
        <p:xfrm>
          <a:off x="228600" y="762000"/>
          <a:ext cx="2143125" cy="368300"/>
        </p:xfrm>
        <a:graphic>
          <a:graphicData uri="http://schemas.openxmlformats.org/drawingml/2006/table">
            <a:tbl>
              <a:tblPr/>
              <a:tblGrid>
                <a:gridCol w="2143125">
                  <a:extLst>
                    <a:ext uri="{9D8B030D-6E8A-4147-A177-3AD203B41FA5}">
                      <a16:colId xmlns:a16="http://schemas.microsoft.com/office/drawing/2014/main" val="20000"/>
                    </a:ext>
                  </a:extLst>
                </a:gridCol>
              </a:tblGrid>
              <a:tr h="0">
                <a:tc>
                  <a:txBody>
                    <a:bodyPr/>
                    <a:lstStyle/>
                    <a:p>
                      <a:pPr marL="0" marR="0" algn="l">
                        <a:lnSpc>
                          <a:spcPts val="2875"/>
                        </a:lnSpc>
                        <a:spcBef>
                          <a:spcPts val="0"/>
                        </a:spcBef>
                        <a:spcAft>
                          <a:spcPts val="0"/>
                        </a:spcAft>
                      </a:pPr>
                      <a:r>
                        <a:rPr lang="ru-RU" sz="2400" dirty="0">
                          <a:solidFill>
                            <a:srgbClr val="FF0000"/>
                          </a:solidFill>
                          <a:latin typeface="RLBHGC+FuturaBT-Light"/>
                          <a:ea typeface="Calibri"/>
                          <a:cs typeface="Times New Roman"/>
                        </a:rPr>
                        <a:t>•     Principle</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Autofit/>
          </a:bodyPr>
          <a:lstStyle/>
          <a:p>
            <a:r>
              <a:rPr lang="ru-RU" sz="3600" dirty="0" smtClean="0">
                <a:solidFill>
                  <a:srgbClr val="0070C0"/>
                </a:solidFill>
              </a:rPr>
              <a:t>Mobilization  and Lobbying Model</a:t>
            </a:r>
            <a:endParaRPr lang="en-US" sz="3600" dirty="0"/>
          </a:p>
        </p:txBody>
      </p:sp>
      <p:sp>
        <p:nvSpPr>
          <p:cNvPr id="3" name="Content Placeholder 2"/>
          <p:cNvSpPr>
            <a:spLocks noGrp="1"/>
          </p:cNvSpPr>
          <p:nvPr>
            <p:ph idx="1"/>
          </p:nvPr>
        </p:nvSpPr>
        <p:spPr>
          <a:xfrm>
            <a:off x="457200" y="914400"/>
            <a:ext cx="8229600" cy="5105400"/>
          </a:xfrm>
        </p:spPr>
        <p:txBody>
          <a:bodyPr>
            <a:normAutofit fontScale="25000" lnSpcReduction="20000"/>
          </a:bodyPr>
          <a:lstStyle/>
          <a:p>
            <a:pPr>
              <a:buNone/>
            </a:pPr>
            <a:r>
              <a:rPr lang="ru-RU" sz="11200" dirty="0" smtClean="0">
                <a:solidFill>
                  <a:srgbClr val="FF0000"/>
                </a:solidFill>
              </a:rPr>
              <a:t>•     Applications</a:t>
            </a:r>
            <a:endParaRPr lang="en-US" sz="11200" dirty="0" smtClean="0">
              <a:solidFill>
                <a:srgbClr val="FF0000"/>
              </a:solidFill>
            </a:endParaRPr>
          </a:p>
          <a:p>
            <a:pPr marL="1371600" indent="-1371600" algn="just">
              <a:buFont typeface="+mj-lt"/>
              <a:buAutoNum type="arabicPeriod"/>
            </a:pPr>
            <a:r>
              <a:rPr lang="ru-RU" sz="9600" dirty="0" smtClean="0">
                <a:solidFill>
                  <a:srgbClr val="7030A0"/>
                </a:solidFill>
              </a:rPr>
              <a:t>Fostering</a:t>
            </a:r>
            <a:r>
              <a:rPr lang="en-US" sz="9600" dirty="0" smtClean="0">
                <a:solidFill>
                  <a:srgbClr val="7030A0"/>
                </a:solidFill>
              </a:rPr>
              <a:t>/Compelling for</a:t>
            </a:r>
            <a:r>
              <a:rPr lang="ru-RU" sz="9600" dirty="0" smtClean="0">
                <a:solidFill>
                  <a:srgbClr val="7030A0"/>
                </a:solidFill>
              </a:rPr>
              <a:t>  public  debates  on  global  issues</a:t>
            </a:r>
            <a:r>
              <a:rPr lang="ru-RU" sz="9600" dirty="0" smtClean="0"/>
              <a:t>,  themes  of </a:t>
            </a:r>
            <a:r>
              <a:rPr lang="en-US" sz="9600" dirty="0"/>
              <a:t> </a:t>
            </a:r>
            <a:r>
              <a:rPr lang="ru-RU" sz="9600" dirty="0" smtClean="0"/>
              <a:t>upcoming conferences, treaties etc. </a:t>
            </a:r>
            <a:endParaRPr lang="en-US" sz="9600" dirty="0"/>
          </a:p>
          <a:p>
            <a:pPr marL="1371600" indent="-1371600" algn="just">
              <a:buFont typeface="+mj-lt"/>
              <a:buAutoNum type="arabicPeriod"/>
            </a:pPr>
            <a:r>
              <a:rPr lang="ru-RU" sz="9600" dirty="0" smtClean="0">
                <a:solidFill>
                  <a:srgbClr val="C00000"/>
                </a:solidFill>
              </a:rPr>
              <a:t>Formation  of  pressure  groups  to  pressurize  decision</a:t>
            </a:r>
            <a:r>
              <a:rPr lang="en-US" sz="9600" dirty="0" smtClean="0">
                <a:solidFill>
                  <a:srgbClr val="C00000"/>
                </a:solidFill>
              </a:rPr>
              <a:t> </a:t>
            </a:r>
            <a:r>
              <a:rPr lang="ru-RU" sz="9600" dirty="0" smtClean="0">
                <a:solidFill>
                  <a:srgbClr val="C00000"/>
                </a:solidFill>
              </a:rPr>
              <a:t>makers </a:t>
            </a:r>
            <a:r>
              <a:rPr lang="ru-RU" sz="9600" dirty="0" smtClean="0"/>
              <a:t>to take</a:t>
            </a:r>
            <a:r>
              <a:rPr lang="en-US" sz="9600" dirty="0" smtClean="0"/>
              <a:t>/recognize</a:t>
            </a:r>
            <a:r>
              <a:rPr lang="ru-RU" sz="9600" dirty="0" smtClean="0"/>
              <a:t> their common concerns into</a:t>
            </a:r>
            <a:r>
              <a:rPr lang="en-US" sz="9600" dirty="0" smtClean="0"/>
              <a:t> </a:t>
            </a:r>
            <a:r>
              <a:rPr lang="ru-RU" sz="9600" dirty="0" smtClean="0"/>
              <a:t>cognizance (knowledge/awareness). </a:t>
            </a:r>
            <a:endParaRPr lang="en-US" sz="9600" dirty="0"/>
          </a:p>
          <a:p>
            <a:pPr marL="1371600" indent="-1371600" algn="just">
              <a:buFont typeface="+mj-lt"/>
              <a:buAutoNum type="arabicPeriod"/>
            </a:pPr>
            <a:r>
              <a:rPr lang="ru-RU" sz="9600" dirty="0" smtClean="0">
                <a:solidFill>
                  <a:srgbClr val="7030A0"/>
                </a:solidFill>
              </a:rPr>
              <a:t>Amplifying the voices of marginalized</a:t>
            </a:r>
            <a:r>
              <a:rPr lang="en-US" sz="9600" dirty="0" smtClean="0">
                <a:solidFill>
                  <a:srgbClr val="7030A0"/>
                </a:solidFill>
              </a:rPr>
              <a:t>/suppressed </a:t>
            </a:r>
            <a:r>
              <a:rPr lang="ru-RU" sz="9600" dirty="0" smtClean="0">
                <a:solidFill>
                  <a:srgbClr val="7030A0"/>
                </a:solidFill>
              </a:rPr>
              <a:t> groups </a:t>
            </a:r>
            <a:r>
              <a:rPr lang="en-US" sz="9600" dirty="0" smtClean="0">
                <a:solidFill>
                  <a:srgbClr val="7030A0"/>
                </a:solidFill>
              </a:rPr>
              <a:t> </a:t>
            </a:r>
            <a:r>
              <a:rPr lang="ru-RU" sz="9600" dirty="0" smtClean="0"/>
              <a:t>who are traditionally     marginalized     from    decision</a:t>
            </a:r>
            <a:r>
              <a:rPr lang="en-US" sz="9600" dirty="0" smtClean="0"/>
              <a:t>  </a:t>
            </a:r>
            <a:r>
              <a:rPr lang="ru-RU" sz="9600" dirty="0" smtClean="0"/>
              <a:t>making process.</a:t>
            </a:r>
            <a:endParaRPr lang="en-US" sz="9600" dirty="0" smtClean="0"/>
          </a:p>
          <a:p>
            <a:pPr marL="1371600" indent="-1371600" algn="just">
              <a:buFont typeface="+mj-lt"/>
              <a:buAutoNum type="arabicPeriod"/>
            </a:pPr>
            <a:r>
              <a:rPr lang="en-US" sz="8800" dirty="0" smtClean="0"/>
              <a:t>Advocating </a:t>
            </a:r>
            <a:r>
              <a:rPr lang="en-US" sz="8800" dirty="0"/>
              <a:t>for the rights of the marginalized groups from the decision-making organs </a:t>
            </a:r>
          </a:p>
          <a:p>
            <a:pPr marL="1371600" indent="-1371600" algn="just">
              <a:buFont typeface="+mj-lt"/>
              <a:buAutoNum type="arabicPeriod"/>
            </a:pPr>
            <a:r>
              <a:rPr lang="ru-RU" sz="9600" dirty="0" smtClean="0">
                <a:solidFill>
                  <a:srgbClr val="00B050"/>
                </a:solidFill>
              </a:rPr>
              <a:t>Building   up  wider   participation</a:t>
            </a:r>
            <a:r>
              <a:rPr lang="en-US" sz="9600" dirty="0" smtClean="0">
                <a:solidFill>
                  <a:srgbClr val="00B050"/>
                </a:solidFill>
              </a:rPr>
              <a:t>/involvement</a:t>
            </a:r>
            <a:r>
              <a:rPr lang="ru-RU" sz="9600" dirty="0" smtClean="0">
                <a:solidFill>
                  <a:srgbClr val="00B050"/>
                </a:solidFill>
              </a:rPr>
              <a:t> </a:t>
            </a:r>
            <a:r>
              <a:rPr lang="ru-RU" sz="9600" dirty="0" smtClean="0"/>
              <a:t> in   decision-making</a:t>
            </a:r>
            <a:r>
              <a:rPr lang="en-US" sz="9600" dirty="0" smtClean="0"/>
              <a:t> </a:t>
            </a:r>
            <a:r>
              <a:rPr lang="ru-RU" sz="9600" dirty="0" smtClean="0"/>
              <a:t>processes. </a:t>
            </a:r>
            <a:endParaRPr lang="en-US" sz="9600" dirty="0"/>
          </a:p>
          <a:p>
            <a:pPr marL="1371600" indent="-1371600" algn="just">
              <a:buFont typeface="+mj-lt"/>
              <a:buAutoNum type="arabicPeriod"/>
            </a:pPr>
            <a:r>
              <a:rPr lang="en-US" sz="9600" dirty="0" smtClean="0">
                <a:solidFill>
                  <a:srgbClr val="C00000"/>
                </a:solidFill>
              </a:rPr>
              <a:t>Developing</a:t>
            </a:r>
            <a:r>
              <a:rPr lang="ru-RU" sz="9600" dirty="0" smtClean="0">
                <a:solidFill>
                  <a:srgbClr val="C00000"/>
                </a:solidFill>
              </a:rPr>
              <a:t> global expertise </a:t>
            </a:r>
            <a:r>
              <a:rPr lang="ru-RU" sz="9600" dirty="0" smtClean="0"/>
              <a:t>on a particular theme in absence   of  localized   information   to  aid   decision-</a:t>
            </a:r>
            <a:r>
              <a:rPr lang="en-US" sz="9600" dirty="0" smtClean="0"/>
              <a:t> </a:t>
            </a:r>
            <a:r>
              <a:rPr lang="ru-RU" sz="9600" dirty="0" smtClean="0"/>
              <a:t>making. </a:t>
            </a:r>
            <a:endParaRPr lang="en-US" sz="9600" dirty="0" smtClean="0"/>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533400"/>
          </a:xfrm>
        </p:spPr>
        <p:txBody>
          <a:bodyPr>
            <a:normAutofit fontScale="90000"/>
          </a:bodyPr>
          <a:lstStyle/>
          <a:p>
            <a:r>
              <a:rPr lang="ru-RU" sz="3600" dirty="0" smtClean="0">
                <a:solidFill>
                  <a:srgbClr val="0070C0"/>
                </a:solidFill>
              </a:rPr>
              <a:t>Mobilization  and Lobbying Model</a:t>
            </a:r>
            <a:endParaRPr lang="en-US" sz="3600" dirty="0"/>
          </a:p>
        </p:txBody>
      </p:sp>
      <p:sp>
        <p:nvSpPr>
          <p:cNvPr id="3" name="Content Placeholder 2"/>
          <p:cNvSpPr>
            <a:spLocks noGrp="1"/>
          </p:cNvSpPr>
          <p:nvPr>
            <p:ph idx="1"/>
          </p:nvPr>
        </p:nvSpPr>
        <p:spPr>
          <a:xfrm>
            <a:off x="258097" y="1152832"/>
            <a:ext cx="8229600" cy="5095568"/>
          </a:xfrm>
        </p:spPr>
        <p:txBody>
          <a:bodyPr>
            <a:noAutofit/>
          </a:bodyPr>
          <a:lstStyle/>
          <a:p>
            <a:pPr algn="just"/>
            <a:r>
              <a:rPr lang="ru-RU" sz="2000" dirty="0" smtClean="0"/>
              <a:t>The model has </a:t>
            </a:r>
            <a:r>
              <a:rPr lang="ru-RU" sz="2000" dirty="0" smtClean="0">
                <a:solidFill>
                  <a:srgbClr val="00B050"/>
                </a:solidFill>
              </a:rPr>
              <a:t>grown tremendously since the onset of debates for the Seattle  round  of World  Trade  Organization  </a:t>
            </a:r>
            <a:r>
              <a:rPr lang="ru-RU" sz="2000" dirty="0" smtClean="0"/>
              <a:t>(WTO)  in  1999 when  it   saw  the  formation   of  several  virtual  communities   to advocate  the   concerns  of   developing  countries  in   the  WTO agreement. </a:t>
            </a:r>
            <a:endParaRPr lang="en-US" sz="2000" dirty="0" smtClean="0"/>
          </a:p>
          <a:p>
            <a:pPr lvl="1" algn="just">
              <a:buFont typeface="Wingdings" panose="05000000000000000000" pitchFamily="2" charset="2"/>
              <a:buChar char="ü"/>
            </a:pPr>
            <a:r>
              <a:rPr lang="ru-RU" sz="2000" dirty="0" smtClean="0"/>
              <a:t>The </a:t>
            </a:r>
            <a:r>
              <a:rPr lang="ru-RU" sz="2000" dirty="0" smtClean="0">
                <a:solidFill>
                  <a:srgbClr val="00B050"/>
                </a:solidFill>
              </a:rPr>
              <a:t>display of a unified civil society force at Seattle was in many ways a result of intensive discussions that took place over virtual networks</a:t>
            </a:r>
            <a:r>
              <a:rPr lang="en-US" sz="2000" dirty="0" smtClean="0">
                <a:solidFill>
                  <a:srgbClr val="00B050"/>
                </a:solidFill>
              </a:rPr>
              <a:t> </a:t>
            </a:r>
            <a:r>
              <a:rPr lang="ru-RU" sz="2000" dirty="0" smtClean="0">
                <a:solidFill>
                  <a:srgbClr val="00B050"/>
                </a:solidFill>
              </a:rPr>
              <a:t>months prior to the summit</a:t>
            </a:r>
            <a:r>
              <a:rPr lang="ru-RU" sz="2000" dirty="0" smtClean="0"/>
              <a:t>. </a:t>
            </a:r>
            <a:endParaRPr lang="en-US" sz="2000" dirty="0" smtClean="0"/>
          </a:p>
          <a:p>
            <a:pPr algn="just"/>
            <a:r>
              <a:rPr lang="ru-RU" sz="2000" dirty="0" smtClean="0"/>
              <a:t>The discussions taking place over the virtual network fed into regional level action plans that built into the global movement. </a:t>
            </a:r>
            <a:endParaRPr lang="en-US" sz="2000" dirty="0" smtClean="0"/>
          </a:p>
          <a:p>
            <a:pPr algn="just"/>
            <a:r>
              <a:rPr lang="en-US" sz="2000" dirty="0" smtClean="0"/>
              <a:t>A Community may no longer find itself isolated but may find an ally for mobilizing effective action through this model.</a:t>
            </a:r>
          </a:p>
          <a:p>
            <a:pPr algn="just"/>
            <a:r>
              <a:rPr lang="ru-RU" sz="2000" dirty="0" smtClean="0"/>
              <a:t>The   mobilization  and  lobbying  model  </a:t>
            </a:r>
            <a:r>
              <a:rPr lang="ru-RU" sz="2000" dirty="0" smtClean="0">
                <a:solidFill>
                  <a:srgbClr val="C00000"/>
                </a:solidFill>
              </a:rPr>
              <a:t>enhances  the   scope  of participation of individuals and communities in policy issues and debates.</a:t>
            </a:r>
            <a:endParaRPr lang="en-US" sz="2000" dirty="0" smtClean="0">
              <a:solidFill>
                <a:srgbClr val="C00000"/>
              </a:solidFill>
            </a:endParaRPr>
          </a:p>
          <a:p>
            <a:pPr lvl="1" algn="just">
              <a:buFont typeface="Wingdings" panose="05000000000000000000" pitchFamily="2" charset="2"/>
              <a:buChar char="ü"/>
            </a:pPr>
            <a:r>
              <a:rPr lang="en-US" sz="2000" dirty="0"/>
              <a:t>The model increases the range of membership of individuals and communities in debates and any policy </a:t>
            </a:r>
            <a:r>
              <a:rPr lang="en-US" sz="2000" dirty="0" smtClean="0"/>
              <a:t>issues</a:t>
            </a:r>
            <a:endParaRPr lang="en-US" sz="2000" dirty="0" smtClean="0">
              <a:solidFill>
                <a:srgbClr val="C0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4149591699"/>
              </p:ext>
            </p:extLst>
          </p:nvPr>
        </p:nvGraphicFramePr>
        <p:xfrm>
          <a:off x="258097" y="685800"/>
          <a:ext cx="4648200" cy="368300"/>
        </p:xfrm>
        <a:graphic>
          <a:graphicData uri="http://schemas.openxmlformats.org/drawingml/2006/table">
            <a:tbl>
              <a:tblPr/>
              <a:tblGrid>
                <a:gridCol w="4648200">
                  <a:extLst>
                    <a:ext uri="{9D8B030D-6E8A-4147-A177-3AD203B41FA5}">
                      <a16:colId xmlns:a16="http://schemas.microsoft.com/office/drawing/2014/main" val="20000"/>
                    </a:ext>
                  </a:extLst>
                </a:gridCol>
              </a:tblGrid>
              <a:tr h="0">
                <a:tc>
                  <a:txBody>
                    <a:bodyPr/>
                    <a:lstStyle/>
                    <a:p>
                      <a:pPr marL="0" marR="0" algn="l">
                        <a:lnSpc>
                          <a:spcPts val="2875"/>
                        </a:lnSpc>
                        <a:spcBef>
                          <a:spcPts val="0"/>
                        </a:spcBef>
                        <a:spcAft>
                          <a:spcPts val="0"/>
                        </a:spcAft>
                      </a:pPr>
                      <a:r>
                        <a:rPr lang="ru-RU" sz="2400" dirty="0" smtClean="0">
                          <a:solidFill>
                            <a:srgbClr val="000000"/>
                          </a:solidFill>
                          <a:latin typeface="RLBHGC+FuturaBT-Light"/>
                          <a:ea typeface="Calibri"/>
                          <a:cs typeface="Times New Roman"/>
                        </a:rPr>
                        <a:t>   </a:t>
                      </a:r>
                      <a:r>
                        <a:rPr lang="ru-RU" sz="2400" dirty="0">
                          <a:solidFill>
                            <a:srgbClr val="FF0000"/>
                          </a:solidFill>
                          <a:latin typeface="RLBHGC+FuturaBT-Light"/>
                          <a:ea typeface="Calibri"/>
                          <a:cs typeface="Times New Roman"/>
                        </a:rPr>
                        <a:t>Evaluation (Pros and Cons)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ru-RU" dirty="0">
                <a:solidFill>
                  <a:srgbClr val="0070C0"/>
                </a:solidFill>
              </a:rPr>
              <a:t>Mobilization  and Lobbying Model</a:t>
            </a:r>
            <a:endParaRPr lang="en-US" dirty="0"/>
          </a:p>
        </p:txBody>
      </p:sp>
      <p:sp>
        <p:nvSpPr>
          <p:cNvPr id="3" name="Content Placeholder 2"/>
          <p:cNvSpPr>
            <a:spLocks noGrp="1"/>
          </p:cNvSpPr>
          <p:nvPr>
            <p:ph idx="1"/>
          </p:nvPr>
        </p:nvSpPr>
        <p:spPr>
          <a:xfrm>
            <a:off x="457200" y="1905000"/>
            <a:ext cx="8229600" cy="4038600"/>
          </a:xfrm>
        </p:spPr>
        <p:txBody>
          <a:bodyPr>
            <a:normAutofit/>
          </a:bodyPr>
          <a:lstStyle/>
          <a:p>
            <a:pPr algn="just"/>
            <a:r>
              <a:rPr lang="ru-RU" sz="2400" dirty="0"/>
              <a:t>The model also </a:t>
            </a:r>
            <a:r>
              <a:rPr lang="ru-RU" sz="2400" dirty="0">
                <a:solidFill>
                  <a:srgbClr val="7030A0"/>
                </a:solidFill>
              </a:rPr>
              <a:t>creates an effective  deterrent (restriction) for government bodies and individuals to be watchful in their actions </a:t>
            </a:r>
            <a:r>
              <a:rPr lang="en-US" sz="2400" dirty="0">
                <a:solidFill>
                  <a:srgbClr val="7030A0"/>
                </a:solidFill>
              </a:rPr>
              <a:t>in case</a:t>
            </a:r>
            <a:r>
              <a:rPr lang="ru-RU" sz="2400" dirty="0">
                <a:solidFill>
                  <a:srgbClr val="7030A0"/>
                </a:solidFill>
              </a:rPr>
              <a:t> they turn the opinion of local and global community against them. </a:t>
            </a:r>
            <a:endParaRPr lang="en-US" sz="2400" dirty="0">
              <a:solidFill>
                <a:srgbClr val="7030A0"/>
              </a:solidFill>
            </a:endParaRPr>
          </a:p>
          <a:p>
            <a:pPr algn="just"/>
            <a:r>
              <a:rPr lang="ru-RU" sz="2400" dirty="0"/>
              <a:t>This model could be </a:t>
            </a:r>
            <a:r>
              <a:rPr lang="ru-RU" sz="2400" dirty="0">
                <a:solidFill>
                  <a:srgbClr val="FF0000"/>
                </a:solidFill>
              </a:rPr>
              <a:t>effectively used by the Government to encourage public debates and to gauge public opinion on a particular issue  </a:t>
            </a:r>
            <a:r>
              <a:rPr lang="ru-RU" sz="2400" dirty="0"/>
              <a:t>as  a  part  of good governance strategies. </a:t>
            </a:r>
            <a:endParaRPr lang="en-US" sz="2400"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663031459"/>
              </p:ext>
            </p:extLst>
          </p:nvPr>
        </p:nvGraphicFramePr>
        <p:xfrm>
          <a:off x="304800" y="1317727"/>
          <a:ext cx="4648200" cy="368300"/>
        </p:xfrm>
        <a:graphic>
          <a:graphicData uri="http://schemas.openxmlformats.org/drawingml/2006/table">
            <a:tbl>
              <a:tblPr/>
              <a:tblGrid>
                <a:gridCol w="4648200">
                  <a:extLst>
                    <a:ext uri="{9D8B030D-6E8A-4147-A177-3AD203B41FA5}">
                      <a16:colId xmlns:a16="http://schemas.microsoft.com/office/drawing/2014/main" val="20000"/>
                    </a:ext>
                  </a:extLst>
                </a:gridCol>
              </a:tblGrid>
              <a:tr h="0">
                <a:tc>
                  <a:txBody>
                    <a:bodyPr/>
                    <a:lstStyle/>
                    <a:p>
                      <a:pPr marL="0" marR="0" algn="l">
                        <a:lnSpc>
                          <a:spcPts val="2875"/>
                        </a:lnSpc>
                        <a:spcBef>
                          <a:spcPts val="0"/>
                        </a:spcBef>
                        <a:spcAft>
                          <a:spcPts val="0"/>
                        </a:spcAft>
                      </a:pPr>
                      <a:r>
                        <a:rPr lang="ru-RU" sz="2400" dirty="0" smtClean="0">
                          <a:solidFill>
                            <a:srgbClr val="000000"/>
                          </a:solidFill>
                          <a:latin typeface="RLBHGC+FuturaBT-Light"/>
                          <a:ea typeface="Calibri"/>
                          <a:cs typeface="Times New Roman"/>
                        </a:rPr>
                        <a:t>   </a:t>
                      </a:r>
                      <a:r>
                        <a:rPr lang="ru-RU" sz="2400" dirty="0">
                          <a:solidFill>
                            <a:srgbClr val="FF0000"/>
                          </a:solidFill>
                          <a:latin typeface="RLBHGC+FuturaBT-Light"/>
                          <a:ea typeface="Calibri"/>
                          <a:cs typeface="Times New Roman"/>
                        </a:rPr>
                        <a:t>Evaluation (Pros and Cons)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70432320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ru-RU" sz="3600" dirty="0" smtClean="0">
                <a:solidFill>
                  <a:srgbClr val="0070C0"/>
                </a:solidFill>
              </a:rPr>
              <a:t>Organizations / Projects based on Mobilization and Lobbying Model </a:t>
            </a:r>
            <a:endParaRPr lang="en-US" sz="3600" dirty="0">
              <a:solidFill>
                <a:srgbClr val="0070C0"/>
              </a:solidFill>
            </a:endParaRPr>
          </a:p>
        </p:txBody>
      </p:sp>
      <p:sp>
        <p:nvSpPr>
          <p:cNvPr id="3" name="Content Placeholder 2"/>
          <p:cNvSpPr>
            <a:spLocks noGrp="1"/>
          </p:cNvSpPr>
          <p:nvPr>
            <p:ph idx="1"/>
          </p:nvPr>
        </p:nvSpPr>
        <p:spPr>
          <a:xfrm>
            <a:off x="457200" y="1143000"/>
            <a:ext cx="8382000" cy="5334000"/>
          </a:xfrm>
        </p:spPr>
        <p:txBody>
          <a:bodyPr>
            <a:normAutofit fontScale="32500" lnSpcReduction="20000"/>
          </a:bodyPr>
          <a:lstStyle/>
          <a:p>
            <a:pPr algn="just">
              <a:buFont typeface="Wingdings" pitchFamily="2" charset="2"/>
              <a:buChar char="q"/>
            </a:pPr>
            <a:r>
              <a:rPr lang="ru-RU" sz="7200" dirty="0" smtClean="0"/>
              <a:t>India</a:t>
            </a:r>
            <a:endParaRPr lang="en-US" sz="7200" dirty="0" smtClean="0"/>
          </a:p>
          <a:p>
            <a:pPr algn="just"/>
            <a:r>
              <a:rPr lang="ru-RU" sz="7200" dirty="0" smtClean="0"/>
              <a:t>Panchayats:</a:t>
            </a:r>
            <a:r>
              <a:rPr lang="ru-RU" sz="7200" u="sng" dirty="0" smtClean="0"/>
              <a:t> http://www.panchayats.org</a:t>
            </a:r>
            <a:endParaRPr lang="en-US" sz="7200" u="sng" dirty="0" smtClean="0"/>
          </a:p>
          <a:p>
            <a:pPr lvl="1" algn="just">
              <a:buFont typeface="Wingdings" panose="05000000000000000000" pitchFamily="2" charset="2"/>
              <a:buChar char="ü"/>
            </a:pPr>
            <a:r>
              <a:rPr lang="ru-RU" sz="6800" dirty="0" smtClean="0"/>
              <a:t>A  </a:t>
            </a:r>
            <a:r>
              <a:rPr lang="ru-RU" sz="6800" dirty="0" smtClean="0">
                <a:solidFill>
                  <a:srgbClr val="C00000"/>
                </a:solidFill>
              </a:rPr>
              <a:t>discussion  list  run  by  Indian  professionals  to  discuss  policy  issues  and  case-studies relating to local livelihood strategies    and  decentralised  natural  resources management</a:t>
            </a:r>
            <a:r>
              <a:rPr lang="ru-RU" sz="6800" dirty="0" smtClean="0"/>
              <a:t>.  </a:t>
            </a:r>
            <a:endParaRPr lang="en-US" sz="6800" dirty="0" smtClean="0"/>
          </a:p>
          <a:p>
            <a:pPr lvl="1" algn="just">
              <a:buFont typeface="Wingdings" panose="05000000000000000000" pitchFamily="2" charset="2"/>
              <a:buChar char="ü"/>
            </a:pPr>
            <a:r>
              <a:rPr lang="ru-RU" sz="6800" dirty="0" smtClean="0"/>
              <a:t>The  participation  is  open  and  the  list  generates  useful  discussion between practitioners, activists and policy makers. </a:t>
            </a:r>
            <a:endParaRPr lang="en-US" sz="6800" dirty="0" smtClean="0"/>
          </a:p>
          <a:p>
            <a:pPr algn="just">
              <a:buFont typeface="Wingdings" pitchFamily="2" charset="2"/>
              <a:buChar char="q"/>
            </a:pPr>
            <a:r>
              <a:rPr lang="ru-RU" sz="7200" dirty="0" smtClean="0"/>
              <a:t>Global</a:t>
            </a:r>
            <a:endParaRPr lang="en-US" sz="7200" dirty="0" smtClean="0"/>
          </a:p>
          <a:p>
            <a:pPr algn="just"/>
            <a:r>
              <a:rPr lang="ru-RU" sz="7200" dirty="0" smtClean="0"/>
              <a:t>Independent Media Centre: </a:t>
            </a:r>
            <a:r>
              <a:rPr lang="ru-RU" sz="7200" u="sng" dirty="0" smtClean="0"/>
              <a:t>http://www.indymedia.org/ </a:t>
            </a:r>
            <a:endParaRPr lang="en-US" sz="7200" u="sng" dirty="0" smtClean="0"/>
          </a:p>
          <a:p>
            <a:pPr lvl="1" algn="just">
              <a:buFont typeface="Wingdings" panose="05000000000000000000" pitchFamily="2" charset="2"/>
              <a:buChar char="ü"/>
            </a:pPr>
            <a:r>
              <a:rPr lang="ru-RU" sz="6800" dirty="0" smtClean="0"/>
              <a:t>The  Center   was   established  by   </a:t>
            </a:r>
            <a:r>
              <a:rPr lang="ru-RU" sz="6800" dirty="0" smtClean="0">
                <a:solidFill>
                  <a:srgbClr val="C00000"/>
                </a:solidFill>
              </a:rPr>
              <a:t>various  independent   and  alternative   media</a:t>
            </a:r>
            <a:r>
              <a:rPr lang="en-US" sz="6800" dirty="0" smtClean="0">
                <a:solidFill>
                  <a:srgbClr val="C00000"/>
                </a:solidFill>
              </a:rPr>
              <a:t> </a:t>
            </a:r>
            <a:r>
              <a:rPr lang="ru-RU" sz="6800" dirty="0" smtClean="0">
                <a:solidFill>
                  <a:srgbClr val="C00000"/>
                </a:solidFill>
              </a:rPr>
              <a:t>organisations to provide grassroots coverage of WTO-Seattle </a:t>
            </a:r>
            <a:r>
              <a:rPr lang="ru-RU" sz="6800" dirty="0" smtClean="0"/>
              <a:t>in 1999. </a:t>
            </a:r>
            <a:endParaRPr lang="en-US" sz="6800" dirty="0" smtClean="0"/>
          </a:p>
          <a:p>
            <a:pPr lvl="1" algn="just">
              <a:buFont typeface="Wingdings" panose="05000000000000000000" pitchFamily="2" charset="2"/>
              <a:buChar char="ü"/>
            </a:pPr>
            <a:r>
              <a:rPr lang="ru-RU" sz="6800" dirty="0" smtClean="0"/>
              <a:t>The Center acted as a clearinghouse of information    for journalists, and   provided  up-to-the-minute reports, photos, audio and video footage through its website. </a:t>
            </a:r>
            <a:endParaRPr lang="en-US" sz="6800" dirty="0" smtClean="0"/>
          </a:p>
          <a:p>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684" y="152400"/>
            <a:ext cx="8915400" cy="715962"/>
          </a:xfrm>
        </p:spPr>
        <p:txBody>
          <a:bodyPr>
            <a:normAutofit fontScale="90000"/>
          </a:bodyPr>
          <a:lstStyle/>
          <a:p>
            <a:r>
              <a:rPr lang="ru-RU" sz="2800" b="1" dirty="0">
                <a:solidFill>
                  <a:srgbClr val="0070C0"/>
                </a:solidFill>
              </a:rPr>
              <a:t>Organizations / Projects based on Mobilization and Lobbying Model </a:t>
            </a:r>
            <a:endParaRPr lang="en-US" sz="2800" b="1" dirty="0"/>
          </a:p>
        </p:txBody>
      </p:sp>
      <p:sp>
        <p:nvSpPr>
          <p:cNvPr id="3" name="Content Placeholder 2"/>
          <p:cNvSpPr>
            <a:spLocks noGrp="1"/>
          </p:cNvSpPr>
          <p:nvPr>
            <p:ph idx="1"/>
          </p:nvPr>
        </p:nvSpPr>
        <p:spPr>
          <a:xfrm>
            <a:off x="243349" y="762000"/>
            <a:ext cx="8610600" cy="4525963"/>
          </a:xfrm>
        </p:spPr>
        <p:txBody>
          <a:bodyPr>
            <a:noAutofit/>
          </a:bodyPr>
          <a:lstStyle/>
          <a:p>
            <a:pPr algn="just">
              <a:buFont typeface="Wingdings" pitchFamily="2" charset="2"/>
              <a:buChar char="q"/>
            </a:pPr>
            <a:r>
              <a:rPr lang="ru-RU" sz="2000" dirty="0" smtClean="0"/>
              <a:t>Global</a:t>
            </a:r>
            <a:r>
              <a:rPr lang="en-US" sz="2000" dirty="0" smtClean="0"/>
              <a:t>: </a:t>
            </a:r>
            <a:r>
              <a:rPr lang="en-US" sz="2000" b="1" dirty="0" smtClean="0"/>
              <a:t>Greenpeace </a:t>
            </a:r>
            <a:r>
              <a:rPr lang="en-US" sz="2000" b="1" dirty="0"/>
              <a:t>Cyber-activist Community</a:t>
            </a:r>
            <a:r>
              <a:rPr lang="ru-RU" sz="2000" dirty="0" smtClean="0"/>
              <a:t> </a:t>
            </a:r>
            <a:r>
              <a:rPr lang="en-US" sz="2000" b="1" dirty="0">
                <a:hlinkClick r:id="rId2"/>
              </a:rPr>
              <a:t>http://cybercentre.greenpeace.org/t/s/community_articles</a:t>
            </a:r>
            <a:endParaRPr lang="en-US" sz="2000" u="sng" dirty="0"/>
          </a:p>
          <a:p>
            <a:pPr lvl="1" algn="just">
              <a:buFont typeface="Wingdings" panose="05000000000000000000" pitchFamily="2" charset="2"/>
              <a:buChar char="ü"/>
            </a:pPr>
            <a:r>
              <a:rPr lang="ru-RU" sz="1800" dirty="0"/>
              <a:t>The  Greenpeace  Cyberactivist  Community  has  members  from  more  than  170 countries and </a:t>
            </a:r>
            <a:r>
              <a:rPr lang="ru-RU" sz="1800" dirty="0" smtClean="0"/>
              <a:t>territories </a:t>
            </a:r>
            <a:r>
              <a:rPr lang="ru-RU" sz="1800" dirty="0"/>
              <a:t>and is growing quickly. </a:t>
            </a:r>
            <a:endParaRPr lang="en-US" sz="1800" dirty="0" smtClean="0"/>
          </a:p>
          <a:p>
            <a:pPr lvl="1" algn="just">
              <a:buFont typeface="Wingdings" panose="05000000000000000000" pitchFamily="2" charset="2"/>
              <a:buChar char="ü"/>
            </a:pPr>
            <a:r>
              <a:rPr lang="ru-RU" sz="1800" dirty="0" smtClean="0"/>
              <a:t>It </a:t>
            </a:r>
            <a:r>
              <a:rPr lang="ru-RU" sz="1800" dirty="0"/>
              <a:t>is </a:t>
            </a:r>
            <a:r>
              <a:rPr lang="ru-RU" sz="1800" dirty="0">
                <a:solidFill>
                  <a:srgbClr val="C00000"/>
                </a:solidFill>
              </a:rPr>
              <a:t>an effort towards creation of virtual  communities  to  mobilise global  support  against  some  of  the  disputable environmental  policies/   actions  of   the  Government</a:t>
            </a:r>
            <a:r>
              <a:rPr lang="ru-RU" sz="1800" dirty="0"/>
              <a:t>.  </a:t>
            </a:r>
            <a:endParaRPr lang="en-US" sz="1800" dirty="0" smtClean="0"/>
          </a:p>
          <a:p>
            <a:pPr lvl="1" algn="just">
              <a:buFont typeface="Wingdings" panose="05000000000000000000" pitchFamily="2" charset="2"/>
              <a:buChar char="ü"/>
            </a:pPr>
            <a:r>
              <a:rPr lang="ru-RU" sz="1800" dirty="0" smtClean="0"/>
              <a:t>Members  </a:t>
            </a:r>
            <a:r>
              <a:rPr lang="ru-RU" sz="1800" dirty="0"/>
              <a:t>receive   email campaign updates,  and can send   letters to  key  corporate  and  political  decision makers, download action  kits, send e-cards to friends and colleagues, participate in on-line  discussions, and play a significant role in helping to win environmental campaigns.</a:t>
            </a:r>
            <a:endParaRPr lang="en-US" sz="1800" dirty="0"/>
          </a:p>
          <a:p>
            <a:r>
              <a:rPr lang="en-US" sz="2000" b="1" dirty="0"/>
              <a:t>Global: IGC Internet </a:t>
            </a:r>
            <a:r>
              <a:rPr lang="en-US" sz="2000" b="1" dirty="0" smtClean="0"/>
              <a:t>  </a:t>
            </a:r>
            <a:r>
              <a:rPr lang="en-US" sz="2000" b="1" dirty="0">
                <a:hlinkClick r:id="rId3"/>
              </a:rPr>
              <a:t>http://</a:t>
            </a:r>
            <a:r>
              <a:rPr lang="en-US" sz="2000" b="1" dirty="0" smtClean="0">
                <a:hlinkClick r:id="rId3"/>
              </a:rPr>
              <a:t>www.igc.org</a:t>
            </a:r>
            <a:endParaRPr lang="en-US" sz="2000" b="1" dirty="0"/>
          </a:p>
          <a:p>
            <a:pPr lvl="1" algn="just">
              <a:buFont typeface="Wingdings" panose="05000000000000000000" pitchFamily="2" charset="2"/>
              <a:buChar char="ü"/>
            </a:pPr>
            <a:r>
              <a:rPr lang="en-US" sz="1800" dirty="0" smtClean="0"/>
              <a:t>Institute </a:t>
            </a:r>
            <a:r>
              <a:rPr lang="en-US" sz="1800" dirty="0"/>
              <a:t>for Global Communications (IGC) has changed the way the progressive community worked by introducing them to email, online discussions, mailing lists and the Web. </a:t>
            </a:r>
            <a:endParaRPr lang="en-US" sz="1800" dirty="0" smtClean="0"/>
          </a:p>
          <a:p>
            <a:pPr lvl="1" algn="just">
              <a:buFont typeface="Wingdings" panose="05000000000000000000" pitchFamily="2" charset="2"/>
              <a:buChar char="ü"/>
            </a:pPr>
            <a:r>
              <a:rPr lang="en-US" sz="1800" dirty="0" smtClean="0"/>
              <a:t>IGC </a:t>
            </a:r>
            <a:r>
              <a:rPr lang="en-US" sz="1800" dirty="0"/>
              <a:t>Internet offers progressive individuals and groups a place on the Internet to learn, meet and organize. </a:t>
            </a:r>
            <a:endParaRPr lang="en-US" sz="1800" dirty="0" smtClean="0"/>
          </a:p>
          <a:p>
            <a:pPr lvl="1" algn="just">
              <a:buFont typeface="Wingdings" panose="05000000000000000000" pitchFamily="2" charset="2"/>
              <a:buChar char="ü"/>
            </a:pPr>
            <a:r>
              <a:rPr lang="en-US" sz="1800" dirty="0" smtClean="0"/>
              <a:t>At </a:t>
            </a:r>
            <a:r>
              <a:rPr lang="en-US" sz="1800" dirty="0"/>
              <a:t>the moment, IGC Internet is changing to take its community of activists and non-profit professionals into the Internet's next wave by focusing on content, information sharing and new, collaborative tools</a:t>
            </a:r>
            <a:r>
              <a:rPr lang="en-US" sz="1800" dirty="0" smtClean="0"/>
              <a:t>.</a:t>
            </a:r>
            <a:r>
              <a:rPr lang="en-US" sz="1800" dirty="0"/>
              <a:t>   </a:t>
            </a:r>
            <a:r>
              <a:rPr lang="en-US" sz="1800" b="1" dirty="0"/>
              <a:t>    </a:t>
            </a:r>
            <a:endParaRPr lang="en-US" sz="1800" dirty="0"/>
          </a:p>
        </p:txBody>
      </p:sp>
    </p:spTree>
    <p:extLst>
      <p:ext uri="{BB962C8B-B14F-4D97-AF65-F5344CB8AC3E}">
        <p14:creationId xmlns:p14="http://schemas.microsoft.com/office/powerpoint/2010/main" val="79650112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Autofit/>
          </a:bodyPr>
          <a:lstStyle/>
          <a:p>
            <a:r>
              <a:rPr lang="ru-RU" sz="3600" dirty="0">
                <a:solidFill>
                  <a:srgbClr val="0070C0"/>
                </a:solidFill>
              </a:rPr>
              <a:t>Interactive-Service Model / Government to </a:t>
            </a:r>
            <a:r>
              <a:rPr lang="en-US" sz="3600" dirty="0">
                <a:solidFill>
                  <a:srgbClr val="0070C0"/>
                </a:solidFill>
              </a:rPr>
              <a:t/>
            </a:r>
            <a:br>
              <a:rPr lang="en-US" sz="3600" dirty="0">
                <a:solidFill>
                  <a:srgbClr val="0070C0"/>
                </a:solidFill>
              </a:rPr>
            </a:br>
            <a:r>
              <a:rPr lang="ru-RU" sz="3600" dirty="0">
                <a:solidFill>
                  <a:srgbClr val="0070C0"/>
                </a:solidFill>
              </a:rPr>
              <a:t>Citizen to Government Model (G2C2G) </a:t>
            </a:r>
            <a:endParaRPr lang="en-US" sz="3600" dirty="0"/>
          </a:p>
        </p:txBody>
      </p:sp>
      <p:sp>
        <p:nvSpPr>
          <p:cNvPr id="3" name="Content Placeholder 2"/>
          <p:cNvSpPr>
            <a:spLocks noGrp="1"/>
          </p:cNvSpPr>
          <p:nvPr>
            <p:ph idx="1"/>
          </p:nvPr>
        </p:nvSpPr>
        <p:spPr/>
        <p:txBody>
          <a:bodyPr>
            <a:normAutofit/>
          </a:bodyPr>
          <a:lstStyle/>
          <a:p>
            <a:pPr algn="just"/>
            <a:r>
              <a:rPr lang="en-US" sz="2400" dirty="0"/>
              <a:t>Interactive-service system of government can also be referred to as </a:t>
            </a:r>
            <a:r>
              <a:rPr lang="en-US" sz="2400" dirty="0">
                <a:solidFill>
                  <a:srgbClr val="FF0000"/>
                </a:solidFill>
              </a:rPr>
              <a:t>Government to Citizen to Government model. </a:t>
            </a:r>
            <a:endParaRPr lang="en-US" sz="2400" dirty="0" smtClean="0">
              <a:solidFill>
                <a:srgbClr val="FF0000"/>
              </a:solidFill>
            </a:endParaRPr>
          </a:p>
          <a:p>
            <a:pPr algn="just"/>
            <a:r>
              <a:rPr lang="en-US" sz="2400" dirty="0" smtClean="0"/>
              <a:t>This </a:t>
            </a:r>
            <a:r>
              <a:rPr lang="en-US" sz="2400" dirty="0"/>
              <a:t>model is a consolidation of different E-governance models and allows </a:t>
            </a:r>
            <a:r>
              <a:rPr lang="en-US" sz="2400" dirty="0">
                <a:solidFill>
                  <a:srgbClr val="FF0000"/>
                </a:solidFill>
              </a:rPr>
              <a:t>direct participation of persons in the digital governance process. </a:t>
            </a:r>
            <a:endParaRPr lang="en-US" sz="2400" dirty="0" smtClean="0">
              <a:solidFill>
                <a:srgbClr val="FF0000"/>
              </a:solidFill>
            </a:endParaRPr>
          </a:p>
          <a:p>
            <a:pPr algn="just"/>
            <a:r>
              <a:rPr lang="en-US" sz="2400" dirty="0" smtClean="0"/>
              <a:t>This model opens </a:t>
            </a:r>
            <a:r>
              <a:rPr lang="en-US" sz="2400" dirty="0"/>
              <a:t>up </a:t>
            </a:r>
            <a:r>
              <a:rPr lang="en-US" sz="2400" dirty="0" smtClean="0"/>
              <a:t>possibilities </a:t>
            </a:r>
            <a:r>
              <a:rPr lang="en-US" sz="2400" dirty="0"/>
              <a:t>for one-to-one and self-serviced participation of individuals in governance processes. </a:t>
            </a:r>
            <a:endParaRPr lang="en-US" sz="2400" dirty="0" smtClean="0"/>
          </a:p>
          <a:p>
            <a:pPr algn="just"/>
            <a:r>
              <a:rPr lang="en-US" sz="2400" dirty="0"/>
              <a:t>ICTs have the potential to bring every individual into a digital network and enable interactive (two-ways or multiple-ways) flow of information among them.</a:t>
            </a:r>
            <a:endParaRPr lang="en-US" sz="2400" dirty="0" smtClean="0">
              <a:solidFill>
                <a:srgbClr val="FF0000"/>
              </a:solidFill>
            </a:endParaRPr>
          </a:p>
        </p:txBody>
      </p:sp>
    </p:spTree>
    <p:extLst>
      <p:ext uri="{BB962C8B-B14F-4D97-AF65-F5344CB8AC3E}">
        <p14:creationId xmlns:p14="http://schemas.microsoft.com/office/powerpoint/2010/main" val="124646977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Autofit/>
          </a:bodyPr>
          <a:lstStyle/>
          <a:p>
            <a:r>
              <a:rPr lang="ru-RU" sz="3600" dirty="0" smtClean="0">
                <a:solidFill>
                  <a:srgbClr val="0070C0"/>
                </a:solidFill>
              </a:rPr>
              <a:t>Interactive-Service Model / Government to </a:t>
            </a:r>
            <a:r>
              <a:rPr lang="en-US" sz="3600" dirty="0" smtClean="0">
                <a:solidFill>
                  <a:srgbClr val="0070C0"/>
                </a:solidFill>
              </a:rPr>
              <a:t/>
            </a:r>
            <a:br>
              <a:rPr lang="en-US" sz="3600" dirty="0" smtClean="0">
                <a:solidFill>
                  <a:srgbClr val="0070C0"/>
                </a:solidFill>
              </a:rPr>
            </a:br>
            <a:r>
              <a:rPr lang="ru-RU" sz="3600" dirty="0" smtClean="0">
                <a:solidFill>
                  <a:srgbClr val="0070C0"/>
                </a:solidFill>
              </a:rPr>
              <a:t>Citizen to Government Model (G2C2G) </a:t>
            </a:r>
            <a:endParaRPr lang="en-US" sz="3600" dirty="0">
              <a:solidFill>
                <a:srgbClr val="0070C0"/>
              </a:solidFill>
            </a:endParaRPr>
          </a:p>
        </p:txBody>
      </p:sp>
      <p:pic>
        <p:nvPicPr>
          <p:cNvPr id="4" name="Content Placeholder 3"/>
          <p:cNvPicPr>
            <a:picLocks noGrp="1" noChangeAspect="1"/>
          </p:cNvPicPr>
          <p:nvPr>
            <p:ph idx="1"/>
          </p:nvPr>
        </p:nvPicPr>
        <p:blipFill>
          <a:blip r:embed="rId2"/>
          <a:stretch>
            <a:fillRect/>
          </a:stretch>
        </p:blipFill>
        <p:spPr>
          <a:xfrm>
            <a:off x="1219200" y="1524000"/>
            <a:ext cx="6895148" cy="4343400"/>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4000" dirty="0" smtClean="0">
                <a:solidFill>
                  <a:srgbClr val="0070C0"/>
                </a:solidFill>
              </a:rPr>
              <a:t/>
            </a:r>
            <a:br>
              <a:rPr lang="en-US" sz="4000" dirty="0" smtClean="0">
                <a:solidFill>
                  <a:srgbClr val="0070C0"/>
                </a:solidFill>
              </a:rPr>
            </a:br>
            <a:r>
              <a:rPr lang="ru-RU" sz="4000" dirty="0" smtClean="0">
                <a:solidFill>
                  <a:srgbClr val="0070C0"/>
                </a:solidFill>
              </a:rPr>
              <a:t>Interactive-Service Model / G2C2G </a:t>
            </a:r>
            <a:r>
              <a:rPr lang="en-US" dirty="0" smtClean="0"/>
              <a:t/>
            </a:r>
            <a:br>
              <a:rPr lang="en-US" dirty="0" smtClean="0"/>
            </a:br>
            <a:endParaRPr lang="en-US" dirty="0"/>
          </a:p>
        </p:txBody>
      </p:sp>
      <p:sp>
        <p:nvSpPr>
          <p:cNvPr id="3" name="Content Placeholder 2"/>
          <p:cNvSpPr>
            <a:spLocks noGrp="1"/>
          </p:cNvSpPr>
          <p:nvPr>
            <p:ph idx="1"/>
          </p:nvPr>
        </p:nvSpPr>
        <p:spPr>
          <a:xfrm>
            <a:off x="475673" y="1281689"/>
            <a:ext cx="8229600" cy="4953000"/>
          </a:xfrm>
        </p:spPr>
        <p:txBody>
          <a:bodyPr>
            <a:noAutofit/>
          </a:bodyPr>
          <a:lstStyle/>
          <a:p>
            <a:pPr algn="just"/>
            <a:r>
              <a:rPr lang="ru-RU" sz="2000" dirty="0" smtClean="0"/>
              <a:t>Interactive-Service model in many ways is a consolidation</a:t>
            </a:r>
            <a:r>
              <a:rPr lang="en-US" sz="2000" dirty="0" smtClean="0"/>
              <a:t> (combining) </a:t>
            </a:r>
            <a:r>
              <a:rPr lang="ru-RU" sz="2000" dirty="0" smtClean="0"/>
              <a:t> of the earlier digital governance models and </a:t>
            </a:r>
            <a:r>
              <a:rPr lang="ru-RU" sz="2000" dirty="0" smtClean="0">
                <a:solidFill>
                  <a:srgbClr val="C00000"/>
                </a:solidFill>
              </a:rPr>
              <a:t>opens up avenues for direct participation  of  individuals  in  the  governance  processes</a:t>
            </a:r>
            <a:r>
              <a:rPr lang="ru-RU" sz="2000" dirty="0" smtClean="0"/>
              <a:t>.  </a:t>
            </a:r>
            <a:endParaRPr lang="en-US" sz="2000" dirty="0" smtClean="0"/>
          </a:p>
          <a:p>
            <a:pPr algn="just"/>
            <a:r>
              <a:rPr lang="ru-RU" sz="2000" dirty="0" smtClean="0"/>
              <a:t>ICT  have  the  potential  to  </a:t>
            </a:r>
            <a:r>
              <a:rPr lang="ru-RU" sz="2000" dirty="0" smtClean="0">
                <a:solidFill>
                  <a:srgbClr val="00B050"/>
                </a:solidFill>
              </a:rPr>
              <a:t>include  every  individual</a:t>
            </a:r>
            <a:r>
              <a:rPr lang="en-US" sz="2000" dirty="0" smtClean="0">
                <a:solidFill>
                  <a:srgbClr val="00B050"/>
                </a:solidFill>
              </a:rPr>
              <a:t> </a:t>
            </a:r>
            <a:r>
              <a:rPr lang="ru-RU" sz="2000" dirty="0" smtClean="0">
                <a:solidFill>
                  <a:srgbClr val="00B050"/>
                </a:solidFill>
              </a:rPr>
              <a:t>within     a     knowledge     network    and     enable     interactive communication channels among them</a:t>
            </a:r>
            <a:r>
              <a:rPr lang="ru-RU" sz="2000" dirty="0" smtClean="0"/>
              <a:t>. </a:t>
            </a:r>
            <a:endParaRPr lang="en-US" sz="2000" dirty="0" smtClean="0"/>
          </a:p>
          <a:p>
            <a:pPr algn="just"/>
            <a:r>
              <a:rPr lang="en-US" sz="2000" dirty="0"/>
              <a:t>As the participation is direct and not through representatives, it can bring greater objectivity and transparency in decision-making processes, and give a greater feeling of involvement and empowerment, provided that individuals are willing to engage in the governance processes.</a:t>
            </a:r>
            <a:endParaRPr lang="en-US" sz="2000" dirty="0" smtClean="0"/>
          </a:p>
          <a:p>
            <a:pPr lvl="1" algn="just">
              <a:buFont typeface="Wingdings" panose="05000000000000000000" pitchFamily="2" charset="2"/>
              <a:buChar char="ü"/>
            </a:pPr>
            <a:r>
              <a:rPr lang="ru-RU" sz="2000" dirty="0" smtClean="0"/>
              <a:t>This model fully </a:t>
            </a:r>
            <a:r>
              <a:rPr lang="ru-RU" sz="2000" dirty="0" smtClean="0">
                <a:solidFill>
                  <a:srgbClr val="7030A0"/>
                </a:solidFill>
              </a:rPr>
              <a:t>captures the  potential  of  ICT  and  leveraged  it  for  greater  participation,efficiency  and  transparency  in  functioning  of  the  government  as well as savings in time and costs relating to decision-making</a:t>
            </a:r>
            <a:r>
              <a:rPr lang="ru-RU" sz="2000" dirty="0" smtClean="0"/>
              <a:t>. </a:t>
            </a:r>
            <a:endParaRPr lang="en-US" sz="2000" dirty="0" smtClean="0"/>
          </a:p>
          <a:p>
            <a:pPr algn="just"/>
            <a:r>
              <a:rPr lang="ru-RU" sz="2000" dirty="0" smtClean="0"/>
              <a:t>The Interactive-Service Model </a:t>
            </a:r>
            <a:r>
              <a:rPr lang="ru-RU" sz="2000" dirty="0" smtClean="0">
                <a:solidFill>
                  <a:srgbClr val="C00000"/>
                </a:solidFill>
              </a:rPr>
              <a:t>makes possible the various services offered by the Government to be directly accessible to the citizens</a:t>
            </a:r>
            <a:r>
              <a:rPr lang="en-US" sz="2000" dirty="0">
                <a:solidFill>
                  <a:srgbClr val="C00000"/>
                </a:solidFill>
              </a:rPr>
              <a:t> </a:t>
            </a:r>
            <a:r>
              <a:rPr lang="en-US" sz="2000" dirty="0"/>
              <a:t>in an interactive manner.</a:t>
            </a:r>
            <a:endParaRPr lang="en-US" sz="2000" dirty="0" smtClean="0">
              <a:solidFill>
                <a:srgbClr val="C00000"/>
              </a:solidFill>
            </a:endParaRPr>
          </a:p>
        </p:txBody>
      </p:sp>
      <p:graphicFrame>
        <p:nvGraphicFramePr>
          <p:cNvPr id="4" name="Table 3"/>
          <p:cNvGraphicFramePr>
            <a:graphicFrameLocks noGrp="1"/>
          </p:cNvGraphicFramePr>
          <p:nvPr/>
        </p:nvGraphicFramePr>
        <p:xfrm>
          <a:off x="533400" y="762000"/>
          <a:ext cx="2143125" cy="368300"/>
        </p:xfrm>
        <a:graphic>
          <a:graphicData uri="http://schemas.openxmlformats.org/drawingml/2006/table">
            <a:tbl>
              <a:tblPr/>
              <a:tblGrid>
                <a:gridCol w="2143125">
                  <a:extLst>
                    <a:ext uri="{9D8B030D-6E8A-4147-A177-3AD203B41FA5}">
                      <a16:colId xmlns:a16="http://schemas.microsoft.com/office/drawing/2014/main" val="20000"/>
                    </a:ext>
                  </a:extLst>
                </a:gridCol>
              </a:tblGrid>
              <a:tr h="0">
                <a:tc>
                  <a:txBody>
                    <a:bodyPr/>
                    <a:lstStyle/>
                    <a:p>
                      <a:pPr marL="0" marR="0" algn="l">
                        <a:lnSpc>
                          <a:spcPts val="2875"/>
                        </a:lnSpc>
                        <a:spcBef>
                          <a:spcPts val="0"/>
                        </a:spcBef>
                        <a:spcAft>
                          <a:spcPts val="0"/>
                        </a:spcAft>
                      </a:pPr>
                      <a:r>
                        <a:rPr lang="ru-RU" sz="2400" dirty="0" smtClean="0">
                          <a:solidFill>
                            <a:srgbClr val="FF0000"/>
                          </a:solidFill>
                          <a:latin typeface="RLBHGC+FuturaBT-Light"/>
                          <a:ea typeface="Calibri"/>
                          <a:cs typeface="Times New Roman"/>
                        </a:rPr>
                        <a:t>   </a:t>
                      </a:r>
                      <a:r>
                        <a:rPr lang="ru-RU" sz="2800" dirty="0">
                          <a:solidFill>
                            <a:srgbClr val="FF0000"/>
                          </a:solidFill>
                          <a:latin typeface="RLBHGC+FuturaBT-Light"/>
                          <a:ea typeface="Calibri"/>
                          <a:cs typeface="Times New Roman"/>
                        </a:rPr>
                        <a:t>Principle</a:t>
                      </a:r>
                      <a:endParaRPr lang="en-US" sz="28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dirty="0">
                <a:solidFill>
                  <a:srgbClr val="0070C0"/>
                </a:solidFill>
              </a:rPr>
              <a:t/>
            </a:r>
            <a:br>
              <a:rPr lang="en-US" dirty="0">
                <a:solidFill>
                  <a:srgbClr val="0070C0"/>
                </a:solidFill>
              </a:rPr>
            </a:br>
            <a:r>
              <a:rPr lang="ru-RU" dirty="0">
                <a:solidFill>
                  <a:srgbClr val="0070C0"/>
                </a:solidFill>
              </a:rPr>
              <a:t>Interactive-Service Model / G2C2G </a:t>
            </a:r>
            <a:r>
              <a:rPr lang="en-US" dirty="0"/>
              <a:t/>
            </a:r>
            <a:br>
              <a:rPr lang="en-US" dirty="0"/>
            </a:br>
            <a:endParaRPr lang="en-US" dirty="0"/>
          </a:p>
        </p:txBody>
      </p:sp>
      <p:sp>
        <p:nvSpPr>
          <p:cNvPr id="3" name="Content Placeholder 2"/>
          <p:cNvSpPr>
            <a:spLocks noGrp="1"/>
          </p:cNvSpPr>
          <p:nvPr>
            <p:ph idx="1"/>
          </p:nvPr>
        </p:nvSpPr>
        <p:spPr>
          <a:xfrm>
            <a:off x="533400" y="1145309"/>
            <a:ext cx="8229600" cy="4525963"/>
          </a:xfrm>
        </p:spPr>
        <p:txBody>
          <a:bodyPr>
            <a:normAutofit/>
          </a:bodyPr>
          <a:lstStyle/>
          <a:p>
            <a:pPr algn="just"/>
            <a:r>
              <a:rPr lang="ru-RU" sz="2600" dirty="0">
                <a:solidFill>
                  <a:srgbClr val="C00000"/>
                </a:solidFill>
              </a:rPr>
              <a:t>It </a:t>
            </a:r>
            <a:r>
              <a:rPr lang="en-US" sz="2600" dirty="0" smtClean="0">
                <a:solidFill>
                  <a:srgbClr val="C00000"/>
                </a:solidFill>
              </a:rPr>
              <a:t>does so by opening up</a:t>
            </a:r>
            <a:r>
              <a:rPr lang="ru-RU" sz="2600" dirty="0" smtClean="0">
                <a:solidFill>
                  <a:srgbClr val="C00000"/>
                </a:solidFill>
              </a:rPr>
              <a:t> </a:t>
            </a:r>
            <a:r>
              <a:rPr lang="ru-RU" sz="2600" dirty="0">
                <a:solidFill>
                  <a:srgbClr val="C00000"/>
                </a:solidFill>
              </a:rPr>
              <a:t>an interactive Government to Consumer to Government (G2C2G)   channel  in   various  </a:t>
            </a:r>
            <a:r>
              <a:rPr lang="en-US" sz="2600" dirty="0" smtClean="0">
                <a:solidFill>
                  <a:srgbClr val="C00000"/>
                </a:solidFill>
              </a:rPr>
              <a:t>aspects of governance</a:t>
            </a:r>
            <a:r>
              <a:rPr lang="ru-RU" sz="2600" dirty="0" smtClean="0">
                <a:solidFill>
                  <a:srgbClr val="C00000"/>
                </a:solidFill>
              </a:rPr>
              <a:t>  </a:t>
            </a:r>
            <a:r>
              <a:rPr lang="ru-RU" sz="2600" dirty="0">
                <a:solidFill>
                  <a:srgbClr val="C00000"/>
                </a:solidFill>
              </a:rPr>
              <a:t>such   as   election  of government officials</a:t>
            </a:r>
            <a:r>
              <a:rPr lang="ru-RU" sz="2600" dirty="0"/>
              <a:t> (e-ballots); filing of tax returns, procurement of   government  services, </a:t>
            </a:r>
            <a:r>
              <a:rPr lang="en-US" sz="2600" dirty="0"/>
              <a:t>decision to make on specific issues (</a:t>
            </a:r>
            <a:r>
              <a:rPr lang="en-US" sz="2600" dirty="0" err="1"/>
              <a:t>eg</a:t>
            </a:r>
            <a:r>
              <a:rPr lang="en-US" sz="2600" dirty="0"/>
              <a:t>: health plans</a:t>
            </a:r>
            <a:r>
              <a:rPr lang="en-US" sz="2600" dirty="0" smtClean="0"/>
              <a:t>),</a:t>
            </a:r>
            <a:r>
              <a:rPr lang="ru-RU" sz="2600" dirty="0" smtClean="0"/>
              <a:t>  </a:t>
            </a:r>
            <a:r>
              <a:rPr lang="ru-RU" sz="2600" dirty="0"/>
              <a:t>sharing   of   concerns  and   providing expertise;   conducting   opinion   polls   on   public    issues</a:t>
            </a:r>
            <a:r>
              <a:rPr lang="ru-RU" sz="2600" dirty="0" smtClean="0"/>
              <a:t>,</a:t>
            </a:r>
            <a:r>
              <a:rPr lang="en-US" sz="2600" dirty="0"/>
              <a:t> gauging public mood and </a:t>
            </a:r>
            <a:r>
              <a:rPr lang="en-US" sz="2600" dirty="0" smtClean="0"/>
              <a:t>opinions,</a:t>
            </a:r>
            <a:r>
              <a:rPr lang="en-US" sz="2600" dirty="0"/>
              <a:t> bringing mass </a:t>
            </a:r>
            <a:r>
              <a:rPr lang="en-US" sz="2600" dirty="0" smtClean="0"/>
              <a:t>awareness</a:t>
            </a:r>
            <a:r>
              <a:rPr lang="ru-RU" sz="2600" dirty="0" smtClean="0"/>
              <a:t> </a:t>
            </a:r>
            <a:r>
              <a:rPr lang="ru-RU" sz="2600" dirty="0"/>
              <a:t>and grievance </a:t>
            </a:r>
            <a:r>
              <a:rPr lang="ru-RU" sz="2600" dirty="0" smtClean="0"/>
              <a:t>redressal</a:t>
            </a:r>
            <a:r>
              <a:rPr lang="en-US" sz="2600" dirty="0" smtClean="0"/>
              <a:t>.</a:t>
            </a:r>
            <a:endParaRPr lang="en-US" sz="2600" dirty="0"/>
          </a:p>
          <a:p>
            <a:endParaRPr lang="en-US" dirty="0"/>
          </a:p>
        </p:txBody>
      </p:sp>
    </p:spTree>
    <p:extLst>
      <p:ext uri="{BB962C8B-B14F-4D97-AF65-F5344CB8AC3E}">
        <p14:creationId xmlns:p14="http://schemas.microsoft.com/office/powerpoint/2010/main" val="422113625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09538"/>
            <a:ext cx="8229600" cy="563562"/>
          </a:xfrm>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Interactive-Service Model / G2C2G </a:t>
            </a:r>
            <a:r>
              <a:rPr lang="en-US" dirty="0" smtClean="0"/>
              <a:t/>
            </a:r>
            <a:br>
              <a:rPr lang="en-US" dirty="0" smtClean="0"/>
            </a:br>
            <a:endParaRPr lang="en-US" dirty="0"/>
          </a:p>
        </p:txBody>
      </p:sp>
      <p:sp>
        <p:nvSpPr>
          <p:cNvPr id="3" name="Content Placeholder 2"/>
          <p:cNvSpPr>
            <a:spLocks noGrp="1"/>
          </p:cNvSpPr>
          <p:nvPr>
            <p:ph idx="1"/>
          </p:nvPr>
        </p:nvSpPr>
        <p:spPr>
          <a:xfrm>
            <a:off x="533400" y="1371600"/>
            <a:ext cx="8229600" cy="4525963"/>
          </a:xfrm>
        </p:spPr>
        <p:txBody>
          <a:bodyPr>
            <a:normAutofit fontScale="25000" lnSpcReduction="20000"/>
          </a:bodyPr>
          <a:lstStyle/>
          <a:p>
            <a:pPr marL="514350" indent="-514350" algn="just">
              <a:buAutoNum type="arabicPeriod"/>
            </a:pPr>
            <a:r>
              <a:rPr lang="ru-RU" sz="9600" dirty="0" smtClean="0">
                <a:solidFill>
                  <a:srgbClr val="C00000"/>
                </a:solidFill>
              </a:rPr>
              <a:t>Establishing  an  interactive  communication  channel  with  </a:t>
            </a:r>
            <a:r>
              <a:rPr lang="en-US" sz="9600" dirty="0" smtClean="0">
                <a:solidFill>
                  <a:srgbClr val="C00000"/>
                </a:solidFill>
              </a:rPr>
              <a:t>key </a:t>
            </a:r>
            <a:r>
              <a:rPr lang="ru-RU" sz="9600" dirty="0" smtClean="0">
                <a:solidFill>
                  <a:srgbClr val="C00000"/>
                </a:solidFill>
              </a:rPr>
              <a:t>policy-makers </a:t>
            </a:r>
            <a:r>
              <a:rPr lang="en-US" sz="9600" dirty="0" smtClean="0">
                <a:solidFill>
                  <a:srgbClr val="C00000"/>
                </a:solidFill>
              </a:rPr>
              <a:t>and members of planning commissions </a:t>
            </a:r>
            <a:r>
              <a:rPr lang="ru-RU" sz="9600" dirty="0" smtClean="0"/>
              <a:t>such as video-conferencing and online dialoguing. </a:t>
            </a:r>
            <a:endParaRPr lang="en-US" sz="9600" dirty="0" smtClean="0"/>
          </a:p>
          <a:p>
            <a:pPr marL="514350" indent="-514350" algn="just">
              <a:buAutoNum type="arabicPeriod" startAt="2"/>
            </a:pPr>
            <a:r>
              <a:rPr lang="ru-RU" sz="9600" dirty="0" smtClean="0">
                <a:solidFill>
                  <a:srgbClr val="7030A0"/>
                </a:solidFill>
              </a:rPr>
              <a:t>Conducting   electronic  ballots  for   the  election   of  government </a:t>
            </a:r>
            <a:r>
              <a:rPr lang="en-US" sz="9600" dirty="0" smtClean="0">
                <a:solidFill>
                  <a:srgbClr val="7030A0"/>
                </a:solidFill>
              </a:rPr>
              <a:t> </a:t>
            </a:r>
            <a:r>
              <a:rPr lang="ru-RU" sz="9600" dirty="0" smtClean="0">
                <a:solidFill>
                  <a:srgbClr val="7030A0"/>
                </a:solidFill>
              </a:rPr>
              <a:t>officials </a:t>
            </a:r>
            <a:r>
              <a:rPr lang="ru-RU" sz="9600" dirty="0" smtClean="0"/>
              <a:t>and other office bearers</a:t>
            </a:r>
            <a:r>
              <a:rPr lang="en-US" sz="9600" dirty="0" smtClean="0"/>
              <a:t>(person bearing position in organization)</a:t>
            </a:r>
            <a:r>
              <a:rPr lang="ru-RU" sz="9600" dirty="0" smtClean="0"/>
              <a:t>. </a:t>
            </a:r>
            <a:endParaRPr lang="en-US" sz="9600" dirty="0"/>
          </a:p>
          <a:p>
            <a:pPr marL="514350" indent="-514350" algn="just">
              <a:buAutoNum type="arabicPeriod" startAt="2"/>
            </a:pPr>
            <a:r>
              <a:rPr lang="en-US" sz="9600" dirty="0" smtClean="0">
                <a:solidFill>
                  <a:srgbClr val="00B050"/>
                </a:solidFill>
              </a:rPr>
              <a:t>Used in </a:t>
            </a:r>
            <a:r>
              <a:rPr lang="en-US" sz="9600" dirty="0">
                <a:solidFill>
                  <a:srgbClr val="00B050"/>
                </a:solidFill>
              </a:rPr>
              <a:t>c</a:t>
            </a:r>
            <a:r>
              <a:rPr lang="ru-RU" sz="9600" dirty="0" smtClean="0">
                <a:solidFill>
                  <a:srgbClr val="00B050"/>
                </a:solidFill>
              </a:rPr>
              <a:t>onducting  public  debates  </a:t>
            </a:r>
            <a:r>
              <a:rPr lang="en-US" sz="9600" dirty="0" smtClean="0">
                <a:solidFill>
                  <a:srgbClr val="00B050"/>
                </a:solidFill>
              </a:rPr>
              <a:t>or</a:t>
            </a:r>
            <a:r>
              <a:rPr lang="ru-RU" sz="9600" dirty="0" smtClean="0">
                <a:solidFill>
                  <a:srgbClr val="00B050"/>
                </a:solidFill>
              </a:rPr>
              <a:t> opinion  polls  on  issues  of  wider concern</a:t>
            </a:r>
            <a:r>
              <a:rPr lang="en-US" sz="9600" dirty="0" smtClean="0">
                <a:solidFill>
                  <a:srgbClr val="00B050"/>
                </a:solidFill>
              </a:rPr>
              <a:t> or </a:t>
            </a:r>
            <a:r>
              <a:rPr lang="en-US" sz="9600" dirty="0" smtClean="0"/>
              <a:t>on </a:t>
            </a:r>
            <a:r>
              <a:rPr lang="en-US" sz="9600" dirty="0"/>
              <a:t>issues affecting the everyday citizens </a:t>
            </a:r>
            <a:r>
              <a:rPr lang="ru-RU" sz="9600" dirty="0" smtClean="0"/>
              <a:t>before formulation of policies and legislative frameworks. </a:t>
            </a:r>
            <a:endParaRPr lang="en-US" sz="9600" dirty="0" smtClean="0"/>
          </a:p>
          <a:p>
            <a:pPr marL="514350" indent="-514350" algn="just">
              <a:buAutoNum type="arabicPeriod" startAt="2"/>
            </a:pPr>
            <a:r>
              <a:rPr lang="ru-RU" sz="9600" dirty="0" smtClean="0">
                <a:solidFill>
                  <a:srgbClr val="7030A0"/>
                </a:solidFill>
              </a:rPr>
              <a:t>Filing  of  grievances,  feedback  and  reports  by  citizens </a:t>
            </a:r>
            <a:r>
              <a:rPr lang="ru-RU" sz="9600" dirty="0" smtClean="0"/>
              <a:t> </a:t>
            </a:r>
            <a:r>
              <a:rPr lang="en-US" sz="9600" dirty="0" smtClean="0"/>
              <a:t>to various</a:t>
            </a:r>
            <a:r>
              <a:rPr lang="ru-RU" sz="9600" dirty="0" smtClean="0"/>
              <a:t> the concerned governmental body. </a:t>
            </a:r>
            <a:endParaRPr lang="en-US" sz="9600" dirty="0" smtClean="0"/>
          </a:p>
          <a:p>
            <a:pPr marL="514350" indent="-514350" algn="just">
              <a:buAutoNum type="arabicPeriod" startAt="2"/>
            </a:pPr>
            <a:r>
              <a:rPr lang="ru-RU" sz="9600" dirty="0" smtClean="0">
                <a:solidFill>
                  <a:srgbClr val="C00000"/>
                </a:solidFill>
              </a:rPr>
              <a:t>Performing    governance   functions  </a:t>
            </a:r>
            <a:r>
              <a:rPr lang="en-US" sz="9600" dirty="0" smtClean="0">
                <a:solidFill>
                  <a:srgbClr val="C00000"/>
                </a:solidFill>
              </a:rPr>
              <a:t>in an </a:t>
            </a:r>
            <a:r>
              <a:rPr lang="ru-RU" sz="9600" dirty="0" smtClean="0">
                <a:solidFill>
                  <a:srgbClr val="C00000"/>
                </a:solidFill>
              </a:rPr>
              <a:t>  online  </a:t>
            </a:r>
            <a:r>
              <a:rPr lang="en-US" sz="9600" dirty="0" smtClean="0">
                <a:solidFill>
                  <a:srgbClr val="C00000"/>
                </a:solidFill>
              </a:rPr>
              <a:t>platform</a:t>
            </a:r>
            <a:r>
              <a:rPr lang="ru-RU" sz="9600" dirty="0" smtClean="0">
                <a:solidFill>
                  <a:srgbClr val="C00000"/>
                </a:solidFill>
              </a:rPr>
              <a:t> such    as   revenue collection,  filing  of  taxes,  governmental  procurement,  payment transfers etc. </a:t>
            </a:r>
            <a:endParaRPr lang="en-US" sz="9600" dirty="0" smtClean="0">
              <a:solidFill>
                <a:srgbClr val="C00000"/>
              </a:solidFill>
            </a:endParaRPr>
          </a:p>
          <a:p>
            <a:pPr marL="514350" indent="-514350" algn="just">
              <a:buAutoNum type="arabicPeriod" startAt="2"/>
            </a:pPr>
            <a:r>
              <a:rPr lang="ru-RU" sz="9600" dirty="0" smtClean="0">
                <a:solidFill>
                  <a:srgbClr val="C00000"/>
                </a:solidFill>
              </a:rPr>
              <a:t>Carrying  out  video-conferencing,  online  discussion  with  policy makers. </a:t>
            </a:r>
            <a:endParaRPr lang="en-US" sz="9600" dirty="0" smtClean="0">
              <a:solidFill>
                <a:srgbClr val="C00000"/>
              </a:solidFill>
            </a:endParaRP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463876383"/>
              </p:ext>
            </p:extLst>
          </p:nvPr>
        </p:nvGraphicFramePr>
        <p:xfrm>
          <a:off x="381000" y="755650"/>
          <a:ext cx="2667000" cy="533400"/>
        </p:xfrm>
        <a:graphic>
          <a:graphicData uri="http://schemas.openxmlformats.org/drawingml/2006/table">
            <a:tbl>
              <a:tblPr/>
              <a:tblGrid>
                <a:gridCol w="2667000">
                  <a:extLst>
                    <a:ext uri="{9D8B030D-6E8A-4147-A177-3AD203B41FA5}">
                      <a16:colId xmlns:a16="http://schemas.microsoft.com/office/drawing/2014/main" val="20000"/>
                    </a:ext>
                  </a:extLst>
                </a:gridCol>
              </a:tblGrid>
              <a:tr h="533400">
                <a:tc>
                  <a:txBody>
                    <a:bodyPr/>
                    <a:lstStyle/>
                    <a:p>
                      <a:pPr marL="0" marR="0" algn="l">
                        <a:lnSpc>
                          <a:spcPts val="2875"/>
                        </a:lnSpc>
                        <a:spcBef>
                          <a:spcPts val="0"/>
                        </a:spcBef>
                        <a:spcAft>
                          <a:spcPts val="0"/>
                        </a:spcAft>
                      </a:pPr>
                      <a:r>
                        <a:rPr lang="ru-RU" sz="2400" dirty="0" smtClean="0">
                          <a:solidFill>
                            <a:srgbClr val="FF0000"/>
                          </a:solidFill>
                          <a:latin typeface="RLBHGC+FuturaBT-Light"/>
                          <a:ea typeface="Calibri"/>
                          <a:cs typeface="Times New Roman"/>
                        </a:rPr>
                        <a:t>  </a:t>
                      </a:r>
                      <a:r>
                        <a:rPr lang="ru-RU" sz="2400" dirty="0">
                          <a:solidFill>
                            <a:srgbClr val="FF0000"/>
                          </a:solidFill>
                          <a:latin typeface="RLBHGC+FuturaBT-Light"/>
                          <a:ea typeface="Calibri"/>
                          <a:cs typeface="Times New Roman"/>
                        </a:rPr>
                        <a:t>Applications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ru-RU" dirty="0" smtClean="0">
                <a:solidFill>
                  <a:srgbClr val="0070C0"/>
                </a:solidFill>
              </a:rPr>
              <a:t>Interactive-Service </a:t>
            </a:r>
            <a:r>
              <a:rPr lang="ru-RU" dirty="0">
                <a:solidFill>
                  <a:srgbClr val="0070C0"/>
                </a:solidFill>
              </a:rPr>
              <a:t>Model / G2C2G </a:t>
            </a:r>
            <a:endParaRPr lang="en-US" dirty="0"/>
          </a:p>
        </p:txBody>
      </p:sp>
      <p:sp>
        <p:nvSpPr>
          <p:cNvPr id="3" name="Content Placeholder 2"/>
          <p:cNvSpPr>
            <a:spLocks noGrp="1"/>
          </p:cNvSpPr>
          <p:nvPr>
            <p:ph idx="1"/>
          </p:nvPr>
        </p:nvSpPr>
        <p:spPr>
          <a:xfrm>
            <a:off x="457200" y="1981200"/>
            <a:ext cx="8229600" cy="4525963"/>
          </a:xfrm>
        </p:spPr>
        <p:txBody>
          <a:bodyPr>
            <a:normAutofit/>
          </a:bodyPr>
          <a:lstStyle/>
          <a:p>
            <a:r>
              <a:rPr lang="en-GB" sz="2400" dirty="0" smtClean="0"/>
              <a:t>Establishing decentralised forms of governance</a:t>
            </a:r>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val="2377271253"/>
              </p:ext>
            </p:extLst>
          </p:nvPr>
        </p:nvGraphicFramePr>
        <p:xfrm>
          <a:off x="533400" y="1295400"/>
          <a:ext cx="2667000" cy="533400"/>
        </p:xfrm>
        <a:graphic>
          <a:graphicData uri="http://schemas.openxmlformats.org/drawingml/2006/table">
            <a:tbl>
              <a:tblPr/>
              <a:tblGrid>
                <a:gridCol w="2667000">
                  <a:extLst>
                    <a:ext uri="{9D8B030D-6E8A-4147-A177-3AD203B41FA5}">
                      <a16:colId xmlns:a16="http://schemas.microsoft.com/office/drawing/2014/main" val="20000"/>
                    </a:ext>
                  </a:extLst>
                </a:gridCol>
              </a:tblGrid>
              <a:tr h="533400">
                <a:tc>
                  <a:txBody>
                    <a:bodyPr/>
                    <a:lstStyle/>
                    <a:p>
                      <a:pPr marL="0" marR="0" algn="l">
                        <a:lnSpc>
                          <a:spcPts val="2875"/>
                        </a:lnSpc>
                        <a:spcBef>
                          <a:spcPts val="0"/>
                        </a:spcBef>
                        <a:spcAft>
                          <a:spcPts val="0"/>
                        </a:spcAft>
                      </a:pPr>
                      <a:r>
                        <a:rPr lang="ru-RU" sz="2400" dirty="0" smtClean="0">
                          <a:solidFill>
                            <a:srgbClr val="FF0000"/>
                          </a:solidFill>
                          <a:latin typeface="RLBHGC+FuturaBT-Light"/>
                          <a:ea typeface="Calibri"/>
                          <a:cs typeface="Times New Roman"/>
                        </a:rPr>
                        <a:t>  Applications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81808151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Autofit/>
          </a:bodyPr>
          <a:lstStyle/>
          <a:p>
            <a:r>
              <a:rPr lang="ru-RU" sz="3600" dirty="0" smtClean="0">
                <a:solidFill>
                  <a:srgbClr val="0070C0"/>
                </a:solidFill>
              </a:rPr>
              <a:t>Interactive-Service Model / G2C2G</a:t>
            </a:r>
            <a:endParaRPr lang="en-US" sz="3600" dirty="0"/>
          </a:p>
        </p:txBody>
      </p:sp>
      <p:sp>
        <p:nvSpPr>
          <p:cNvPr id="3" name="Content Placeholder 2"/>
          <p:cNvSpPr>
            <a:spLocks noGrp="1"/>
          </p:cNvSpPr>
          <p:nvPr>
            <p:ph idx="1"/>
          </p:nvPr>
        </p:nvSpPr>
        <p:spPr>
          <a:xfrm>
            <a:off x="533400" y="1371600"/>
            <a:ext cx="8229600" cy="4525963"/>
          </a:xfrm>
        </p:spPr>
        <p:txBody>
          <a:bodyPr>
            <a:noAutofit/>
          </a:bodyPr>
          <a:lstStyle/>
          <a:p>
            <a:pPr algn="just"/>
            <a:r>
              <a:rPr lang="en-US" sz="2400" dirty="0"/>
              <a:t>This model of governance is </a:t>
            </a:r>
            <a:r>
              <a:rPr lang="en-US" sz="2400" dirty="0">
                <a:solidFill>
                  <a:srgbClr val="FF0000"/>
                </a:solidFill>
              </a:rPr>
              <a:t>more applicable in the developed nations </a:t>
            </a:r>
            <a:r>
              <a:rPr lang="en-US" sz="2400" dirty="0"/>
              <a:t>and has been projected for use in the developing countries. </a:t>
            </a:r>
            <a:endParaRPr lang="en-US" sz="2400" dirty="0" smtClean="0"/>
          </a:p>
          <a:p>
            <a:pPr algn="just"/>
            <a:r>
              <a:rPr lang="en-US" sz="2200" dirty="0" smtClean="0"/>
              <a:t>The </a:t>
            </a:r>
            <a:r>
              <a:rPr lang="en-US" sz="2200" dirty="0"/>
              <a:t>model firmly </a:t>
            </a:r>
            <a:r>
              <a:rPr lang="en-US" sz="2200" dirty="0">
                <a:solidFill>
                  <a:srgbClr val="00B050"/>
                </a:solidFill>
              </a:rPr>
              <a:t>relies on the interactive applications of ICT </a:t>
            </a:r>
            <a:r>
              <a:rPr lang="en-US" sz="2200" dirty="0"/>
              <a:t>and therefore is </a:t>
            </a:r>
            <a:r>
              <a:rPr lang="en-US" sz="2200" dirty="0">
                <a:solidFill>
                  <a:srgbClr val="00B050"/>
                </a:solidFill>
              </a:rPr>
              <a:t>a technology and </a:t>
            </a:r>
            <a:r>
              <a:rPr lang="en-US" sz="2200" dirty="0" smtClean="0">
                <a:solidFill>
                  <a:srgbClr val="00B050"/>
                </a:solidFill>
              </a:rPr>
              <a:t>cost </a:t>
            </a:r>
            <a:r>
              <a:rPr lang="en-US" sz="2200" dirty="0">
                <a:solidFill>
                  <a:srgbClr val="00B050"/>
                </a:solidFill>
              </a:rPr>
              <a:t>intensive model </a:t>
            </a:r>
            <a:r>
              <a:rPr lang="en-US" sz="2200" dirty="0"/>
              <a:t>which will require a transition period before being adopted on a wider scale, especially in the developing countries</a:t>
            </a:r>
            <a:r>
              <a:rPr lang="en-US" sz="2200" dirty="0" smtClean="0"/>
              <a:t>.</a:t>
            </a:r>
          </a:p>
          <a:p>
            <a:pPr lvl="1" algn="just">
              <a:buFont typeface="Wingdings" panose="05000000000000000000" pitchFamily="2" charset="2"/>
              <a:buChar char="ü"/>
            </a:pPr>
            <a:r>
              <a:rPr lang="ru-RU" sz="2200" dirty="0"/>
              <a:t>The   model   is  on   the  </a:t>
            </a:r>
            <a:r>
              <a:rPr lang="ru-RU" sz="2200" dirty="0">
                <a:solidFill>
                  <a:srgbClr val="00B050"/>
                </a:solidFill>
              </a:rPr>
              <a:t>higher   end  of   technology-reliance  </a:t>
            </a:r>
            <a:r>
              <a:rPr lang="ru-RU" sz="2200" dirty="0"/>
              <a:t>as compared to the other models. </a:t>
            </a:r>
            <a:endParaRPr lang="en-US" sz="2200" dirty="0" smtClean="0"/>
          </a:p>
          <a:p>
            <a:pPr algn="just"/>
            <a:r>
              <a:rPr lang="en-US" sz="2200" dirty="0" smtClean="0"/>
              <a:t>It </a:t>
            </a:r>
            <a:r>
              <a:rPr lang="en-US" sz="2200" dirty="0"/>
              <a:t>would also </a:t>
            </a:r>
            <a:r>
              <a:rPr lang="en-US" sz="2200" dirty="0">
                <a:solidFill>
                  <a:srgbClr val="00B050"/>
                </a:solidFill>
              </a:rPr>
              <a:t>require elemental familiarity of ICT among the citizens </a:t>
            </a:r>
            <a:r>
              <a:rPr lang="en-US" sz="2200" dirty="0"/>
              <a:t>to fully benefit from this model</a:t>
            </a:r>
            <a:r>
              <a:rPr lang="en-US" sz="2200" dirty="0" smtClean="0"/>
              <a:t>.</a:t>
            </a:r>
          </a:p>
          <a:p>
            <a:pPr algn="just"/>
            <a:r>
              <a:rPr lang="en-US" sz="2200" dirty="0"/>
              <a:t>Nevertheless, the </a:t>
            </a:r>
            <a:r>
              <a:rPr lang="en-US" sz="2200" dirty="0">
                <a:solidFill>
                  <a:srgbClr val="FF0000"/>
                </a:solidFill>
              </a:rPr>
              <a:t>diminishing costs of ICT and the advantages offered by this technology would certainly </a:t>
            </a:r>
            <a:r>
              <a:rPr lang="en-US" sz="2200" dirty="0" smtClean="0">
                <a:solidFill>
                  <a:srgbClr val="FF0000"/>
                </a:solidFill>
              </a:rPr>
              <a:t>catalyze </a:t>
            </a:r>
            <a:r>
              <a:rPr lang="en-US" sz="2200" dirty="0">
                <a:solidFill>
                  <a:srgbClr val="FF0000"/>
                </a:solidFill>
              </a:rPr>
              <a:t>the penetration of this model</a:t>
            </a:r>
            <a:r>
              <a:rPr lang="en-US" sz="2200" dirty="0" smtClean="0">
                <a:solidFill>
                  <a:srgbClr val="FF0000"/>
                </a:solidFill>
              </a:rPr>
              <a:t>.</a:t>
            </a:r>
          </a:p>
        </p:txBody>
      </p:sp>
      <p:sp>
        <p:nvSpPr>
          <p:cNvPr id="4" name="Rectangle 3"/>
          <p:cNvSpPr/>
          <p:nvPr/>
        </p:nvSpPr>
        <p:spPr>
          <a:xfrm>
            <a:off x="609600" y="786825"/>
            <a:ext cx="4618187" cy="584775"/>
          </a:xfrm>
          <a:prstGeom prst="rect">
            <a:avLst/>
          </a:prstGeom>
        </p:spPr>
        <p:txBody>
          <a:bodyPr wrap="none">
            <a:spAutoFit/>
          </a:bodyPr>
          <a:lstStyle/>
          <a:p>
            <a:r>
              <a:rPr lang="ru-RU" sz="3200" dirty="0" smtClean="0">
                <a:solidFill>
                  <a:srgbClr val="FF0000"/>
                </a:solidFill>
              </a:rPr>
              <a:t>Evaluation (Pros </a:t>
            </a:r>
            <a:r>
              <a:rPr lang="en-US" sz="3200" dirty="0" smtClean="0">
                <a:solidFill>
                  <a:srgbClr val="FF0000"/>
                </a:solidFill>
              </a:rPr>
              <a:t>a</a:t>
            </a:r>
            <a:r>
              <a:rPr lang="ru-RU" sz="3200" dirty="0" smtClean="0">
                <a:solidFill>
                  <a:srgbClr val="FF0000"/>
                </a:solidFill>
              </a:rPr>
              <a:t>nd Cons)</a:t>
            </a:r>
            <a:endParaRPr lang="en-US" sz="3200" dirty="0">
              <a:solidFill>
                <a:srgbClr val="FF0000"/>
              </a:solidFil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600" y="152400"/>
            <a:ext cx="8229600" cy="792162"/>
          </a:xfrm>
        </p:spPr>
        <p:txBody>
          <a:bodyPr/>
          <a:lstStyle/>
          <a:p>
            <a:r>
              <a:rPr lang="ru-RU" dirty="0">
                <a:solidFill>
                  <a:srgbClr val="0070C0"/>
                </a:solidFill>
              </a:rPr>
              <a:t>Interactive-Service Model / G2C2G</a:t>
            </a:r>
            <a:endParaRPr lang="en-US" dirty="0"/>
          </a:p>
        </p:txBody>
      </p:sp>
      <p:sp>
        <p:nvSpPr>
          <p:cNvPr id="3" name="Content Placeholder 2"/>
          <p:cNvSpPr>
            <a:spLocks noGrp="1"/>
          </p:cNvSpPr>
          <p:nvPr>
            <p:ph idx="1"/>
          </p:nvPr>
        </p:nvSpPr>
        <p:spPr>
          <a:xfrm>
            <a:off x="482600" y="1752600"/>
            <a:ext cx="8229600" cy="4525963"/>
          </a:xfrm>
        </p:spPr>
        <p:txBody>
          <a:bodyPr/>
          <a:lstStyle/>
          <a:p>
            <a:pPr algn="just"/>
            <a:r>
              <a:rPr lang="en-US" sz="2400" dirty="0"/>
              <a:t>Intermediary organizations, knowledge networkers and middlemen will </a:t>
            </a:r>
            <a:r>
              <a:rPr lang="en-US" sz="2400" dirty="0">
                <a:solidFill>
                  <a:srgbClr val="FF0000"/>
                </a:solidFill>
              </a:rPr>
              <a:t>play a tremendous role to play in widespread replication of this model.</a:t>
            </a:r>
          </a:p>
          <a:p>
            <a:pPr algn="just"/>
            <a:r>
              <a:rPr lang="ru-RU" sz="2400" dirty="0"/>
              <a:t>This makes it    </a:t>
            </a:r>
            <a:r>
              <a:rPr lang="ru-RU" sz="2400" dirty="0">
                <a:solidFill>
                  <a:srgbClr val="FF0000"/>
                </a:solidFill>
              </a:rPr>
              <a:t>difficult to replicate in developing countries in absence of individual and secure ICT access. </a:t>
            </a:r>
            <a:endParaRPr lang="en-US" sz="2400" dirty="0">
              <a:solidFill>
                <a:srgbClr val="FF0000"/>
              </a:solidFill>
            </a:endParaRPr>
          </a:p>
          <a:p>
            <a:endParaRPr lang="en-US" dirty="0"/>
          </a:p>
          <a:p>
            <a:endParaRPr lang="en-US" dirty="0"/>
          </a:p>
          <a:p>
            <a:endParaRPr lang="en-US" dirty="0"/>
          </a:p>
        </p:txBody>
      </p:sp>
      <p:sp>
        <p:nvSpPr>
          <p:cNvPr id="4" name="Rectangle 3"/>
          <p:cNvSpPr/>
          <p:nvPr/>
        </p:nvSpPr>
        <p:spPr>
          <a:xfrm>
            <a:off x="609600" y="990600"/>
            <a:ext cx="4658263" cy="584775"/>
          </a:xfrm>
          <a:prstGeom prst="rect">
            <a:avLst/>
          </a:prstGeom>
        </p:spPr>
        <p:txBody>
          <a:bodyPr wrap="none">
            <a:spAutoFit/>
          </a:bodyPr>
          <a:lstStyle/>
          <a:p>
            <a:r>
              <a:rPr lang="ru-RU" sz="3200" dirty="0" smtClean="0">
                <a:solidFill>
                  <a:srgbClr val="FF0000"/>
                </a:solidFill>
              </a:rPr>
              <a:t>Evaluation (Pros And Cons)</a:t>
            </a:r>
            <a:endParaRPr lang="en-US" sz="3200" dirty="0">
              <a:solidFill>
                <a:srgbClr val="FF0000"/>
              </a:solidFill>
            </a:endParaRPr>
          </a:p>
        </p:txBody>
      </p:sp>
    </p:spTree>
    <p:extLst>
      <p:ext uri="{BB962C8B-B14F-4D97-AF65-F5344CB8AC3E}">
        <p14:creationId xmlns:p14="http://schemas.microsoft.com/office/powerpoint/2010/main" val="386297429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sz="3100" dirty="0" smtClean="0">
                <a:solidFill>
                  <a:srgbClr val="0070C0"/>
                </a:solidFill>
              </a:rPr>
              <a:t/>
            </a:r>
            <a:br>
              <a:rPr lang="en-US" sz="3100" dirty="0" smtClean="0">
                <a:solidFill>
                  <a:srgbClr val="0070C0"/>
                </a:solidFill>
              </a:rPr>
            </a:br>
            <a:r>
              <a:rPr lang="ru-RU" sz="3600" dirty="0" smtClean="0">
                <a:solidFill>
                  <a:srgbClr val="0070C0"/>
                </a:solidFill>
              </a:rPr>
              <a:t>Organizations / Projects based on Interactive-</a:t>
            </a:r>
            <a:r>
              <a:rPr lang="en-US" sz="3600" dirty="0" smtClean="0">
                <a:solidFill>
                  <a:srgbClr val="0070C0"/>
                </a:solidFill>
              </a:rPr>
              <a:t/>
            </a:r>
            <a:br>
              <a:rPr lang="en-US" sz="3600" dirty="0" smtClean="0">
                <a:solidFill>
                  <a:srgbClr val="0070C0"/>
                </a:solidFill>
              </a:rPr>
            </a:br>
            <a:r>
              <a:rPr lang="ru-RU" sz="3600" dirty="0" smtClean="0">
                <a:solidFill>
                  <a:srgbClr val="0070C0"/>
                </a:solidFill>
              </a:rPr>
              <a:t>Service Model / G2C2G </a:t>
            </a:r>
            <a:r>
              <a:rPr lang="en-US" dirty="0" smtClean="0"/>
              <a:t/>
            </a:r>
            <a:br>
              <a:rPr lang="en-US" dirty="0" smtClean="0"/>
            </a:br>
            <a:endParaRPr lang="en-US" dirty="0"/>
          </a:p>
        </p:txBody>
      </p:sp>
      <p:sp>
        <p:nvSpPr>
          <p:cNvPr id="3" name="Content Placeholder 2"/>
          <p:cNvSpPr>
            <a:spLocks noGrp="1"/>
          </p:cNvSpPr>
          <p:nvPr>
            <p:ph idx="1"/>
          </p:nvPr>
        </p:nvSpPr>
        <p:spPr>
          <a:xfrm>
            <a:off x="457200" y="1219200"/>
            <a:ext cx="8458200" cy="5486400"/>
          </a:xfrm>
        </p:spPr>
        <p:txBody>
          <a:bodyPr>
            <a:normAutofit fontScale="25000" lnSpcReduction="20000"/>
          </a:bodyPr>
          <a:lstStyle/>
          <a:p>
            <a:pPr algn="just"/>
            <a:r>
              <a:rPr lang="ru-RU" sz="8000" dirty="0" smtClean="0"/>
              <a:t>Philippine</a:t>
            </a:r>
            <a:r>
              <a:rPr lang="en-US" sz="8000" dirty="0" smtClean="0"/>
              <a:t>: </a:t>
            </a:r>
            <a:r>
              <a:rPr lang="ru-RU" sz="8000" dirty="0" smtClean="0">
                <a:solidFill>
                  <a:srgbClr val="00B050"/>
                </a:solidFill>
              </a:rPr>
              <a:t>Philippine Custom Reform</a:t>
            </a:r>
            <a:r>
              <a:rPr lang="ru-RU" sz="8000" dirty="0" smtClean="0"/>
              <a:t>:</a:t>
            </a:r>
            <a:endParaRPr lang="en-US" sz="8000" dirty="0" smtClean="0"/>
          </a:p>
          <a:p>
            <a:pPr algn="just">
              <a:buNone/>
            </a:pPr>
            <a:r>
              <a:rPr lang="en-US" sz="8000" dirty="0">
                <a:hlinkClick r:id="rId2"/>
              </a:rPr>
              <a:t>http://</a:t>
            </a:r>
            <a:r>
              <a:rPr lang="en-US" sz="8000" dirty="0" smtClean="0">
                <a:hlinkClick r:id="rId2"/>
              </a:rPr>
              <a:t>www1.worldbank.org/publicsector/egov/philippinecustomscs.htm</a:t>
            </a:r>
            <a:endParaRPr lang="en-US" sz="8000" dirty="0" smtClean="0"/>
          </a:p>
          <a:p>
            <a:pPr lvl="1" algn="just">
              <a:buFont typeface="Wingdings" panose="05000000000000000000" pitchFamily="2" charset="2"/>
              <a:buChar char="ü"/>
            </a:pPr>
            <a:r>
              <a:rPr lang="ru-RU" sz="7600" dirty="0" smtClean="0"/>
              <a:t>The Philippines Customs Bureau has developed an </a:t>
            </a:r>
            <a:r>
              <a:rPr lang="ru-RU" sz="7600" dirty="0" smtClean="0">
                <a:solidFill>
                  <a:srgbClr val="C00000"/>
                </a:solidFill>
              </a:rPr>
              <a:t>on-line system to process clearance of imports, payment of duty, and delivery of release orders for shipments to   leave the docks</a:t>
            </a:r>
            <a:r>
              <a:rPr lang="ru-RU" sz="7600" dirty="0" smtClean="0"/>
              <a:t>. </a:t>
            </a:r>
            <a:endParaRPr lang="en-US" sz="7600" dirty="0" smtClean="0"/>
          </a:p>
          <a:p>
            <a:pPr lvl="1" algn="just">
              <a:buFont typeface="Wingdings" panose="05000000000000000000" pitchFamily="2" charset="2"/>
              <a:buChar char="ü"/>
            </a:pPr>
            <a:r>
              <a:rPr lang="ru-RU" sz="7600" dirty="0" smtClean="0"/>
              <a:t>The new on-line system  has  lessened  the  cost  of  trade  for  businesses,  reduced opportunities  for   fraud,  and  helped   the  Bureau   to  maximise</a:t>
            </a:r>
            <a:r>
              <a:rPr lang="en-US" sz="7600" dirty="0" smtClean="0"/>
              <a:t> </a:t>
            </a:r>
            <a:r>
              <a:rPr lang="ru-RU" sz="7600" dirty="0" smtClean="0"/>
              <a:t>revenue collection. </a:t>
            </a:r>
            <a:endParaRPr lang="en-US" sz="7600" dirty="0" smtClean="0"/>
          </a:p>
          <a:p>
            <a:pPr algn="just">
              <a:buNone/>
            </a:pPr>
            <a:r>
              <a:rPr lang="ru-RU" sz="8000" dirty="0" smtClean="0"/>
              <a:t>•    </a:t>
            </a:r>
            <a:r>
              <a:rPr lang="ru-RU" sz="8000" b="1" dirty="0" smtClean="0"/>
              <a:t>India</a:t>
            </a:r>
            <a:r>
              <a:rPr lang="en-US" sz="8000" b="1" dirty="0"/>
              <a:t>:</a:t>
            </a:r>
            <a:r>
              <a:rPr lang="ru-RU" sz="8000" b="1" dirty="0" smtClean="0"/>
              <a:t> Gyandoot</a:t>
            </a:r>
            <a:r>
              <a:rPr lang="ru-RU" sz="8000" dirty="0" smtClean="0"/>
              <a:t>: </a:t>
            </a:r>
            <a:r>
              <a:rPr lang="en-US" sz="8000" dirty="0">
                <a:hlinkClick r:id="rId3"/>
              </a:rPr>
              <a:t>http://</a:t>
            </a:r>
            <a:r>
              <a:rPr lang="en-US" sz="8000" dirty="0" smtClean="0">
                <a:hlinkClick r:id="rId3"/>
              </a:rPr>
              <a:t>www.gyandoot.net/gyandoot/intranet.html</a:t>
            </a:r>
            <a:endParaRPr lang="en-US" sz="8000" dirty="0"/>
          </a:p>
          <a:p>
            <a:pPr lvl="1" algn="just">
              <a:buFont typeface="Wingdings" panose="05000000000000000000" pitchFamily="2" charset="2"/>
              <a:buChar char="ü"/>
            </a:pPr>
            <a:r>
              <a:rPr lang="ru-RU" sz="7600" dirty="0" smtClean="0">
                <a:solidFill>
                  <a:srgbClr val="C00000"/>
                </a:solidFill>
              </a:rPr>
              <a:t>Gyandoot   is  an  intranet  in   Dhar  district  of  Madhya   Pradesh</a:t>
            </a:r>
            <a:r>
              <a:rPr lang="en-US" sz="7600" dirty="0" smtClean="0">
                <a:solidFill>
                  <a:srgbClr val="C00000"/>
                </a:solidFill>
              </a:rPr>
              <a:t> </a:t>
            </a:r>
            <a:r>
              <a:rPr lang="ru-RU" sz="7600" dirty="0" smtClean="0"/>
              <a:t>connecting  rural  cybercafes  catering  to  everyday  needs  of  the masses.  </a:t>
            </a:r>
            <a:endParaRPr lang="en-US" sz="7600" dirty="0" smtClean="0"/>
          </a:p>
          <a:p>
            <a:pPr lvl="1" algn="just">
              <a:buFont typeface="Wingdings" panose="05000000000000000000" pitchFamily="2" charset="2"/>
              <a:buChar char="ü"/>
            </a:pPr>
            <a:r>
              <a:rPr lang="ru-RU" sz="7600" dirty="0" smtClean="0"/>
              <a:t>The  site   offers  </a:t>
            </a:r>
            <a:r>
              <a:rPr lang="ru-RU" sz="7600" dirty="0" smtClean="0">
                <a:solidFill>
                  <a:srgbClr val="00B050"/>
                </a:solidFill>
              </a:rPr>
              <a:t>several  interactive  governance   related services  to  the  local  people  such  as  providing</a:t>
            </a:r>
            <a:r>
              <a:rPr lang="en-US" sz="7600" dirty="0" smtClean="0">
                <a:solidFill>
                  <a:srgbClr val="00B050"/>
                </a:solidFill>
              </a:rPr>
              <a:t> </a:t>
            </a:r>
            <a:r>
              <a:rPr lang="en-US" sz="7200" dirty="0"/>
              <a:t>Commodity/ </a:t>
            </a:r>
            <a:r>
              <a:rPr lang="en-US" sz="7200" i="1" dirty="0"/>
              <a:t>Agricultural </a:t>
            </a:r>
            <a:r>
              <a:rPr lang="en-US" sz="7200" dirty="0"/>
              <a:t>Marketing Information </a:t>
            </a:r>
            <a:r>
              <a:rPr lang="en-US" sz="7200" dirty="0" smtClean="0"/>
              <a:t>System,</a:t>
            </a:r>
            <a:r>
              <a:rPr lang="ru-RU" sz="7600" dirty="0" smtClean="0">
                <a:solidFill>
                  <a:srgbClr val="00B050"/>
                </a:solidFill>
              </a:rPr>
              <a:t>  copies  of  land-maps,  online  registration  of  applications,  and  public  grievance redressal</a:t>
            </a:r>
            <a:r>
              <a:rPr lang="ru-RU" sz="7600" dirty="0" smtClean="0"/>
              <a:t>. </a:t>
            </a:r>
            <a:endParaRPr lang="en-US" sz="7600" dirty="0" smtClean="0"/>
          </a:p>
          <a:p>
            <a:pPr lvl="1" algn="just">
              <a:buFont typeface="Wingdings" panose="05000000000000000000" pitchFamily="2" charset="2"/>
              <a:buChar char="ü"/>
            </a:pPr>
            <a:r>
              <a:rPr lang="ru-RU" sz="7600" dirty="0" smtClean="0"/>
              <a:t> It  is  a  step  towards  tele-centre  based  e-governance models. </a:t>
            </a:r>
            <a:endParaRPr lang="en-US" sz="7600" dirty="0" smtClean="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067800" cy="639762"/>
          </a:xfrm>
        </p:spPr>
        <p:txBody>
          <a:bodyPr>
            <a:noAutofit/>
          </a:bodyPr>
          <a:lstStyle/>
          <a:p>
            <a:r>
              <a:rPr lang="en-US" sz="3600" dirty="0" smtClean="0">
                <a:solidFill>
                  <a:srgbClr val="0070C0"/>
                </a:solidFill>
              </a:rPr>
              <a:t>Evolution of E-Governance and </a:t>
            </a:r>
            <a:r>
              <a:rPr lang="ru-RU" sz="3600" dirty="0" smtClean="0">
                <a:solidFill>
                  <a:srgbClr val="0070C0"/>
                </a:solidFill>
              </a:rPr>
              <a:t>Maturity </a:t>
            </a:r>
            <a:r>
              <a:rPr lang="ru-RU" sz="3600" dirty="0">
                <a:solidFill>
                  <a:srgbClr val="0070C0"/>
                </a:solidFill>
              </a:rPr>
              <a:t>Model</a:t>
            </a:r>
            <a:endParaRPr lang="en-US" sz="3600" dirty="0"/>
          </a:p>
        </p:txBody>
      </p:sp>
      <p:sp>
        <p:nvSpPr>
          <p:cNvPr id="3" name="Content Placeholder 2"/>
          <p:cNvSpPr>
            <a:spLocks noGrp="1"/>
          </p:cNvSpPr>
          <p:nvPr>
            <p:ph idx="1"/>
          </p:nvPr>
        </p:nvSpPr>
        <p:spPr>
          <a:xfrm>
            <a:off x="419100" y="990600"/>
            <a:ext cx="8229600" cy="5791200"/>
          </a:xfrm>
        </p:spPr>
        <p:txBody>
          <a:bodyPr>
            <a:noAutofit/>
          </a:bodyPr>
          <a:lstStyle/>
          <a:p>
            <a:pPr algn="just"/>
            <a:r>
              <a:rPr lang="en-US" sz="2000" dirty="0" smtClean="0"/>
              <a:t>The E-Governance Maturity Model (</a:t>
            </a:r>
            <a:r>
              <a:rPr lang="ru-RU" sz="2000" dirty="0" smtClean="0"/>
              <a:t>EMM   </a:t>
            </a:r>
            <a:r>
              <a:rPr lang="ru-RU" sz="2000" dirty="0" smtClean="0">
                <a:solidFill>
                  <a:srgbClr val="FF0000"/>
                </a:solidFill>
              </a:rPr>
              <a:t>version   1.0 </a:t>
            </a:r>
            <a:r>
              <a:rPr lang="ru-RU" sz="2000" dirty="0">
                <a:solidFill>
                  <a:srgbClr val="FF0000"/>
                </a:solidFill>
              </a:rPr>
              <a:t>Anjali  Dhingra   and   D.C.  Mishra</a:t>
            </a:r>
            <a:r>
              <a:rPr lang="ru-RU" sz="2000" dirty="0" smtClean="0"/>
              <a:t>)</a:t>
            </a:r>
            <a:r>
              <a:rPr lang="en-US" sz="2000" dirty="0" smtClean="0"/>
              <a:t>, based on </a:t>
            </a:r>
            <a:r>
              <a:rPr lang="en-US" sz="2000" dirty="0" smtClean="0">
                <a:solidFill>
                  <a:srgbClr val="00B050"/>
                </a:solidFill>
              </a:rPr>
              <a:t>conventional software maturity models</a:t>
            </a:r>
            <a:r>
              <a:rPr lang="en-US" sz="2000" dirty="0" smtClean="0"/>
              <a:t>, proposes some levels of maturity depending on the </a:t>
            </a:r>
            <a:r>
              <a:rPr lang="en-US" sz="2000" dirty="0" smtClean="0">
                <a:solidFill>
                  <a:srgbClr val="00B050"/>
                </a:solidFill>
              </a:rPr>
              <a:t>effectiveness with which the e-governance efforts have been initiated, implemented or successfully completed</a:t>
            </a:r>
            <a:r>
              <a:rPr lang="en-US" sz="2000" dirty="0" smtClean="0"/>
              <a:t>.</a:t>
            </a:r>
          </a:p>
          <a:p>
            <a:pPr algn="just"/>
            <a:r>
              <a:rPr lang="en-US" sz="2000" dirty="0" smtClean="0"/>
              <a:t>The model also provides </a:t>
            </a:r>
            <a:r>
              <a:rPr lang="en-US" sz="2000" dirty="0" smtClean="0">
                <a:solidFill>
                  <a:srgbClr val="00B050"/>
                </a:solidFill>
              </a:rPr>
              <a:t>identification of Key focus area that need to be concentrated</a:t>
            </a:r>
            <a:r>
              <a:rPr lang="en-US" sz="2000" dirty="0" smtClean="0"/>
              <a:t> for attaining a specific maturity level as discussed below:</a:t>
            </a:r>
          </a:p>
          <a:p>
            <a:pPr lvl="1" algn="just">
              <a:buFont typeface="Wingdings" panose="05000000000000000000" pitchFamily="2" charset="2"/>
              <a:buChar char="ü"/>
            </a:pPr>
            <a:r>
              <a:rPr lang="en-US" sz="2000" dirty="0" smtClean="0"/>
              <a:t>Traditionally e-Governance has been defined as an </a:t>
            </a:r>
            <a:r>
              <a:rPr lang="en-US" sz="2000" dirty="0" smtClean="0">
                <a:solidFill>
                  <a:srgbClr val="FF0000"/>
                </a:solidFill>
              </a:rPr>
              <a:t>ICT enabled root to good governance</a:t>
            </a:r>
            <a:r>
              <a:rPr lang="en-US" sz="2000" dirty="0" smtClean="0"/>
              <a:t> with a view to enhancing transparency in the system and provide prompt and quality services to the citizen.</a:t>
            </a:r>
          </a:p>
          <a:p>
            <a:pPr lvl="1" algn="just">
              <a:buFont typeface="Wingdings" panose="05000000000000000000" pitchFamily="2" charset="2"/>
              <a:buChar char="ü"/>
            </a:pPr>
            <a:r>
              <a:rPr lang="en-US" sz="2000" dirty="0" smtClean="0"/>
              <a:t>E-Governance is an </a:t>
            </a:r>
            <a:r>
              <a:rPr lang="en-US" sz="2000" dirty="0" smtClean="0">
                <a:solidFill>
                  <a:srgbClr val="FF0000"/>
                </a:solidFill>
              </a:rPr>
              <a:t>evolutionary path whose effective implementation requires a complete understanding of its various elements </a:t>
            </a:r>
            <a:r>
              <a:rPr lang="en-US" sz="2000" dirty="0" smtClean="0"/>
              <a:t>and at the same time taking a holistic view(all aspects) to stay focused on all its overall objective.</a:t>
            </a:r>
          </a:p>
        </p:txBody>
      </p:sp>
    </p:spTree>
    <p:extLst>
      <p:ext uri="{BB962C8B-B14F-4D97-AF65-F5344CB8AC3E}">
        <p14:creationId xmlns:p14="http://schemas.microsoft.com/office/powerpoint/2010/main" val="120980658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915400" cy="868362"/>
          </a:xfrm>
        </p:spPr>
        <p:txBody>
          <a:bodyPr>
            <a:normAutofit fontScale="90000"/>
          </a:bodyPr>
          <a:lstStyle/>
          <a:p>
            <a:r>
              <a:rPr lang="en-US" dirty="0">
                <a:solidFill>
                  <a:srgbClr val="0070C0"/>
                </a:solidFill>
              </a:rPr>
              <a:t>Evolution of E-Governance and </a:t>
            </a:r>
            <a:r>
              <a:rPr lang="ru-RU" dirty="0">
                <a:solidFill>
                  <a:srgbClr val="0070C0"/>
                </a:solidFill>
              </a:rPr>
              <a:t>Maturity Model</a:t>
            </a:r>
            <a:endParaRPr lang="en-US" dirty="0"/>
          </a:p>
        </p:txBody>
      </p:sp>
      <p:sp>
        <p:nvSpPr>
          <p:cNvPr id="3" name="Content Placeholder 2"/>
          <p:cNvSpPr>
            <a:spLocks noGrp="1"/>
          </p:cNvSpPr>
          <p:nvPr>
            <p:ph idx="1"/>
          </p:nvPr>
        </p:nvSpPr>
        <p:spPr>
          <a:xfrm>
            <a:off x="457200" y="1295400"/>
            <a:ext cx="8229600" cy="4525963"/>
          </a:xfrm>
        </p:spPr>
        <p:txBody>
          <a:bodyPr>
            <a:normAutofit fontScale="62500" lnSpcReduction="20000"/>
          </a:bodyPr>
          <a:lstStyle/>
          <a:p>
            <a:pPr algn="just"/>
            <a:r>
              <a:rPr lang="en-US" dirty="0" smtClean="0"/>
              <a:t>E-Governance Journey encounters </a:t>
            </a:r>
            <a:r>
              <a:rPr lang="en-US" dirty="0" smtClean="0">
                <a:solidFill>
                  <a:srgbClr val="FF0000"/>
                </a:solidFill>
              </a:rPr>
              <a:t>several milestones that need to be identified and modelled</a:t>
            </a:r>
            <a:r>
              <a:rPr lang="en-US" dirty="0" smtClean="0"/>
              <a:t> so that efforts invested can be assessed and an appropriate course of action be taken by the organization to further its way on the path of e-governance.</a:t>
            </a:r>
          </a:p>
          <a:p>
            <a:pPr algn="just"/>
            <a:r>
              <a:rPr lang="en-US" dirty="0" smtClean="0"/>
              <a:t>The E-governance Maturity </a:t>
            </a:r>
            <a:r>
              <a:rPr lang="en-US" dirty="0"/>
              <a:t>M</a:t>
            </a:r>
            <a:r>
              <a:rPr lang="en-US" dirty="0" smtClean="0"/>
              <a:t>odel (EMM version 1.0) </a:t>
            </a:r>
            <a:r>
              <a:rPr lang="en-US" dirty="0" smtClean="0">
                <a:solidFill>
                  <a:srgbClr val="FF0000"/>
                </a:solidFill>
              </a:rPr>
              <a:t>proposes five levels of maturity</a:t>
            </a:r>
            <a:r>
              <a:rPr lang="en-US" dirty="0" smtClean="0"/>
              <a:t>, depending upon the effectiveness with which the e-governance efforts have been initiated, pursued, utilized and institutionalized.</a:t>
            </a:r>
          </a:p>
          <a:p>
            <a:pPr algn="just"/>
            <a:r>
              <a:rPr lang="en-US" dirty="0" smtClean="0"/>
              <a:t>EMM 1.0 will </a:t>
            </a:r>
            <a:r>
              <a:rPr lang="en-US" dirty="0" smtClean="0">
                <a:solidFill>
                  <a:srgbClr val="00B050"/>
                </a:solidFill>
              </a:rPr>
              <a:t>facilitate government organizations to access the current level of e-governance initiatives and accordingly make efforts for the future.</a:t>
            </a:r>
          </a:p>
          <a:p>
            <a:pPr algn="just"/>
            <a:r>
              <a:rPr lang="en-US" dirty="0"/>
              <a:t>This capability maturity model can be used to measure the maturity of an organization’s IT governance and to assist its progress from the initial/ad-hoc state toward the optimized state.</a:t>
            </a:r>
            <a:endParaRPr lang="en-US" dirty="0" smtClean="0">
              <a:solidFill>
                <a:srgbClr val="00B050"/>
              </a:solidFill>
            </a:endParaRPr>
          </a:p>
          <a:p>
            <a:pPr algn="just"/>
            <a:r>
              <a:rPr lang="en-US" dirty="0" smtClean="0"/>
              <a:t>The model further </a:t>
            </a:r>
            <a:r>
              <a:rPr lang="en-US" dirty="0" smtClean="0">
                <a:solidFill>
                  <a:srgbClr val="00B050"/>
                </a:solidFill>
              </a:rPr>
              <a:t>identifies the characteristics exhibited by organizations</a:t>
            </a:r>
            <a:r>
              <a:rPr lang="en-US" dirty="0" smtClean="0"/>
              <a:t> at various level of maturity that will </a:t>
            </a:r>
            <a:r>
              <a:rPr lang="en-US" dirty="0" smtClean="0">
                <a:solidFill>
                  <a:srgbClr val="FF0000"/>
                </a:solidFill>
              </a:rPr>
              <a:t>facilitate correct assessment of the current status.</a:t>
            </a:r>
          </a:p>
          <a:p>
            <a:endParaRPr lang="en-US" dirty="0"/>
          </a:p>
        </p:txBody>
      </p:sp>
    </p:spTree>
    <p:extLst>
      <p:ext uri="{BB962C8B-B14F-4D97-AF65-F5344CB8AC3E}">
        <p14:creationId xmlns:p14="http://schemas.microsoft.com/office/powerpoint/2010/main" val="69307161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685800"/>
          </a:xfrm>
        </p:spPr>
        <p:txBody>
          <a:bodyPr>
            <a:normAutofit/>
          </a:bodyPr>
          <a:lstStyle/>
          <a:p>
            <a:r>
              <a:rPr lang="ru-RU" sz="3600" dirty="0" smtClean="0">
                <a:solidFill>
                  <a:srgbClr val="0070C0"/>
                </a:solidFill>
              </a:rPr>
              <a:t>Maturity Model</a:t>
            </a:r>
            <a:endParaRPr lang="en-US" sz="3600" dirty="0">
              <a:solidFill>
                <a:srgbClr val="0070C0"/>
              </a:solidFill>
            </a:endParaRPr>
          </a:p>
        </p:txBody>
      </p:sp>
      <p:sp>
        <p:nvSpPr>
          <p:cNvPr id="3" name="Content Placeholder 2"/>
          <p:cNvSpPr>
            <a:spLocks noGrp="1"/>
          </p:cNvSpPr>
          <p:nvPr>
            <p:ph idx="1"/>
          </p:nvPr>
        </p:nvSpPr>
        <p:spPr>
          <a:xfrm>
            <a:off x="457200" y="914400"/>
            <a:ext cx="8305800" cy="5486400"/>
          </a:xfrm>
        </p:spPr>
        <p:txBody>
          <a:bodyPr>
            <a:normAutofit fontScale="25000" lnSpcReduction="20000"/>
          </a:bodyPr>
          <a:lstStyle/>
          <a:p>
            <a:pPr algn="just">
              <a:buNone/>
            </a:pPr>
            <a:r>
              <a:rPr lang="ru-RU" sz="8800" dirty="0" smtClean="0"/>
              <a:t>•  A maturity model is a </a:t>
            </a:r>
            <a:r>
              <a:rPr lang="ru-RU" sz="8800" dirty="0" smtClean="0">
                <a:solidFill>
                  <a:srgbClr val="C00000"/>
                </a:solidFill>
              </a:rPr>
              <a:t>method for judging the maturity of the processes of an organization and for identifying the key practices that are required to increase the maturity of these processes. </a:t>
            </a:r>
            <a:endParaRPr lang="en-US" sz="8800" dirty="0" smtClean="0">
              <a:solidFill>
                <a:srgbClr val="C00000"/>
              </a:solidFill>
            </a:endParaRPr>
          </a:p>
          <a:p>
            <a:pPr algn="just">
              <a:buNone/>
            </a:pPr>
            <a:r>
              <a:rPr lang="ru-RU" sz="8800" dirty="0" smtClean="0"/>
              <a:t>•  </a:t>
            </a:r>
            <a:r>
              <a:rPr lang="en-US" sz="8800" dirty="0" smtClean="0"/>
              <a:t> </a:t>
            </a:r>
            <a:r>
              <a:rPr lang="ru-RU" sz="8800" dirty="0" smtClean="0"/>
              <a:t>An eGovernment maturity model provides us with </a:t>
            </a:r>
            <a:r>
              <a:rPr lang="ru-RU" sz="8800" dirty="0" smtClean="0">
                <a:solidFill>
                  <a:srgbClr val="00B050"/>
                </a:solidFill>
              </a:rPr>
              <a:t>guidance on how to gain   control   of   our   processes   for    developing   and   maintaining eGovernment services and how to evolve toward a culture of excellence in providing and managing eGovernment. </a:t>
            </a:r>
            <a:endParaRPr lang="en-US" sz="8800" dirty="0" smtClean="0">
              <a:solidFill>
                <a:srgbClr val="00B050"/>
              </a:solidFill>
            </a:endParaRPr>
          </a:p>
          <a:p>
            <a:pPr algn="just"/>
            <a:r>
              <a:rPr lang="ru-RU" sz="8800" dirty="0" smtClean="0"/>
              <a:t>A maturity model can </a:t>
            </a:r>
            <a:r>
              <a:rPr lang="ru-RU" sz="8800" dirty="0" smtClean="0">
                <a:solidFill>
                  <a:srgbClr val="C00000"/>
                </a:solidFill>
              </a:rPr>
              <a:t>guide us  in  selecting  process  improvement  strategies </a:t>
            </a:r>
            <a:r>
              <a:rPr lang="ru-RU" sz="8800" dirty="0" smtClean="0"/>
              <a:t> by  determining  current process maturity and identifying the few issues that are most critical to </a:t>
            </a:r>
            <a:r>
              <a:rPr lang="en-US" sz="8800" dirty="0" smtClean="0"/>
              <a:t> </a:t>
            </a:r>
            <a:r>
              <a:rPr lang="ru-RU" sz="8800" dirty="0" smtClean="0"/>
              <a:t>eGovernment quality and process improvement. </a:t>
            </a:r>
            <a:endParaRPr lang="en-US" sz="8800" dirty="0" smtClean="0"/>
          </a:p>
          <a:p>
            <a:pPr algn="just">
              <a:buNone/>
            </a:pPr>
            <a:r>
              <a:rPr lang="ru-RU" sz="8800" dirty="0" smtClean="0"/>
              <a:t>• </a:t>
            </a:r>
            <a:r>
              <a:rPr lang="en-US" sz="8800" dirty="0" smtClean="0"/>
              <a:t> </a:t>
            </a:r>
            <a:r>
              <a:rPr lang="ru-RU" sz="8800" dirty="0" smtClean="0"/>
              <a:t>By  focusing  on  a  limited  set  of  activities  and  working  aggressively  to achieve   them,    we   can    steadily   </a:t>
            </a:r>
            <a:r>
              <a:rPr lang="ru-RU" sz="8800" dirty="0" smtClean="0">
                <a:solidFill>
                  <a:srgbClr val="C00000"/>
                </a:solidFill>
              </a:rPr>
              <a:t>improve   our    organization-wide eGovernment processes and enable continuous and lasting gains in our eGovernment capabilities</a:t>
            </a:r>
            <a:r>
              <a:rPr lang="ru-RU" sz="8800" dirty="0" smtClean="0"/>
              <a:t>. </a:t>
            </a:r>
            <a:endParaRPr lang="en-US" sz="8800" dirty="0" smtClean="0"/>
          </a:p>
          <a:p>
            <a:pPr algn="just">
              <a:buNone/>
            </a:pPr>
            <a:r>
              <a:rPr lang="ru-RU" sz="8800" dirty="0" smtClean="0"/>
              <a:t>•  </a:t>
            </a:r>
            <a:r>
              <a:rPr lang="en-US" sz="8800" dirty="0" smtClean="0"/>
              <a:t> </a:t>
            </a:r>
            <a:r>
              <a:rPr lang="ru-RU" sz="8800" dirty="0" smtClean="0"/>
              <a:t>Maturity models can be very involved and take years to </a:t>
            </a:r>
            <a:r>
              <a:rPr lang="ru-RU" sz="8800" dirty="0" smtClean="0">
                <a:solidFill>
                  <a:srgbClr val="00B050"/>
                </a:solidFill>
              </a:rPr>
              <a:t>master</a:t>
            </a:r>
            <a:r>
              <a:rPr lang="en-US" sz="8800" dirty="0" smtClean="0">
                <a:solidFill>
                  <a:srgbClr val="00B050"/>
                </a:solidFill>
              </a:rPr>
              <a:t> f</a:t>
            </a:r>
            <a:r>
              <a:rPr lang="ru-RU" sz="8800" dirty="0" smtClean="0">
                <a:solidFill>
                  <a:srgbClr val="00B050"/>
                </a:solidFill>
              </a:rPr>
              <a:t>or  good or bad, no well-developed maturity models for eGovernment    exist; the best available models are simple, but still useful for understanding some key facts about </a:t>
            </a:r>
            <a:r>
              <a:rPr lang="en-US" sz="8800" dirty="0" smtClean="0">
                <a:solidFill>
                  <a:srgbClr val="00B050"/>
                </a:solidFill>
              </a:rPr>
              <a:t> </a:t>
            </a:r>
            <a:r>
              <a:rPr lang="ru-RU" sz="8800" dirty="0" smtClean="0">
                <a:solidFill>
                  <a:srgbClr val="00B050"/>
                </a:solidFill>
              </a:rPr>
              <a:t>eGovernment. </a:t>
            </a:r>
            <a:endParaRPr lang="en-US" sz="8800" dirty="0" smtClean="0">
              <a:solidFill>
                <a:srgbClr val="00B050"/>
              </a:solidFill>
            </a:endParaRPr>
          </a:p>
          <a:p>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E-Governance Maturity Models (EMM)</a:t>
            </a:r>
            <a:r>
              <a:rPr lang="en-US" dirty="0" smtClean="0"/>
              <a:t/>
            </a:r>
            <a:br>
              <a:rPr lang="en-US" dirty="0" smtClean="0"/>
            </a:br>
            <a:endParaRPr lang="en-US" dirty="0"/>
          </a:p>
        </p:txBody>
      </p:sp>
      <p:sp>
        <p:nvSpPr>
          <p:cNvPr id="3" name="Content Placeholder 2"/>
          <p:cNvSpPr>
            <a:spLocks noGrp="1"/>
          </p:cNvSpPr>
          <p:nvPr>
            <p:ph idx="1"/>
          </p:nvPr>
        </p:nvSpPr>
        <p:spPr>
          <a:xfrm>
            <a:off x="533400" y="990600"/>
            <a:ext cx="8229600" cy="4525963"/>
          </a:xfrm>
        </p:spPr>
        <p:txBody>
          <a:bodyPr>
            <a:normAutofit fontScale="92500"/>
          </a:bodyPr>
          <a:lstStyle/>
          <a:p>
            <a:pPr>
              <a:buNone/>
            </a:pPr>
            <a:r>
              <a:rPr lang="ru-RU" dirty="0" smtClean="0"/>
              <a:t>– </a:t>
            </a:r>
            <a:r>
              <a:rPr lang="en-US" dirty="0" smtClean="0"/>
              <a:t> </a:t>
            </a:r>
            <a:r>
              <a:rPr lang="ru-RU" sz="2600" dirty="0" smtClean="0"/>
              <a:t>EMM   (</a:t>
            </a:r>
            <a:r>
              <a:rPr lang="ru-RU" sz="2600" dirty="0" smtClean="0">
                <a:solidFill>
                  <a:srgbClr val="FF0000"/>
                </a:solidFill>
              </a:rPr>
              <a:t>version   1.0-   Anjali  Dhingra   and   D.C.  Mishra</a:t>
            </a:r>
            <a:r>
              <a:rPr lang="ru-RU" sz="2600" dirty="0" smtClean="0"/>
              <a:t>) proposes   some   levels  of   maturity,   </a:t>
            </a:r>
            <a:r>
              <a:rPr lang="en-US" sz="2600" dirty="0" smtClean="0"/>
              <a:t> </a:t>
            </a:r>
            <a:r>
              <a:rPr lang="ru-RU" sz="2600" dirty="0" smtClean="0"/>
              <a:t>depending   on   the </a:t>
            </a:r>
            <a:r>
              <a:rPr lang="en-US" sz="2600" dirty="0" smtClean="0"/>
              <a:t> </a:t>
            </a:r>
            <a:r>
              <a:rPr lang="ru-RU" sz="2600" dirty="0" smtClean="0"/>
              <a:t>effectiveness with which the e-governance efforts have been initiated, implemented or successfully completed.</a:t>
            </a:r>
            <a:endParaRPr lang="en-US" sz="2600" dirty="0" smtClean="0"/>
          </a:p>
          <a:p>
            <a:pPr>
              <a:buNone/>
              <a:tabLst>
                <a:tab pos="344488" algn="l"/>
              </a:tabLst>
            </a:pPr>
            <a:r>
              <a:rPr lang="ru-RU" sz="2600" dirty="0" smtClean="0"/>
              <a:t>– </a:t>
            </a:r>
            <a:r>
              <a:rPr lang="en-US" sz="2600" dirty="0" smtClean="0"/>
              <a:t>  </a:t>
            </a:r>
            <a:r>
              <a:rPr lang="ru-RU" sz="2600" dirty="0" smtClean="0"/>
              <a:t>The model also provides for </a:t>
            </a:r>
            <a:r>
              <a:rPr lang="ru-RU" sz="2600" dirty="0" smtClean="0">
                <a:solidFill>
                  <a:srgbClr val="C00000"/>
                </a:solidFill>
              </a:rPr>
              <a:t>identification of key focus areas that need to be concentrated for attaining a specific maturity level.</a:t>
            </a:r>
            <a:endParaRPr lang="en-US" sz="2600" dirty="0" smtClean="0">
              <a:solidFill>
                <a:srgbClr val="C00000"/>
              </a:solidFill>
            </a:endParaRPr>
          </a:p>
          <a:p>
            <a:pPr>
              <a:buNone/>
            </a:pPr>
            <a:r>
              <a:rPr lang="ru-RU" sz="2600" dirty="0" smtClean="0"/>
              <a:t>– </a:t>
            </a:r>
            <a:r>
              <a:rPr lang="en-US" sz="2600" dirty="0" smtClean="0"/>
              <a:t>  </a:t>
            </a:r>
            <a:r>
              <a:rPr lang="ru-RU" sz="2600" dirty="0" smtClean="0">
                <a:solidFill>
                  <a:srgbClr val="C00000"/>
                </a:solidFill>
              </a:rPr>
              <a:t>The   EMM  version  1.0  proposes   five  levels  of</a:t>
            </a:r>
            <a:r>
              <a:rPr lang="en-US" sz="2600" dirty="0" smtClean="0">
                <a:solidFill>
                  <a:srgbClr val="C00000"/>
                </a:solidFill>
              </a:rPr>
              <a:t> </a:t>
            </a:r>
            <a:r>
              <a:rPr lang="ru-RU" sz="2600" dirty="0" smtClean="0">
                <a:solidFill>
                  <a:srgbClr val="C00000"/>
                </a:solidFill>
              </a:rPr>
              <a:t>maturity</a:t>
            </a:r>
            <a:r>
              <a:rPr lang="ru-RU" sz="2600" dirty="0" smtClean="0"/>
              <a:t>, depending   upon   the   effectiveness   with   which   the   e-governance  efforts   have  been  initiated,  pursued,  utilized and institutionalized.</a:t>
            </a:r>
            <a:endParaRPr lang="en-US" sz="2600" dirty="0" smtClean="0"/>
          </a:p>
          <a:p>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4000" dirty="0" smtClean="0">
                <a:solidFill>
                  <a:srgbClr val="0070C0"/>
                </a:solidFill>
              </a:rPr>
              <a:t/>
            </a:r>
            <a:br>
              <a:rPr lang="en-US" sz="4000" dirty="0" smtClean="0">
                <a:solidFill>
                  <a:srgbClr val="0070C0"/>
                </a:solidFill>
              </a:rPr>
            </a:br>
            <a:r>
              <a:rPr lang="ru-RU" sz="4000" dirty="0" smtClean="0">
                <a:solidFill>
                  <a:srgbClr val="0070C0"/>
                </a:solidFill>
              </a:rPr>
              <a:t>Five Maturity Levels</a:t>
            </a:r>
            <a:r>
              <a:rPr lang="en-US" dirty="0" smtClean="0"/>
              <a:t/>
            </a:r>
            <a:br>
              <a:rPr lang="en-US" dirty="0" smtClean="0"/>
            </a:br>
            <a:endParaRPr lang="en-US" dirty="0"/>
          </a:p>
        </p:txBody>
      </p:sp>
      <p:sp>
        <p:nvSpPr>
          <p:cNvPr id="3" name="Content Placeholder 2"/>
          <p:cNvSpPr>
            <a:spLocks noGrp="1"/>
          </p:cNvSpPr>
          <p:nvPr>
            <p:ph idx="1"/>
          </p:nvPr>
        </p:nvSpPr>
        <p:spPr>
          <a:xfrm>
            <a:off x="457200" y="914400"/>
            <a:ext cx="8229600" cy="4525963"/>
          </a:xfrm>
        </p:spPr>
        <p:txBody>
          <a:bodyPr>
            <a:normAutofit fontScale="25000" lnSpcReduction="20000"/>
          </a:bodyPr>
          <a:lstStyle/>
          <a:p>
            <a:pPr algn="just">
              <a:buNone/>
            </a:pPr>
            <a:r>
              <a:rPr lang="ru-RU" sz="8000" dirty="0" smtClean="0"/>
              <a:t>•  The  E-governance  maturity   model  (EMM-Version  1.0)  is </a:t>
            </a:r>
            <a:r>
              <a:rPr lang="ru-RU" sz="8000" dirty="0" smtClean="0">
                <a:solidFill>
                  <a:srgbClr val="C00000"/>
                </a:solidFill>
              </a:rPr>
              <a:t>based on</a:t>
            </a:r>
            <a:endParaRPr lang="en-US" sz="8000" dirty="0" smtClean="0">
              <a:solidFill>
                <a:srgbClr val="C00000"/>
              </a:solidFill>
            </a:endParaRPr>
          </a:p>
          <a:p>
            <a:pPr lvl="1" algn="just">
              <a:buFont typeface="Wingdings" pitchFamily="2" charset="2"/>
              <a:buChar char="ü"/>
            </a:pPr>
            <a:r>
              <a:rPr lang="en-US" sz="8000" dirty="0" smtClean="0">
                <a:solidFill>
                  <a:srgbClr val="C00000"/>
                </a:solidFill>
              </a:rPr>
              <a:t>S</a:t>
            </a:r>
            <a:r>
              <a:rPr lang="ru-RU" sz="8000" dirty="0" smtClean="0">
                <a:solidFill>
                  <a:srgbClr val="C00000"/>
                </a:solidFill>
              </a:rPr>
              <a:t>peed,   openness   and   ubiquity   </a:t>
            </a:r>
            <a:r>
              <a:rPr lang="ru-RU" sz="8000" dirty="0" smtClean="0"/>
              <a:t>(omnipresence)   are  the   major capabilities  of  ICT  which  can  be  use  for  generating  transparency, responsiveness and accountability in the system</a:t>
            </a:r>
            <a:r>
              <a:rPr lang="en-US" sz="8000" dirty="0" smtClean="0"/>
              <a:t>,on the one hand</a:t>
            </a:r>
          </a:p>
          <a:p>
            <a:pPr lvl="1" algn="just">
              <a:buFont typeface="Wingdings" pitchFamily="2" charset="2"/>
              <a:buChar char="ü"/>
            </a:pPr>
            <a:r>
              <a:rPr lang="ru-RU" sz="8000" dirty="0" smtClean="0"/>
              <a:t> </a:t>
            </a:r>
            <a:r>
              <a:rPr lang="en-US" sz="8000" dirty="0" smtClean="0">
                <a:solidFill>
                  <a:srgbClr val="C00000"/>
                </a:solidFill>
              </a:rPr>
              <a:t>E</a:t>
            </a:r>
            <a:r>
              <a:rPr lang="ru-RU" sz="8000" dirty="0" smtClean="0">
                <a:solidFill>
                  <a:srgbClr val="C00000"/>
                </a:solidFill>
              </a:rPr>
              <a:t>mpowering  the  common  man  by  providing  faster  access  to  right </a:t>
            </a:r>
            <a:r>
              <a:rPr lang="en-US" sz="8000" dirty="0" smtClean="0">
                <a:solidFill>
                  <a:srgbClr val="C00000"/>
                </a:solidFill>
              </a:rPr>
              <a:t> </a:t>
            </a:r>
            <a:r>
              <a:rPr lang="ru-RU" sz="8000" dirty="0" smtClean="0">
                <a:solidFill>
                  <a:srgbClr val="C00000"/>
                </a:solidFill>
              </a:rPr>
              <a:t>information at the right time</a:t>
            </a:r>
            <a:r>
              <a:rPr lang="en-US" sz="8000" dirty="0" smtClean="0">
                <a:solidFill>
                  <a:srgbClr val="C00000"/>
                </a:solidFill>
              </a:rPr>
              <a:t>,on the other hand</a:t>
            </a:r>
          </a:p>
          <a:p>
            <a:pPr lvl="1" algn="just">
              <a:buFont typeface="Wingdings" pitchFamily="2" charset="2"/>
              <a:buChar char="ü"/>
            </a:pPr>
            <a:r>
              <a:rPr lang="en-US" sz="8000" dirty="0" smtClean="0">
                <a:solidFill>
                  <a:srgbClr val="C00000"/>
                </a:solidFill>
              </a:rPr>
              <a:t>S</a:t>
            </a:r>
            <a:r>
              <a:rPr lang="ru-RU" sz="8000" dirty="0" smtClean="0">
                <a:solidFill>
                  <a:srgbClr val="C00000"/>
                </a:solidFill>
              </a:rPr>
              <a:t>ervice-oriented  approach  </a:t>
            </a:r>
            <a:r>
              <a:rPr lang="ru-RU" sz="8000" dirty="0" smtClean="0"/>
              <a:t>where  public  administration  is  seen  as professional activity and efficient delivery of services to the internal and external users</a:t>
            </a:r>
            <a:r>
              <a:rPr lang="en-US" sz="8000" dirty="0" smtClean="0"/>
              <a:t>(customers)</a:t>
            </a:r>
            <a:r>
              <a:rPr lang="ru-RU" sz="8000" dirty="0" smtClean="0"/>
              <a:t> is emphasized as a key performance indicator of the government department.</a:t>
            </a:r>
            <a:endParaRPr lang="en-US" sz="8000" dirty="0" smtClean="0"/>
          </a:p>
          <a:p>
            <a:pPr lvl="2" algn="just">
              <a:buFont typeface="Wingdings" pitchFamily="2" charset="2"/>
              <a:buChar char="ü"/>
            </a:pPr>
            <a:r>
              <a:rPr lang="en-US" sz="8000" dirty="0" smtClean="0"/>
              <a:t>The </a:t>
            </a:r>
            <a:r>
              <a:rPr lang="en-US" sz="8000" dirty="0" smtClean="0">
                <a:solidFill>
                  <a:srgbClr val="FF0000"/>
                </a:solidFill>
              </a:rPr>
              <a:t>internal customers/users of an organization are its employees </a:t>
            </a:r>
            <a:r>
              <a:rPr lang="en-US" sz="8000" dirty="0" smtClean="0"/>
              <a:t>and the </a:t>
            </a:r>
            <a:r>
              <a:rPr lang="en-US" sz="8000" dirty="0" smtClean="0">
                <a:solidFill>
                  <a:srgbClr val="00B050"/>
                </a:solidFill>
              </a:rPr>
              <a:t>external users are citizens, business, other government and non governmental bodies </a:t>
            </a:r>
            <a:r>
              <a:rPr lang="en-US" sz="8000" dirty="0" smtClean="0"/>
              <a:t>that the organization needs to satisfy in its e-governance Endeavour.</a:t>
            </a:r>
          </a:p>
          <a:p>
            <a:pPr lvl="1" algn="just">
              <a:buFont typeface="Wingdings" pitchFamily="2" charset="2"/>
              <a:buChar char="ü"/>
            </a:pPr>
            <a:r>
              <a:rPr lang="en-US" sz="8000" dirty="0" smtClean="0"/>
              <a:t>The maturity levels described, provide a necessary mechanism to benchmark the efforts invested by an organization in implementing e-governance and subsequently sustaining it to the satisfaction of its customers/users.</a:t>
            </a:r>
          </a:p>
          <a:p>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Five Maturity Levels</a:t>
            </a:r>
            <a:r>
              <a:rPr lang="en-US" dirty="0" smtClean="0"/>
              <a:t/>
            </a:r>
            <a:br>
              <a:rPr lang="en-US" dirty="0" smtClean="0"/>
            </a:br>
            <a:endParaRPr lang="en-US" dirty="0"/>
          </a:p>
        </p:txBody>
      </p:sp>
      <p:pic>
        <p:nvPicPr>
          <p:cNvPr id="4" name="Picture 2"/>
          <p:cNvPicPr>
            <a:picLocks noGrp="1" noChangeAspect="1" noChangeArrowheads="1"/>
          </p:cNvPicPr>
          <p:nvPr>
            <p:ph idx="1"/>
          </p:nvPr>
        </p:nvPicPr>
        <p:blipFill>
          <a:blip r:embed="rId2"/>
          <a:srcRect/>
          <a:stretch>
            <a:fillRect/>
          </a:stretch>
        </p:blipFill>
        <p:spPr bwMode="auto">
          <a:xfrm>
            <a:off x="838759" y="1066800"/>
            <a:ext cx="6685991" cy="495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fontScale="90000"/>
          </a:bodyPr>
          <a:lstStyle/>
          <a:p>
            <a:r>
              <a:rPr lang="en-US" dirty="0" smtClean="0"/>
              <a:t/>
            </a:r>
            <a:br>
              <a:rPr lang="en-US" dirty="0" smtClean="0"/>
            </a:br>
            <a:r>
              <a:rPr lang="ru-RU" sz="4000" dirty="0" smtClean="0">
                <a:solidFill>
                  <a:srgbClr val="0070C0"/>
                </a:solidFill>
              </a:rPr>
              <a:t>LEVEL 1: Closed</a:t>
            </a:r>
            <a:r>
              <a:rPr lang="en-US" dirty="0" smtClean="0"/>
              <a:t/>
            </a:r>
            <a:br>
              <a:rPr lang="en-US" dirty="0" smtClean="0"/>
            </a:br>
            <a:endParaRPr lang="en-US" dirty="0"/>
          </a:p>
        </p:txBody>
      </p:sp>
      <p:sp>
        <p:nvSpPr>
          <p:cNvPr id="3" name="Content Placeholder 2"/>
          <p:cNvSpPr>
            <a:spLocks noGrp="1"/>
          </p:cNvSpPr>
          <p:nvPr>
            <p:ph idx="1"/>
          </p:nvPr>
        </p:nvSpPr>
        <p:spPr>
          <a:xfrm>
            <a:off x="381000" y="990600"/>
            <a:ext cx="8229600" cy="4525963"/>
          </a:xfrm>
        </p:spPr>
        <p:txBody>
          <a:bodyPr>
            <a:normAutofit fontScale="70000" lnSpcReduction="20000"/>
          </a:bodyPr>
          <a:lstStyle/>
          <a:p>
            <a:pPr algn="just"/>
            <a:r>
              <a:rPr lang="ru-RU" dirty="0" smtClean="0"/>
              <a:t>Here an </a:t>
            </a:r>
            <a:r>
              <a:rPr lang="ru-RU" dirty="0" smtClean="0">
                <a:solidFill>
                  <a:srgbClr val="C00000"/>
                </a:solidFill>
              </a:rPr>
              <a:t>organization does not use ICT </a:t>
            </a:r>
            <a:r>
              <a:rPr lang="ru-RU" dirty="0" smtClean="0"/>
              <a:t>as a facilitator for good  governance  and  has  no  plans  to  do  so  in  the  near </a:t>
            </a:r>
            <a:r>
              <a:rPr lang="en-US" dirty="0" smtClean="0"/>
              <a:t> </a:t>
            </a:r>
            <a:r>
              <a:rPr lang="ru-RU" dirty="0" smtClean="0"/>
              <a:t>future.</a:t>
            </a:r>
            <a:endParaRPr lang="en-US" dirty="0" smtClean="0"/>
          </a:p>
          <a:p>
            <a:pPr algn="just">
              <a:buNone/>
            </a:pPr>
            <a:r>
              <a:rPr lang="ru-RU" dirty="0" smtClean="0"/>
              <a:t>• Such situation </a:t>
            </a:r>
            <a:r>
              <a:rPr lang="ru-RU" dirty="0" smtClean="0">
                <a:solidFill>
                  <a:srgbClr val="C00000"/>
                </a:solidFill>
              </a:rPr>
              <a:t>may arise due to lack of exposure to ICTs </a:t>
            </a:r>
            <a:r>
              <a:rPr lang="ru-RU" dirty="0" smtClean="0"/>
              <a:t>and associated benefits that again may depend upon a number of  reasons: </a:t>
            </a:r>
            <a:r>
              <a:rPr lang="ru-RU" dirty="0" smtClean="0">
                <a:solidFill>
                  <a:srgbClr val="00B050"/>
                </a:solidFill>
              </a:rPr>
              <a:t>remoteness</a:t>
            </a:r>
            <a:r>
              <a:rPr lang="en-US" dirty="0" smtClean="0">
                <a:solidFill>
                  <a:srgbClr val="00B050"/>
                </a:solidFill>
              </a:rPr>
              <a:t> from the mainstream in terms of location</a:t>
            </a:r>
            <a:r>
              <a:rPr lang="ru-RU" dirty="0" smtClean="0">
                <a:solidFill>
                  <a:srgbClr val="00B050"/>
                </a:solidFill>
              </a:rPr>
              <a:t>,lack  of  resources  and strategic thinking</a:t>
            </a:r>
            <a:r>
              <a:rPr lang="en-US" dirty="0" smtClean="0">
                <a:solidFill>
                  <a:srgbClr val="00B050"/>
                </a:solidFill>
              </a:rPr>
              <a:t> could be some of the other issues.</a:t>
            </a:r>
          </a:p>
          <a:p>
            <a:pPr algn="just">
              <a:buNone/>
            </a:pPr>
            <a:r>
              <a:rPr lang="ru-RU" dirty="0" smtClean="0"/>
              <a:t>•  As  a  result  the  organization  is  closed  in  terms  of  </a:t>
            </a:r>
            <a:r>
              <a:rPr lang="ru-RU" dirty="0" smtClean="0">
                <a:solidFill>
                  <a:srgbClr val="00B050"/>
                </a:solidFill>
              </a:rPr>
              <a:t>being connected and sharing of information in the context of “E-governance”.</a:t>
            </a:r>
            <a:endParaRPr lang="en-US" dirty="0" smtClean="0">
              <a:solidFill>
                <a:srgbClr val="00B050"/>
              </a:solidFill>
            </a:endParaRPr>
          </a:p>
          <a:p>
            <a:pPr algn="just">
              <a:buNone/>
            </a:pPr>
            <a:r>
              <a:rPr lang="ru-RU" dirty="0" smtClean="0"/>
              <a:t>•  However,  even  in  this  condition  the  organization  may  be </a:t>
            </a:r>
            <a:r>
              <a:rPr lang="ru-RU" dirty="0" smtClean="0">
                <a:solidFill>
                  <a:srgbClr val="C00000"/>
                </a:solidFill>
              </a:rPr>
              <a:t>efficiently functioning</a:t>
            </a:r>
            <a:r>
              <a:rPr lang="ru-RU" dirty="0" smtClean="0"/>
              <a:t>.</a:t>
            </a:r>
            <a:endParaRPr lang="en-US" dirty="0" smtClean="0"/>
          </a:p>
          <a:p>
            <a:pPr algn="just"/>
            <a:r>
              <a:rPr lang="en-US" dirty="0" smtClean="0"/>
              <a:t>Given the trend today, all organizations may take up ICT implementation sooner or later.</a:t>
            </a:r>
          </a:p>
          <a:p>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LEVEL 2: Initial</a:t>
            </a:r>
            <a:r>
              <a:rPr lang="en-US" dirty="0" smtClean="0">
                <a:solidFill>
                  <a:srgbClr val="0070C0"/>
                </a:solidFill>
              </a:rPr>
              <a:t/>
            </a:r>
            <a:br>
              <a:rPr lang="en-US" dirty="0" smtClean="0">
                <a:solidFill>
                  <a:srgbClr val="0070C0"/>
                </a:solidFill>
              </a:rPr>
            </a:br>
            <a:endParaRPr lang="en-US" dirty="0">
              <a:solidFill>
                <a:srgbClr val="0070C0"/>
              </a:solidFill>
            </a:endParaRPr>
          </a:p>
        </p:txBody>
      </p:sp>
      <p:sp>
        <p:nvSpPr>
          <p:cNvPr id="3" name="Content Placeholder 2"/>
          <p:cNvSpPr>
            <a:spLocks noGrp="1"/>
          </p:cNvSpPr>
          <p:nvPr>
            <p:ph idx="1"/>
          </p:nvPr>
        </p:nvSpPr>
        <p:spPr>
          <a:xfrm>
            <a:off x="457200" y="990600"/>
            <a:ext cx="8229600" cy="4525963"/>
          </a:xfrm>
        </p:spPr>
        <p:txBody>
          <a:bodyPr/>
          <a:lstStyle/>
          <a:p>
            <a:pPr algn="just">
              <a:buNone/>
            </a:pPr>
            <a:r>
              <a:rPr lang="ru-RU" dirty="0" smtClean="0"/>
              <a:t>•  </a:t>
            </a:r>
            <a:r>
              <a:rPr lang="ru-RU" sz="2400" dirty="0" smtClean="0"/>
              <a:t>This  level  corresponds  to  the  stage  when  an  </a:t>
            </a:r>
            <a:r>
              <a:rPr lang="ru-RU" sz="2400" dirty="0" smtClean="0">
                <a:solidFill>
                  <a:srgbClr val="C00000"/>
                </a:solidFill>
              </a:rPr>
              <a:t>organization has initiated the automation of its processes but on a ad-hoc basis.</a:t>
            </a:r>
            <a:endParaRPr lang="en-US" sz="2400" dirty="0" smtClean="0">
              <a:solidFill>
                <a:srgbClr val="C00000"/>
              </a:solidFill>
            </a:endParaRPr>
          </a:p>
          <a:p>
            <a:pPr algn="just">
              <a:buNone/>
            </a:pPr>
            <a:r>
              <a:rPr lang="ru-RU" sz="2400" dirty="0" smtClean="0"/>
              <a:t>•  </a:t>
            </a:r>
            <a:r>
              <a:rPr lang="en-US" sz="2400" dirty="0" smtClean="0"/>
              <a:t> </a:t>
            </a:r>
            <a:r>
              <a:rPr lang="ru-RU" sz="2400" dirty="0" smtClean="0">
                <a:solidFill>
                  <a:srgbClr val="00B050"/>
                </a:solidFill>
              </a:rPr>
              <a:t>No   organized  efforts   are   made   to undertake   the   e-governance initiatives.</a:t>
            </a:r>
            <a:endParaRPr lang="en-US" sz="2400" dirty="0" smtClean="0">
              <a:solidFill>
                <a:srgbClr val="00B050"/>
              </a:solidFill>
            </a:endParaRPr>
          </a:p>
          <a:p>
            <a:pPr algn="just">
              <a:buNone/>
            </a:pPr>
            <a:r>
              <a:rPr lang="ru-RU" sz="2400" dirty="0" smtClean="0"/>
              <a:t>•  </a:t>
            </a:r>
            <a:r>
              <a:rPr lang="en-US" sz="2400" dirty="0" smtClean="0"/>
              <a:t>Also, </a:t>
            </a:r>
            <a:r>
              <a:rPr lang="ru-RU" sz="2400" dirty="0" smtClean="0"/>
              <a:t>Ma</a:t>
            </a:r>
            <a:r>
              <a:rPr lang="en-US" sz="2400" dirty="0" smtClean="0"/>
              <a:t>n</a:t>
            </a:r>
            <a:r>
              <a:rPr lang="ru-RU" sz="2400" dirty="0" smtClean="0"/>
              <a:t>y of such efforts are abandoned due to lack of proper directio</a:t>
            </a:r>
            <a:r>
              <a:rPr lang="en-US" sz="2400" dirty="0" smtClean="0"/>
              <a:t>n at a subsequent date.</a:t>
            </a:r>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
            </a:r>
            <a:br>
              <a:rPr lang="en-US" dirty="0" smtClean="0"/>
            </a:br>
            <a:r>
              <a:rPr lang="ru-RU" sz="4000" dirty="0" smtClean="0">
                <a:solidFill>
                  <a:srgbClr val="0070C0"/>
                </a:solidFill>
              </a:rPr>
              <a:t>LEVEL 3: Planned</a:t>
            </a:r>
            <a:r>
              <a:rPr lang="en-US" dirty="0" smtClean="0"/>
              <a:t/>
            </a:r>
            <a:br>
              <a:rPr lang="en-US" dirty="0" smtClean="0"/>
            </a:br>
            <a:endParaRPr lang="en-US" dirty="0"/>
          </a:p>
        </p:txBody>
      </p:sp>
      <p:sp>
        <p:nvSpPr>
          <p:cNvPr id="3" name="Content Placeholder 2"/>
          <p:cNvSpPr>
            <a:spLocks noGrp="1"/>
          </p:cNvSpPr>
          <p:nvPr>
            <p:ph idx="1"/>
          </p:nvPr>
        </p:nvSpPr>
        <p:spPr>
          <a:xfrm>
            <a:off x="533400" y="1143000"/>
            <a:ext cx="8229600" cy="4525963"/>
          </a:xfrm>
        </p:spPr>
        <p:txBody>
          <a:bodyPr>
            <a:normAutofit fontScale="92500"/>
          </a:bodyPr>
          <a:lstStyle/>
          <a:p>
            <a:pPr algn="just">
              <a:buNone/>
            </a:pPr>
            <a:r>
              <a:rPr lang="ru-RU" sz="2400" dirty="0" smtClean="0"/>
              <a:t>•  This  level  comprises  of  </a:t>
            </a:r>
            <a:r>
              <a:rPr lang="ru-RU" sz="2400" dirty="0" smtClean="0">
                <a:solidFill>
                  <a:srgbClr val="C00000"/>
                </a:solidFill>
              </a:rPr>
              <a:t>systematic  approaches  with  clearly defined vision, objectives and goals for e-governance.</a:t>
            </a:r>
            <a:endParaRPr lang="en-US" sz="2400" dirty="0" smtClean="0">
              <a:solidFill>
                <a:srgbClr val="C00000"/>
              </a:solidFill>
            </a:endParaRPr>
          </a:p>
          <a:p>
            <a:pPr algn="just">
              <a:buNone/>
            </a:pPr>
            <a:r>
              <a:rPr lang="ru-RU" sz="2400" dirty="0" smtClean="0"/>
              <a:t>•  </a:t>
            </a:r>
            <a:r>
              <a:rPr lang="en-US" sz="2400" dirty="0" smtClean="0"/>
              <a:t> </a:t>
            </a:r>
            <a:r>
              <a:rPr lang="ru-RU" sz="2400" dirty="0" smtClean="0">
                <a:solidFill>
                  <a:srgbClr val="C00000"/>
                </a:solidFill>
              </a:rPr>
              <a:t>Need  assessments  are  </a:t>
            </a:r>
            <a:r>
              <a:rPr lang="en-US" sz="2400" dirty="0" smtClean="0">
                <a:solidFill>
                  <a:srgbClr val="C00000"/>
                </a:solidFill>
              </a:rPr>
              <a:t>conducted</a:t>
            </a:r>
            <a:r>
              <a:rPr lang="ru-RU" sz="2400" dirty="0" smtClean="0">
                <a:solidFill>
                  <a:srgbClr val="C00000"/>
                </a:solidFill>
              </a:rPr>
              <a:t>  </a:t>
            </a:r>
            <a:r>
              <a:rPr lang="ru-RU" sz="2400" dirty="0" smtClean="0"/>
              <a:t>to   prioritize  the    areas  of implementation and measure the extent of e-readiness.</a:t>
            </a:r>
            <a:endParaRPr lang="en-US" sz="2400" dirty="0" smtClean="0"/>
          </a:p>
          <a:p>
            <a:pPr algn="just">
              <a:buNone/>
            </a:pPr>
            <a:r>
              <a:rPr lang="ru-RU" sz="2400" dirty="0" smtClean="0"/>
              <a:t>•  </a:t>
            </a:r>
            <a:r>
              <a:rPr lang="ru-RU" sz="2400" dirty="0" smtClean="0">
                <a:solidFill>
                  <a:srgbClr val="C00000"/>
                </a:solidFill>
              </a:rPr>
              <a:t>Taking   necessary   input   from   need    assessment   study</a:t>
            </a:r>
            <a:r>
              <a:rPr lang="ru-RU" sz="2400" dirty="0" smtClean="0"/>
              <a:t>, extensive planning has been carried out indicating policies, strategies,    various   activities,    stakeholders,    roles   and responsibilities  and  resources   required  in  terms  of  time, money   and  manpower   to  undertake   the   e-governance exercise.</a:t>
            </a:r>
            <a:endParaRPr lang="en-US" sz="2400" dirty="0" smtClean="0"/>
          </a:p>
          <a:p>
            <a:pPr algn="just"/>
            <a:r>
              <a:rPr lang="en-US" sz="2400" dirty="0" smtClean="0"/>
              <a:t>However the organization is yet to enter into the planned implementation of the e-governance exercise, even though all the requisite planning is completed. </a:t>
            </a:r>
          </a:p>
          <a:p>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
            </a:r>
            <a:br>
              <a:rPr lang="en-US" dirty="0" smtClean="0"/>
            </a:br>
            <a:r>
              <a:rPr lang="ru-RU" dirty="0" smtClean="0">
                <a:solidFill>
                  <a:srgbClr val="0070C0"/>
                </a:solidFill>
              </a:rPr>
              <a:t>LEVEL 4: Realized</a:t>
            </a:r>
            <a:r>
              <a:rPr lang="en-US" dirty="0" smtClean="0"/>
              <a:t/>
            </a:r>
            <a:br>
              <a:rPr lang="en-US" dirty="0" smtClean="0"/>
            </a:br>
            <a:endParaRPr lang="en-US" dirty="0"/>
          </a:p>
        </p:txBody>
      </p:sp>
      <p:sp>
        <p:nvSpPr>
          <p:cNvPr id="3" name="Content Placeholder 2"/>
          <p:cNvSpPr>
            <a:spLocks noGrp="1"/>
          </p:cNvSpPr>
          <p:nvPr>
            <p:ph idx="1"/>
          </p:nvPr>
        </p:nvSpPr>
        <p:spPr>
          <a:xfrm>
            <a:off x="457200" y="1143000"/>
            <a:ext cx="8229600" cy="4953000"/>
          </a:xfrm>
        </p:spPr>
        <p:txBody>
          <a:bodyPr>
            <a:normAutofit fontScale="25000" lnSpcReduction="20000"/>
          </a:bodyPr>
          <a:lstStyle/>
          <a:p>
            <a:pPr algn="just">
              <a:buNone/>
            </a:pPr>
            <a:r>
              <a:rPr lang="ru-RU" sz="8000" dirty="0" smtClean="0"/>
              <a:t>• </a:t>
            </a:r>
            <a:r>
              <a:rPr lang="en-US" sz="8000" dirty="0" smtClean="0"/>
              <a:t> </a:t>
            </a:r>
            <a:r>
              <a:rPr lang="ru-RU" sz="8000" dirty="0" smtClean="0"/>
              <a:t> This  level  corresponds  to  the  stage  when  the  </a:t>
            </a:r>
            <a:r>
              <a:rPr lang="ru-RU" sz="8000" dirty="0" smtClean="0">
                <a:solidFill>
                  <a:srgbClr val="C00000"/>
                </a:solidFill>
              </a:rPr>
              <a:t>organization actually realizes the complete e-governance plan.</a:t>
            </a:r>
            <a:endParaRPr lang="en-US" sz="8000" dirty="0" smtClean="0">
              <a:solidFill>
                <a:srgbClr val="C00000"/>
              </a:solidFill>
            </a:endParaRPr>
          </a:p>
          <a:p>
            <a:pPr algn="just">
              <a:buNone/>
            </a:pPr>
            <a:r>
              <a:rPr lang="ru-RU" sz="8000" dirty="0" smtClean="0"/>
              <a:t>•  </a:t>
            </a:r>
            <a:r>
              <a:rPr lang="en-US" sz="8000" dirty="0" smtClean="0"/>
              <a:t> </a:t>
            </a:r>
            <a:r>
              <a:rPr lang="ru-RU" sz="8000" dirty="0" smtClean="0"/>
              <a:t>Consequently, an </a:t>
            </a:r>
            <a:r>
              <a:rPr lang="ru-RU" sz="8000" dirty="0" smtClean="0">
                <a:solidFill>
                  <a:srgbClr val="00B050"/>
                </a:solidFill>
              </a:rPr>
              <a:t>integrated system is established where all the internal processes of the   organization are computerized </a:t>
            </a:r>
            <a:r>
              <a:rPr lang="ru-RU" sz="8000" dirty="0" smtClean="0"/>
              <a:t>and  there  is  a  seamless  information  exchange  among  all concerned entities.</a:t>
            </a:r>
            <a:endParaRPr lang="en-US" sz="8000" dirty="0" smtClean="0"/>
          </a:p>
          <a:p>
            <a:pPr algn="just">
              <a:buNone/>
            </a:pPr>
            <a:r>
              <a:rPr lang="ru-RU" sz="8000" dirty="0" smtClean="0"/>
              <a:t>•  The organization </a:t>
            </a:r>
            <a:r>
              <a:rPr lang="ru-RU" sz="8000" dirty="0" smtClean="0">
                <a:solidFill>
                  <a:srgbClr val="C00000"/>
                </a:solidFill>
              </a:rPr>
              <a:t>starts delivering the services to its external as well as internal customers </a:t>
            </a:r>
            <a:r>
              <a:rPr lang="ru-RU" sz="8000" dirty="0" smtClean="0"/>
              <a:t>in an effective manner.</a:t>
            </a:r>
            <a:endParaRPr lang="en-US" sz="8000" dirty="0" smtClean="0"/>
          </a:p>
          <a:p>
            <a:pPr algn="just">
              <a:buNone/>
            </a:pPr>
            <a:r>
              <a:rPr lang="ru-RU" sz="8000" dirty="0" smtClean="0"/>
              <a:t>• Complete </a:t>
            </a:r>
            <a:r>
              <a:rPr lang="ru-RU" sz="8000" dirty="0" smtClean="0">
                <a:solidFill>
                  <a:srgbClr val="FF0000"/>
                </a:solidFill>
              </a:rPr>
              <a:t>realization of the plan, in a single instance, would entail  enormous  amount   of  resources  in  terms  of   time, money  and  manpower  </a:t>
            </a:r>
            <a:r>
              <a:rPr lang="ru-RU" sz="8000" dirty="0" smtClean="0"/>
              <a:t>which  may  necessitate  adopting  a phased  approach for  operationalizing the  e-governance </a:t>
            </a:r>
            <a:r>
              <a:rPr lang="en-US" sz="8000" dirty="0" smtClean="0"/>
              <a:t> </a:t>
            </a:r>
            <a:r>
              <a:rPr lang="ru-RU" sz="8000" dirty="0" smtClean="0"/>
              <a:t>services.</a:t>
            </a:r>
            <a:endParaRPr lang="en-US" sz="8000" dirty="0" smtClean="0"/>
          </a:p>
          <a:p>
            <a:pPr algn="just"/>
            <a:r>
              <a:rPr lang="en-US" sz="8000" dirty="0" smtClean="0"/>
              <a:t>Accordingly a further classification within this level has been proposed that measures the extent of realization of the plan over a period of time.</a:t>
            </a:r>
          </a:p>
          <a:p>
            <a:pPr lvl="1" algn="just">
              <a:buFont typeface="Wingdings" pitchFamily="2" charset="2"/>
              <a:buChar char="ü"/>
            </a:pPr>
            <a:r>
              <a:rPr lang="en-US" sz="8000" dirty="0" smtClean="0"/>
              <a:t>These sub-levels are also </a:t>
            </a:r>
            <a:r>
              <a:rPr lang="en-US" sz="8000" dirty="0" smtClean="0">
                <a:solidFill>
                  <a:srgbClr val="FF0000"/>
                </a:solidFill>
              </a:rPr>
              <a:t>indicative  of openness and effectiveness with which the information </a:t>
            </a:r>
            <a:r>
              <a:rPr lang="en-US" sz="8000" dirty="0" smtClean="0"/>
              <a:t>is exchanged among various entities of organization(external and internal)</a:t>
            </a:r>
          </a:p>
          <a:p>
            <a:pPr>
              <a:buNone/>
            </a:pPr>
            <a:endParaRPr lang="en-US" dirty="0" smtClean="0"/>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normAutofit fontScale="90000"/>
          </a:bodyPr>
          <a:lstStyle/>
          <a:p>
            <a:r>
              <a:rPr lang="en-US" dirty="0" smtClean="0"/>
              <a:t/>
            </a:r>
            <a:br>
              <a:rPr lang="en-US" dirty="0" smtClean="0"/>
            </a:br>
            <a:r>
              <a:rPr lang="ru-RU" sz="4000" dirty="0" smtClean="0">
                <a:solidFill>
                  <a:srgbClr val="0070C0"/>
                </a:solidFill>
              </a:rPr>
              <a:t>LEVEL 4: Realized (Contd…)</a:t>
            </a:r>
            <a:r>
              <a:rPr lang="en-US" dirty="0" smtClean="0"/>
              <a:t/>
            </a:r>
            <a:br>
              <a:rPr lang="en-US" dirty="0" smtClean="0"/>
            </a:br>
            <a:endParaRPr lang="en-US" dirty="0"/>
          </a:p>
        </p:txBody>
      </p:sp>
      <p:sp>
        <p:nvSpPr>
          <p:cNvPr id="3" name="Content Placeholder 2"/>
          <p:cNvSpPr>
            <a:spLocks noGrp="1"/>
          </p:cNvSpPr>
          <p:nvPr>
            <p:ph idx="1"/>
          </p:nvPr>
        </p:nvSpPr>
        <p:spPr>
          <a:xfrm>
            <a:off x="457200" y="762000"/>
            <a:ext cx="8229600" cy="5562600"/>
          </a:xfrm>
        </p:spPr>
        <p:txBody>
          <a:bodyPr>
            <a:normAutofit fontScale="25000" lnSpcReduction="20000"/>
          </a:bodyPr>
          <a:lstStyle/>
          <a:p>
            <a:pPr algn="just">
              <a:buNone/>
            </a:pPr>
            <a:r>
              <a:rPr lang="ru-RU" sz="8000" dirty="0" smtClean="0"/>
              <a:t>• </a:t>
            </a:r>
            <a:r>
              <a:rPr lang="ru-RU" sz="8000" dirty="0" smtClean="0">
                <a:solidFill>
                  <a:srgbClr val="00B050"/>
                </a:solidFill>
              </a:rPr>
              <a:t>Retrospected:   </a:t>
            </a:r>
            <a:r>
              <a:rPr lang="ru-RU" sz="8000" dirty="0" smtClean="0"/>
              <a:t>At  this   level,  </a:t>
            </a:r>
            <a:r>
              <a:rPr lang="ru-RU" sz="8000" dirty="0" smtClean="0">
                <a:solidFill>
                  <a:srgbClr val="C00000"/>
                </a:solidFill>
              </a:rPr>
              <a:t>the   organization   has  retrospectively</a:t>
            </a:r>
            <a:r>
              <a:rPr lang="en-US" sz="8000" dirty="0" smtClean="0">
                <a:solidFill>
                  <a:srgbClr val="C00000"/>
                </a:solidFill>
              </a:rPr>
              <a:t>(survey or review of past)</a:t>
            </a:r>
            <a:r>
              <a:rPr lang="ru-RU" sz="8000" dirty="0" smtClean="0">
                <a:solidFill>
                  <a:srgbClr val="C00000"/>
                </a:solidFill>
              </a:rPr>
              <a:t> studied  its   business  processes   in  view   of  its   vision</a:t>
            </a:r>
            <a:r>
              <a:rPr lang="ru-RU" sz="8000" dirty="0" smtClean="0"/>
              <a:t>,  overall  e-governance objectives, the service-oriented approach and changes, if required, in the processes are initiated as a constant evolutionary process.</a:t>
            </a:r>
            <a:endParaRPr lang="en-US" sz="8000" dirty="0" smtClean="0"/>
          </a:p>
          <a:p>
            <a:pPr algn="just">
              <a:buNone/>
            </a:pPr>
            <a:r>
              <a:rPr lang="ru-RU" sz="8000" dirty="0" smtClean="0"/>
              <a:t>•  </a:t>
            </a:r>
            <a:r>
              <a:rPr lang="ru-RU" sz="8000" dirty="0" smtClean="0">
                <a:solidFill>
                  <a:srgbClr val="00B050"/>
                </a:solidFill>
              </a:rPr>
              <a:t>E-ready:  </a:t>
            </a:r>
            <a:r>
              <a:rPr lang="ru-RU" sz="8000" dirty="0" smtClean="0"/>
              <a:t>In  this  stage,  </a:t>
            </a:r>
            <a:r>
              <a:rPr lang="ru-RU" sz="8000" dirty="0" smtClean="0">
                <a:solidFill>
                  <a:srgbClr val="C00000"/>
                </a:solidFill>
              </a:rPr>
              <a:t>e-readiness</a:t>
            </a:r>
            <a:r>
              <a:rPr lang="ru-RU" sz="8000" dirty="0" smtClean="0"/>
              <a:t>  essentials,  which  are  also  the building blocks for e-governance, are ensured by the organization</a:t>
            </a:r>
            <a:endParaRPr lang="en-US" sz="8000" dirty="0" smtClean="0"/>
          </a:p>
          <a:p>
            <a:pPr lvl="1">
              <a:buFont typeface="Wingdings" panose="05000000000000000000" pitchFamily="2" charset="2"/>
              <a:buChar char="ü"/>
            </a:pPr>
            <a:r>
              <a:rPr lang="en-US" sz="8000" dirty="0" smtClean="0"/>
              <a:t>E-readiness is the </a:t>
            </a:r>
            <a:r>
              <a:rPr lang="en-US" sz="8000" dirty="0"/>
              <a:t>maturity of citizens, businesses, NGOs and governments for participating in the electronic world </a:t>
            </a:r>
            <a:endParaRPr lang="en-US" sz="8000" dirty="0" smtClean="0"/>
          </a:p>
          <a:p>
            <a:pPr algn="just">
              <a:buNone/>
            </a:pPr>
            <a:r>
              <a:rPr lang="ru-RU" sz="8000" dirty="0" smtClean="0"/>
              <a:t>• </a:t>
            </a:r>
            <a:r>
              <a:rPr lang="en-US" sz="8000" dirty="0" smtClean="0"/>
              <a:t> </a:t>
            </a:r>
            <a:r>
              <a:rPr lang="ru-RU" sz="8000" dirty="0" smtClean="0">
                <a:solidFill>
                  <a:srgbClr val="00B050"/>
                </a:solidFill>
              </a:rPr>
              <a:t>Partially open:  </a:t>
            </a:r>
            <a:r>
              <a:rPr lang="ru-RU" sz="8000" dirty="0" smtClean="0"/>
              <a:t>At this stage </a:t>
            </a:r>
            <a:r>
              <a:rPr lang="ru-RU" sz="8000" dirty="0" smtClean="0">
                <a:solidFill>
                  <a:srgbClr val="C00000"/>
                </a:solidFill>
              </a:rPr>
              <a:t>some of the e-governance services are operationalized  resulting  in  a  partial  information  exchange</a:t>
            </a:r>
            <a:r>
              <a:rPr lang="ru-RU" sz="8000" dirty="0" smtClean="0"/>
              <a:t>  among the entities both within and outside the organization.</a:t>
            </a:r>
            <a:endParaRPr lang="en-US" sz="8000" dirty="0" smtClean="0"/>
          </a:p>
          <a:p>
            <a:pPr algn="just">
              <a:buNone/>
            </a:pPr>
            <a:r>
              <a:rPr lang="ru-RU" sz="8000" dirty="0" smtClean="0"/>
              <a:t>• </a:t>
            </a:r>
            <a:r>
              <a:rPr lang="ru-RU" sz="8000" dirty="0" smtClean="0">
                <a:solidFill>
                  <a:srgbClr val="00B050"/>
                </a:solidFill>
              </a:rPr>
              <a:t>Open:  </a:t>
            </a:r>
            <a:r>
              <a:rPr lang="ru-RU" sz="8000" dirty="0" smtClean="0"/>
              <a:t>This sub-level of realized state implies </a:t>
            </a:r>
            <a:r>
              <a:rPr lang="ru-RU" sz="8000" dirty="0" smtClean="0">
                <a:solidFill>
                  <a:srgbClr val="C00000"/>
                </a:solidFill>
              </a:rPr>
              <a:t>complete deployment of  e-governance  services </a:t>
            </a:r>
            <a:r>
              <a:rPr lang="ru-RU" sz="8000" dirty="0" smtClean="0"/>
              <a:t> that  ensure  an  integrated  system  that  is open to information exchange. </a:t>
            </a:r>
            <a:endParaRPr lang="en-US" sz="8000" dirty="0" smtClean="0"/>
          </a:p>
          <a:p>
            <a:pPr lvl="1" algn="just">
              <a:buFont typeface="Wingdings" panose="05000000000000000000" pitchFamily="2" charset="2"/>
              <a:buChar char="ü"/>
            </a:pPr>
            <a:r>
              <a:rPr lang="ru-RU" sz="7600" dirty="0" smtClean="0"/>
              <a:t>The focus   here shifts from  acquiring and implementing “e”  enabling factors to effectiveness to deal with the customer needs and is accountable for its services.</a:t>
            </a:r>
            <a:endParaRPr lang="en-US" sz="7600" dirty="0" smtClean="0"/>
          </a:p>
          <a:p>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39762"/>
          </a:xfrm>
        </p:spPr>
        <p:txBody>
          <a:bodyPr>
            <a:normAutofit fontScale="90000"/>
          </a:bodyPr>
          <a:lstStyle/>
          <a:p>
            <a:r>
              <a:rPr lang="en-US" dirty="0" smtClean="0"/>
              <a:t/>
            </a:r>
            <a:br>
              <a:rPr lang="en-US" dirty="0" smtClean="0"/>
            </a:br>
            <a:r>
              <a:rPr lang="ru-RU" sz="4000" dirty="0" smtClean="0">
                <a:solidFill>
                  <a:srgbClr val="0070C0"/>
                </a:solidFill>
              </a:rPr>
              <a:t>LEVEL 5: Institutionalized </a:t>
            </a:r>
            <a:r>
              <a:rPr lang="en-US" dirty="0" smtClean="0"/>
              <a:t/>
            </a:r>
            <a:br>
              <a:rPr lang="en-US" dirty="0" smtClean="0"/>
            </a:br>
            <a:endParaRPr lang="en-US" dirty="0"/>
          </a:p>
        </p:txBody>
      </p:sp>
      <p:sp>
        <p:nvSpPr>
          <p:cNvPr id="3" name="Content Placeholder 2"/>
          <p:cNvSpPr>
            <a:spLocks noGrp="1"/>
          </p:cNvSpPr>
          <p:nvPr>
            <p:ph idx="1"/>
          </p:nvPr>
        </p:nvSpPr>
        <p:spPr>
          <a:xfrm>
            <a:off x="457200" y="914401"/>
            <a:ext cx="8382000" cy="2666999"/>
          </a:xfrm>
        </p:spPr>
        <p:txBody>
          <a:bodyPr>
            <a:normAutofit fontScale="70000" lnSpcReduction="20000"/>
          </a:bodyPr>
          <a:lstStyle/>
          <a:p>
            <a:pPr algn="just">
              <a:buNone/>
            </a:pPr>
            <a:r>
              <a:rPr lang="ru-RU" dirty="0" smtClean="0"/>
              <a:t>•  </a:t>
            </a:r>
            <a:r>
              <a:rPr lang="en-US" dirty="0" smtClean="0"/>
              <a:t> </a:t>
            </a:r>
            <a:r>
              <a:rPr lang="ru-RU" sz="3400" dirty="0" smtClean="0"/>
              <a:t>At this level, </a:t>
            </a:r>
            <a:r>
              <a:rPr lang="ru-RU" sz="3400" dirty="0" smtClean="0">
                <a:solidFill>
                  <a:srgbClr val="C00000"/>
                </a:solidFill>
              </a:rPr>
              <a:t>the organization sustains the realized state over  a period of time so that e-governance becomes part of its work culture. </a:t>
            </a:r>
            <a:endParaRPr lang="en-US" sz="3400" dirty="0" smtClean="0">
              <a:solidFill>
                <a:srgbClr val="C00000"/>
              </a:solidFill>
            </a:endParaRPr>
          </a:p>
          <a:p>
            <a:pPr algn="just"/>
            <a:r>
              <a:rPr lang="ru-RU" sz="3400" dirty="0" smtClean="0"/>
              <a:t>The </a:t>
            </a:r>
            <a:r>
              <a:rPr lang="ru-RU" sz="3400" dirty="0" smtClean="0">
                <a:solidFill>
                  <a:srgbClr val="00B050"/>
                </a:solidFill>
              </a:rPr>
              <a:t>e-governance  services  are  </a:t>
            </a:r>
            <a:r>
              <a:rPr lang="ru-RU" sz="3400" dirty="0" smtClean="0"/>
              <a:t>effectively   utilized  and  accepted  by  the</a:t>
            </a:r>
            <a:r>
              <a:rPr lang="en-US" sz="3400" dirty="0" smtClean="0"/>
              <a:t> </a:t>
            </a:r>
            <a:r>
              <a:rPr lang="ru-RU" sz="3400" dirty="0" smtClean="0"/>
              <a:t>users. </a:t>
            </a:r>
            <a:endParaRPr lang="en-US" sz="3400" dirty="0" smtClean="0"/>
          </a:p>
          <a:p>
            <a:pPr algn="just"/>
            <a:r>
              <a:rPr lang="ru-RU" sz="3400" dirty="0" smtClean="0"/>
              <a:t>Several iterations between planned and realized state lead to</a:t>
            </a:r>
            <a:r>
              <a:rPr lang="en-US" sz="3400" dirty="0" smtClean="0"/>
              <a:t> </a:t>
            </a:r>
            <a:r>
              <a:rPr lang="ru-RU" sz="3400" dirty="0" smtClean="0"/>
              <a:t>institutionalization , when e-governance becomes a way of life.</a:t>
            </a:r>
            <a:endParaRPr lang="en-US" sz="3400" dirty="0" smtClean="0"/>
          </a:p>
          <a:p>
            <a:endParaRPr lang="en-US" dirty="0"/>
          </a:p>
        </p:txBody>
      </p:sp>
      <p:pic>
        <p:nvPicPr>
          <p:cNvPr id="2050" name="Picture 2"/>
          <p:cNvPicPr>
            <a:picLocks noChangeAspect="1" noChangeArrowheads="1"/>
          </p:cNvPicPr>
          <p:nvPr/>
        </p:nvPicPr>
        <p:blipFill>
          <a:blip r:embed="rId2"/>
          <a:srcRect/>
          <a:stretch>
            <a:fillRect/>
          </a:stretch>
        </p:blipFill>
        <p:spPr bwMode="auto">
          <a:xfrm>
            <a:off x="1143000" y="3733800"/>
            <a:ext cx="6934200" cy="2590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
            </a:r>
            <a:br>
              <a:rPr lang="en-US" dirty="0" smtClean="0"/>
            </a:br>
            <a:r>
              <a:rPr lang="ru-RU" sz="4000" dirty="0" smtClean="0">
                <a:solidFill>
                  <a:srgbClr val="0070C0"/>
                </a:solidFill>
              </a:rPr>
              <a:t>LEVEL 5: Institutionalized (Contd..)</a:t>
            </a:r>
            <a:r>
              <a:rPr lang="en-US" dirty="0" smtClean="0"/>
              <a:t/>
            </a:r>
            <a:br>
              <a:rPr lang="en-US" dirty="0" smtClean="0"/>
            </a:br>
            <a:endParaRPr lang="en-US" dirty="0"/>
          </a:p>
        </p:txBody>
      </p:sp>
      <p:sp>
        <p:nvSpPr>
          <p:cNvPr id="3" name="Content Placeholder 2"/>
          <p:cNvSpPr>
            <a:spLocks noGrp="1"/>
          </p:cNvSpPr>
          <p:nvPr>
            <p:ph idx="1"/>
          </p:nvPr>
        </p:nvSpPr>
        <p:spPr>
          <a:xfrm>
            <a:off x="457200" y="1219200"/>
            <a:ext cx="8229600" cy="4525963"/>
          </a:xfrm>
        </p:spPr>
        <p:txBody>
          <a:bodyPr>
            <a:normAutofit/>
          </a:bodyPr>
          <a:lstStyle/>
          <a:p>
            <a:pPr marL="463550" indent="-463550">
              <a:buNone/>
            </a:pPr>
            <a:r>
              <a:rPr lang="ru-RU" sz="2400" dirty="0" smtClean="0"/>
              <a:t>•     </a:t>
            </a:r>
            <a:r>
              <a:rPr lang="ru-RU" sz="2400" dirty="0" smtClean="0">
                <a:solidFill>
                  <a:srgbClr val="FF0000"/>
                </a:solidFill>
              </a:rPr>
              <a:t>E-Readiness Essentials</a:t>
            </a:r>
            <a:endParaRPr lang="en-US" sz="2400" dirty="0" smtClean="0">
              <a:solidFill>
                <a:srgbClr val="FF0000"/>
              </a:solidFill>
            </a:endParaRPr>
          </a:p>
          <a:p>
            <a:pPr marL="457200" indent="-457200">
              <a:buAutoNum type="arabicPeriod"/>
            </a:pPr>
            <a:r>
              <a:rPr lang="ru-RU" sz="2400" dirty="0" smtClean="0"/>
              <a:t>presence  of  strategic   thinking,  leadership  and </a:t>
            </a:r>
            <a:r>
              <a:rPr lang="en-US" sz="2400" dirty="0" smtClean="0"/>
              <a:t> </a:t>
            </a:r>
            <a:r>
              <a:rPr lang="ru-RU" sz="2400" dirty="0" smtClean="0"/>
              <a:t>commitment among top-level decision makers</a:t>
            </a:r>
            <a:endParaRPr lang="en-US" sz="2400" dirty="0" smtClean="0"/>
          </a:p>
          <a:p>
            <a:pPr>
              <a:buNone/>
            </a:pPr>
            <a:r>
              <a:rPr lang="ru-RU" sz="2400" dirty="0" smtClean="0"/>
              <a:t>2.    Institutional Infrastructure</a:t>
            </a:r>
            <a:endParaRPr lang="en-US" sz="2400" dirty="0" smtClean="0"/>
          </a:p>
          <a:p>
            <a:pPr>
              <a:buNone/>
            </a:pPr>
            <a:r>
              <a:rPr lang="ru-RU" sz="2400" dirty="0" smtClean="0"/>
              <a:t>3.    ICT Infrastructure</a:t>
            </a:r>
            <a:endParaRPr lang="en-US" sz="2400" dirty="0" smtClean="0"/>
          </a:p>
          <a:p>
            <a:pPr>
              <a:buNone/>
            </a:pPr>
            <a:r>
              <a:rPr lang="ru-RU" sz="2400" dirty="0" smtClean="0"/>
              <a:t>4.    Human Capacities</a:t>
            </a:r>
            <a:endParaRPr lang="en-US" sz="2400" dirty="0" smtClean="0"/>
          </a:p>
          <a:p>
            <a:pPr>
              <a:buNone/>
            </a:pPr>
            <a:r>
              <a:rPr lang="ru-RU" sz="2400" dirty="0" smtClean="0"/>
              <a:t>5.    Legal Infrastructure</a:t>
            </a:r>
            <a:endParaRPr lang="en-US" sz="2400" dirty="0" smtClean="0"/>
          </a:p>
          <a:p>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4000" dirty="0" smtClean="0">
                <a:solidFill>
                  <a:srgbClr val="0070C0"/>
                </a:solidFill>
              </a:rPr>
              <a:t/>
            </a:r>
            <a:br>
              <a:rPr lang="en-US" sz="4000" dirty="0" smtClean="0">
                <a:solidFill>
                  <a:srgbClr val="0070C0"/>
                </a:solidFill>
              </a:rPr>
            </a:br>
            <a:r>
              <a:rPr lang="ru-RU" sz="4000" dirty="0" smtClean="0">
                <a:solidFill>
                  <a:srgbClr val="0070C0"/>
                </a:solidFill>
              </a:rPr>
              <a:t>Characteristics of Maturity Levels</a:t>
            </a:r>
            <a:r>
              <a:rPr lang="en-US" dirty="0" smtClean="0"/>
              <a:t/>
            </a:r>
            <a:br>
              <a:rPr lang="en-US" dirty="0" smtClean="0"/>
            </a:br>
            <a:endParaRPr lang="en-US" dirty="0"/>
          </a:p>
        </p:txBody>
      </p:sp>
      <p:sp>
        <p:nvSpPr>
          <p:cNvPr id="3" name="Content Placeholder 2"/>
          <p:cNvSpPr>
            <a:spLocks noGrp="1"/>
          </p:cNvSpPr>
          <p:nvPr>
            <p:ph idx="1"/>
          </p:nvPr>
        </p:nvSpPr>
        <p:spPr>
          <a:xfrm>
            <a:off x="457200" y="990600"/>
            <a:ext cx="8229600" cy="4525963"/>
          </a:xfrm>
        </p:spPr>
        <p:txBody>
          <a:bodyPr>
            <a:normAutofit fontScale="70000" lnSpcReduction="20000"/>
          </a:bodyPr>
          <a:lstStyle/>
          <a:p>
            <a:pPr>
              <a:buNone/>
            </a:pPr>
            <a:r>
              <a:rPr lang="ru-RU" dirty="0" smtClean="0"/>
              <a:t>•     </a:t>
            </a:r>
            <a:r>
              <a:rPr lang="ru-RU" b="1" dirty="0" smtClean="0"/>
              <a:t>Level 1: Closed</a:t>
            </a:r>
            <a:endParaRPr lang="en-US" b="1" dirty="0" smtClean="0"/>
          </a:p>
          <a:p>
            <a:pPr>
              <a:buNone/>
            </a:pPr>
            <a:r>
              <a:rPr lang="en-US" dirty="0" smtClean="0"/>
              <a:t>	</a:t>
            </a:r>
            <a:r>
              <a:rPr lang="ru-RU" dirty="0" smtClean="0"/>
              <a:t>–     Organization are </a:t>
            </a:r>
            <a:r>
              <a:rPr lang="ru-RU" dirty="0" smtClean="0">
                <a:solidFill>
                  <a:srgbClr val="00B050"/>
                </a:solidFill>
              </a:rPr>
              <a:t>closed to </a:t>
            </a:r>
            <a:r>
              <a:rPr lang="ru-RU" dirty="0" smtClean="0"/>
              <a:t>e-governance</a:t>
            </a:r>
            <a:endParaRPr lang="en-US" dirty="0" smtClean="0"/>
          </a:p>
          <a:p>
            <a:pPr>
              <a:buNone/>
            </a:pPr>
            <a:r>
              <a:rPr lang="en-US" dirty="0" smtClean="0"/>
              <a:t>	</a:t>
            </a:r>
            <a:r>
              <a:rPr lang="ru-RU" dirty="0" smtClean="0"/>
              <a:t>–     No plans </a:t>
            </a:r>
            <a:r>
              <a:rPr lang="en-US" dirty="0" smtClean="0"/>
              <a:t> </a:t>
            </a:r>
            <a:r>
              <a:rPr lang="ru-RU" dirty="0" smtClean="0"/>
              <a:t>or vision is available</a:t>
            </a:r>
            <a:endParaRPr lang="en-US" dirty="0" smtClean="0"/>
          </a:p>
          <a:p>
            <a:pPr>
              <a:buNone/>
            </a:pPr>
            <a:r>
              <a:rPr lang="en-US" dirty="0" smtClean="0"/>
              <a:t>	</a:t>
            </a:r>
            <a:r>
              <a:rPr lang="ru-RU" dirty="0" smtClean="0"/>
              <a:t>–     Continue with </a:t>
            </a:r>
            <a:r>
              <a:rPr lang="ru-RU" dirty="0" smtClean="0">
                <a:solidFill>
                  <a:srgbClr val="00B050"/>
                </a:solidFill>
              </a:rPr>
              <a:t>fully manual and conventional operation</a:t>
            </a:r>
            <a:endParaRPr lang="en-US" dirty="0" smtClean="0">
              <a:solidFill>
                <a:srgbClr val="00B050"/>
              </a:solidFill>
            </a:endParaRPr>
          </a:p>
          <a:p>
            <a:pPr>
              <a:buNone/>
            </a:pPr>
            <a:r>
              <a:rPr lang="ru-RU" dirty="0" smtClean="0"/>
              <a:t>•     </a:t>
            </a:r>
            <a:r>
              <a:rPr lang="ru-RU" b="1" dirty="0" smtClean="0"/>
              <a:t>Level 2: Initial</a:t>
            </a:r>
            <a:endParaRPr lang="en-US" b="1" dirty="0" smtClean="0"/>
          </a:p>
          <a:p>
            <a:pPr>
              <a:buNone/>
            </a:pPr>
            <a:r>
              <a:rPr lang="en-US" dirty="0" smtClean="0"/>
              <a:t>	</a:t>
            </a:r>
            <a:r>
              <a:rPr lang="ru-RU" dirty="0" smtClean="0"/>
              <a:t>–    </a:t>
            </a:r>
            <a:r>
              <a:rPr lang="en-US" dirty="0" smtClean="0"/>
              <a:t> </a:t>
            </a:r>
            <a:r>
              <a:rPr lang="ru-RU" dirty="0" smtClean="0"/>
              <a:t>Organization   </a:t>
            </a:r>
            <a:r>
              <a:rPr lang="ru-RU" dirty="0" smtClean="0">
                <a:solidFill>
                  <a:srgbClr val="C00000"/>
                </a:solidFill>
              </a:rPr>
              <a:t>lacks  strategic   thinking  and  direction   for  e-</a:t>
            </a:r>
            <a:r>
              <a:rPr lang="en-US" dirty="0" smtClean="0">
                <a:solidFill>
                  <a:srgbClr val="C00000"/>
                </a:solidFill>
              </a:rPr>
              <a:t>  </a:t>
            </a:r>
          </a:p>
          <a:p>
            <a:pPr>
              <a:buNone/>
            </a:pPr>
            <a:r>
              <a:rPr lang="en-US" dirty="0" smtClean="0">
                <a:solidFill>
                  <a:srgbClr val="C00000"/>
                </a:solidFill>
              </a:rPr>
              <a:t>	       </a:t>
            </a:r>
            <a:r>
              <a:rPr lang="ru-RU" dirty="0" smtClean="0">
                <a:solidFill>
                  <a:srgbClr val="C00000"/>
                </a:solidFill>
              </a:rPr>
              <a:t>governance at top level</a:t>
            </a:r>
            <a:endParaRPr lang="en-US" dirty="0" smtClean="0">
              <a:solidFill>
                <a:srgbClr val="C00000"/>
              </a:solidFill>
            </a:endParaRPr>
          </a:p>
          <a:p>
            <a:pPr>
              <a:buNone/>
            </a:pPr>
            <a:r>
              <a:rPr lang="en-US" dirty="0" smtClean="0"/>
              <a:t>	</a:t>
            </a:r>
            <a:r>
              <a:rPr lang="ru-RU" dirty="0" smtClean="0"/>
              <a:t>–     </a:t>
            </a:r>
            <a:r>
              <a:rPr lang="ru-RU" dirty="0" smtClean="0">
                <a:solidFill>
                  <a:srgbClr val="C00000"/>
                </a:solidFill>
              </a:rPr>
              <a:t>Unorganized  and  individual   efforts  of  automation </a:t>
            </a:r>
            <a:r>
              <a:rPr lang="ru-RU" dirty="0" smtClean="0"/>
              <a:t> in  some </a:t>
            </a:r>
            <a:endParaRPr lang="en-US" dirty="0" smtClean="0"/>
          </a:p>
          <a:p>
            <a:pPr>
              <a:buNone/>
            </a:pPr>
            <a:r>
              <a:rPr lang="en-US" dirty="0" smtClean="0"/>
              <a:t>	       </a:t>
            </a:r>
            <a:r>
              <a:rPr lang="ru-RU" dirty="0" smtClean="0"/>
              <a:t>areas</a:t>
            </a:r>
            <a:endParaRPr lang="en-US" dirty="0" smtClean="0"/>
          </a:p>
          <a:p>
            <a:pPr>
              <a:buNone/>
            </a:pPr>
            <a:r>
              <a:rPr lang="en-US" dirty="0" smtClean="0"/>
              <a:t>	</a:t>
            </a:r>
            <a:r>
              <a:rPr lang="ru-RU" dirty="0" smtClean="0"/>
              <a:t>–     Individual  efforts  </a:t>
            </a:r>
            <a:r>
              <a:rPr lang="ru-RU" dirty="0" smtClean="0">
                <a:solidFill>
                  <a:srgbClr val="00B050"/>
                </a:solidFill>
              </a:rPr>
              <a:t>sustains  as  long  as  the  enthusiasm </a:t>
            </a:r>
            <a:endParaRPr lang="en-US" dirty="0" smtClean="0">
              <a:solidFill>
                <a:srgbClr val="00B050"/>
              </a:solidFill>
            </a:endParaRPr>
          </a:p>
          <a:p>
            <a:pPr>
              <a:buNone/>
            </a:pPr>
            <a:r>
              <a:rPr lang="en-US" dirty="0" smtClean="0">
                <a:solidFill>
                  <a:srgbClr val="00B050"/>
                </a:solidFill>
              </a:rPr>
              <a:t>	     </a:t>
            </a:r>
            <a:r>
              <a:rPr lang="ru-RU" dirty="0" smtClean="0">
                <a:solidFill>
                  <a:srgbClr val="00B050"/>
                </a:solidFill>
              </a:rPr>
              <a:t> </a:t>
            </a:r>
            <a:r>
              <a:rPr lang="en-US" dirty="0" smtClean="0">
                <a:solidFill>
                  <a:srgbClr val="00B050"/>
                </a:solidFill>
              </a:rPr>
              <a:t> </a:t>
            </a:r>
            <a:r>
              <a:rPr lang="ru-RU" dirty="0" smtClean="0">
                <a:solidFill>
                  <a:srgbClr val="00B050"/>
                </a:solidFill>
              </a:rPr>
              <a:t>remains </a:t>
            </a:r>
            <a:r>
              <a:rPr lang="en-US" dirty="0" smtClean="0"/>
              <a:t> </a:t>
            </a:r>
            <a:r>
              <a:rPr lang="ru-RU" dirty="0" smtClean="0"/>
              <a:t>and is often abandoned due to lack of directio</a:t>
            </a:r>
            <a:r>
              <a:rPr lang="en-US" dirty="0" smtClean="0"/>
              <a:t>n</a:t>
            </a:r>
          </a:p>
          <a:p>
            <a:pPr>
              <a:buNone/>
            </a:pPr>
            <a:r>
              <a:rPr lang="en-US" dirty="0" smtClean="0"/>
              <a:t>	</a:t>
            </a:r>
            <a:r>
              <a:rPr lang="ru-RU" dirty="0" smtClean="0"/>
              <a:t>–     Generally  </a:t>
            </a:r>
            <a:r>
              <a:rPr lang="ru-RU" dirty="0" smtClean="0">
                <a:solidFill>
                  <a:srgbClr val="00B050"/>
                </a:solidFill>
              </a:rPr>
              <a:t>accumulate   hardware  without  any   planning  </a:t>
            </a:r>
            <a:r>
              <a:rPr lang="ru-RU" dirty="0" smtClean="0"/>
              <a:t>and </a:t>
            </a:r>
            <a:endParaRPr lang="en-US" dirty="0" smtClean="0"/>
          </a:p>
          <a:p>
            <a:pPr marL="463550" indent="-463550">
              <a:buNone/>
            </a:pPr>
            <a:r>
              <a:rPr lang="en-US" dirty="0" smtClean="0"/>
              <a:t>	     </a:t>
            </a:r>
            <a:r>
              <a:rPr lang="ru-RU" dirty="0" smtClean="0"/>
              <a:t>much of it goes unutilized or underutilized </a:t>
            </a:r>
            <a:endParaRPr lang="en-US" dirty="0" smtClean="0"/>
          </a:p>
          <a:p>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09600"/>
          </a:xfrm>
        </p:spPr>
        <p:txBody>
          <a:bodyPr>
            <a:normAutofit fontScale="90000"/>
          </a:bodyPr>
          <a:lstStyle/>
          <a:p>
            <a:r>
              <a:rPr lang="en-US" dirty="0" smtClean="0"/>
              <a:t/>
            </a:r>
            <a:br>
              <a:rPr lang="en-US" dirty="0" smtClean="0"/>
            </a:br>
            <a:r>
              <a:rPr lang="ru-RU" sz="4000" dirty="0" smtClean="0">
                <a:solidFill>
                  <a:srgbClr val="0070C0"/>
                </a:solidFill>
              </a:rPr>
              <a:t>Characteristics of Maturity Levels </a:t>
            </a:r>
            <a:r>
              <a:rPr lang="en-US" dirty="0" smtClean="0"/>
              <a:t/>
            </a:r>
            <a:br>
              <a:rPr lang="en-US" dirty="0" smtClean="0"/>
            </a:br>
            <a:endParaRPr lang="en-US" dirty="0"/>
          </a:p>
        </p:txBody>
      </p:sp>
      <p:sp>
        <p:nvSpPr>
          <p:cNvPr id="3" name="Content Placeholder 2"/>
          <p:cNvSpPr>
            <a:spLocks noGrp="1"/>
          </p:cNvSpPr>
          <p:nvPr>
            <p:ph idx="1"/>
          </p:nvPr>
        </p:nvSpPr>
        <p:spPr>
          <a:xfrm>
            <a:off x="533400" y="990600"/>
            <a:ext cx="8229600" cy="4525963"/>
          </a:xfrm>
        </p:spPr>
        <p:txBody>
          <a:bodyPr>
            <a:normAutofit fontScale="77500" lnSpcReduction="20000"/>
          </a:bodyPr>
          <a:lstStyle/>
          <a:p>
            <a:pPr>
              <a:buNone/>
            </a:pPr>
            <a:r>
              <a:rPr lang="ru-RU" b="1" dirty="0" smtClean="0"/>
              <a:t>•    Level 3: Planned</a:t>
            </a:r>
            <a:endParaRPr lang="en-US" b="1" dirty="0" smtClean="0"/>
          </a:p>
          <a:p>
            <a:pPr>
              <a:buNone/>
            </a:pPr>
            <a:r>
              <a:rPr lang="en-US" dirty="0" smtClean="0"/>
              <a:t>	</a:t>
            </a:r>
            <a:r>
              <a:rPr lang="ru-RU" sz="3100" dirty="0" smtClean="0"/>
              <a:t>–    E-governance becomes a </a:t>
            </a:r>
            <a:r>
              <a:rPr lang="ru-RU" sz="3100" dirty="0" smtClean="0">
                <a:solidFill>
                  <a:srgbClr val="00B050"/>
                </a:solidFill>
              </a:rPr>
              <a:t>part of organization’s agenda</a:t>
            </a:r>
            <a:r>
              <a:rPr lang="en-US" sz="3100" dirty="0" smtClean="0">
                <a:solidFill>
                  <a:srgbClr val="00B050"/>
                </a:solidFill>
              </a:rPr>
              <a:t>.</a:t>
            </a:r>
          </a:p>
          <a:p>
            <a:pPr>
              <a:buNone/>
            </a:pPr>
            <a:r>
              <a:rPr lang="en-US" sz="3100" dirty="0" smtClean="0"/>
              <a:t>	</a:t>
            </a:r>
            <a:r>
              <a:rPr lang="ru-RU" sz="3100" dirty="0" smtClean="0"/>
              <a:t>–    </a:t>
            </a:r>
            <a:r>
              <a:rPr lang="ru-RU" sz="3100" dirty="0" smtClean="0">
                <a:solidFill>
                  <a:srgbClr val="C00000"/>
                </a:solidFill>
              </a:rPr>
              <a:t>Strategic  thinking  and  leadership  </a:t>
            </a:r>
            <a:r>
              <a:rPr lang="ru-RU" sz="3100" dirty="0" smtClean="0"/>
              <a:t>guide  the  e-</a:t>
            </a:r>
            <a:r>
              <a:rPr lang="en-US" sz="3100" dirty="0" smtClean="0"/>
              <a:t> </a:t>
            </a:r>
          </a:p>
          <a:p>
            <a:pPr>
              <a:buNone/>
            </a:pPr>
            <a:r>
              <a:rPr lang="en-US" sz="3100" dirty="0" smtClean="0"/>
              <a:t>	      </a:t>
            </a:r>
            <a:r>
              <a:rPr lang="ru-RU" sz="3100" dirty="0" smtClean="0"/>
              <a:t>governance initiatives</a:t>
            </a:r>
            <a:r>
              <a:rPr lang="en-US" sz="3100" dirty="0" smtClean="0"/>
              <a:t>.</a:t>
            </a:r>
          </a:p>
          <a:p>
            <a:pPr>
              <a:buNone/>
            </a:pPr>
            <a:r>
              <a:rPr lang="en-US" sz="3100" dirty="0" smtClean="0"/>
              <a:t>	</a:t>
            </a:r>
            <a:r>
              <a:rPr lang="ru-RU" sz="3100" dirty="0" smtClean="0"/>
              <a:t>–    </a:t>
            </a:r>
            <a:r>
              <a:rPr lang="ru-RU" sz="3100" dirty="0" smtClean="0">
                <a:solidFill>
                  <a:srgbClr val="C00000"/>
                </a:solidFill>
              </a:rPr>
              <a:t>Clear  understanding  of  e-governance  </a:t>
            </a:r>
            <a:r>
              <a:rPr lang="ru-RU" sz="3100" dirty="0" smtClean="0"/>
              <a:t>needs  as </a:t>
            </a:r>
            <a:endParaRPr lang="en-US" sz="3100" dirty="0" smtClean="0"/>
          </a:p>
          <a:p>
            <a:pPr>
              <a:buNone/>
            </a:pPr>
            <a:r>
              <a:rPr lang="en-US" sz="3100" dirty="0" smtClean="0"/>
              <a:t>	      </a:t>
            </a:r>
            <a:r>
              <a:rPr lang="ru-RU" sz="3100" dirty="0" smtClean="0"/>
              <a:t>projected by the external and internal users</a:t>
            </a:r>
            <a:r>
              <a:rPr lang="en-US" sz="3100" dirty="0" smtClean="0"/>
              <a:t>.</a:t>
            </a:r>
          </a:p>
          <a:p>
            <a:pPr>
              <a:buNone/>
            </a:pPr>
            <a:r>
              <a:rPr lang="en-US" sz="3100" dirty="0" smtClean="0"/>
              <a:t>	</a:t>
            </a:r>
            <a:r>
              <a:rPr lang="ru-RU" sz="3100" dirty="0" smtClean="0"/>
              <a:t>–    Extensive   planning  for </a:t>
            </a:r>
            <a:r>
              <a:rPr lang="ru-RU" sz="3100" dirty="0" smtClean="0">
                <a:solidFill>
                  <a:srgbClr val="00B050"/>
                </a:solidFill>
              </a:rPr>
              <a:t>implementing   and </a:t>
            </a:r>
            <a:endParaRPr lang="en-US" sz="3100" dirty="0" smtClean="0">
              <a:solidFill>
                <a:srgbClr val="00B050"/>
              </a:solidFill>
            </a:endParaRPr>
          </a:p>
          <a:p>
            <a:pPr>
              <a:buNone/>
            </a:pPr>
            <a:r>
              <a:rPr lang="en-US" sz="3100" dirty="0" smtClean="0">
                <a:solidFill>
                  <a:srgbClr val="00B050"/>
                </a:solidFill>
              </a:rPr>
              <a:t>	      </a:t>
            </a:r>
            <a:r>
              <a:rPr lang="ru-RU" sz="3100" dirty="0" smtClean="0">
                <a:solidFill>
                  <a:srgbClr val="00B050"/>
                </a:solidFill>
              </a:rPr>
              <a:t>addressing the Key Focus Area (KFAs)</a:t>
            </a:r>
            <a:r>
              <a:rPr lang="en-US" sz="3100" dirty="0" smtClean="0">
                <a:solidFill>
                  <a:srgbClr val="00B050"/>
                </a:solidFill>
              </a:rPr>
              <a:t>.</a:t>
            </a:r>
          </a:p>
          <a:p>
            <a:pPr>
              <a:buNone/>
            </a:pPr>
            <a:r>
              <a:rPr lang="en-US" sz="3100" dirty="0" smtClean="0"/>
              <a:t>	</a:t>
            </a:r>
            <a:r>
              <a:rPr lang="ru-RU" sz="3100" dirty="0" smtClean="0"/>
              <a:t>–    Documentation  </a:t>
            </a:r>
            <a:r>
              <a:rPr lang="ru-RU" sz="3100" dirty="0" smtClean="0">
                <a:solidFill>
                  <a:srgbClr val="00B050"/>
                </a:solidFill>
              </a:rPr>
              <a:t>including   vision,  scope,   need </a:t>
            </a:r>
            <a:endParaRPr lang="en-US" sz="3100" dirty="0" smtClean="0">
              <a:solidFill>
                <a:srgbClr val="00B050"/>
              </a:solidFill>
            </a:endParaRPr>
          </a:p>
          <a:p>
            <a:pPr>
              <a:buNone/>
            </a:pPr>
            <a:r>
              <a:rPr lang="en-US" sz="3100" dirty="0" smtClean="0">
                <a:solidFill>
                  <a:srgbClr val="00B050"/>
                </a:solidFill>
              </a:rPr>
              <a:t>	      </a:t>
            </a:r>
            <a:r>
              <a:rPr lang="ru-RU" sz="3100" dirty="0" smtClean="0">
                <a:solidFill>
                  <a:srgbClr val="00B050"/>
                </a:solidFill>
              </a:rPr>
              <a:t>assessment survey, policy guidelines, action plan </a:t>
            </a:r>
            <a:endParaRPr lang="en-US" sz="3100" dirty="0" smtClean="0">
              <a:solidFill>
                <a:srgbClr val="00B050"/>
              </a:solidFill>
            </a:endParaRPr>
          </a:p>
          <a:p>
            <a:pPr>
              <a:buNone/>
            </a:pPr>
            <a:r>
              <a:rPr lang="en-US" sz="3100" dirty="0" smtClean="0">
                <a:solidFill>
                  <a:srgbClr val="00B050"/>
                </a:solidFill>
              </a:rPr>
              <a:t>	      </a:t>
            </a:r>
            <a:r>
              <a:rPr lang="ru-RU" sz="3100" dirty="0" smtClean="0">
                <a:solidFill>
                  <a:srgbClr val="00B050"/>
                </a:solidFill>
              </a:rPr>
              <a:t>and outsourcing  guidelines</a:t>
            </a:r>
            <a:r>
              <a:rPr lang="en-US" sz="3100" dirty="0" smtClean="0">
                <a:solidFill>
                  <a:srgbClr val="00B050"/>
                </a:solidFill>
              </a:rPr>
              <a:t>.</a:t>
            </a:r>
          </a:p>
          <a:p>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rmAutofit fontScale="90000"/>
          </a:bodyPr>
          <a:lstStyle/>
          <a:p>
            <a:r>
              <a:rPr lang="en-US" sz="4000" dirty="0" smtClean="0"/>
              <a:t/>
            </a:r>
            <a:br>
              <a:rPr lang="en-US" sz="4000" dirty="0" smtClean="0"/>
            </a:br>
            <a:r>
              <a:rPr lang="ru-RU" sz="4000" dirty="0" smtClean="0">
                <a:solidFill>
                  <a:srgbClr val="0070C0"/>
                </a:solidFill>
              </a:rPr>
              <a:t>Characteristics of Maturity Levels </a:t>
            </a:r>
            <a:r>
              <a:rPr lang="en-US" dirty="0" smtClean="0"/>
              <a:t/>
            </a:r>
            <a:br>
              <a:rPr lang="en-US" dirty="0" smtClean="0"/>
            </a:br>
            <a:endParaRPr lang="en-US" dirty="0"/>
          </a:p>
        </p:txBody>
      </p:sp>
      <p:sp>
        <p:nvSpPr>
          <p:cNvPr id="3" name="Content Placeholder 2"/>
          <p:cNvSpPr>
            <a:spLocks noGrp="1"/>
          </p:cNvSpPr>
          <p:nvPr>
            <p:ph idx="1"/>
          </p:nvPr>
        </p:nvSpPr>
        <p:spPr>
          <a:xfrm>
            <a:off x="457200" y="1143000"/>
            <a:ext cx="8229600" cy="4525963"/>
          </a:xfrm>
        </p:spPr>
        <p:txBody>
          <a:bodyPr>
            <a:normAutofit fontScale="25000" lnSpcReduction="20000"/>
          </a:bodyPr>
          <a:lstStyle/>
          <a:p>
            <a:pPr>
              <a:buNone/>
            </a:pPr>
            <a:r>
              <a:rPr lang="ru-RU" sz="8800" b="1" dirty="0" smtClean="0"/>
              <a:t>•     Level 4: Realized</a:t>
            </a:r>
            <a:endParaRPr lang="en-US" sz="8800" b="1" dirty="0" smtClean="0"/>
          </a:p>
          <a:p>
            <a:pPr>
              <a:buNone/>
            </a:pPr>
            <a:r>
              <a:rPr lang="en-US" sz="8800" dirty="0" smtClean="0"/>
              <a:t>	</a:t>
            </a:r>
            <a:r>
              <a:rPr lang="ru-RU" sz="8800" dirty="0" smtClean="0">
                <a:solidFill>
                  <a:srgbClr val="FF0000"/>
                </a:solidFill>
              </a:rPr>
              <a:t>–     Retrospected:</a:t>
            </a:r>
            <a:endParaRPr lang="en-US" sz="8800" dirty="0" smtClean="0">
              <a:solidFill>
                <a:srgbClr val="FF0000"/>
              </a:solidFill>
            </a:endParaRPr>
          </a:p>
          <a:p>
            <a:pPr>
              <a:buNone/>
            </a:pPr>
            <a:r>
              <a:rPr lang="en-US" sz="8800" dirty="0" smtClean="0"/>
              <a:t>		</a:t>
            </a:r>
            <a:r>
              <a:rPr lang="ru-RU" sz="8800" dirty="0" smtClean="0"/>
              <a:t>•    Business processes are attuned with the vision and overall</a:t>
            </a:r>
            <a:endParaRPr lang="en-US" sz="8800" dirty="0" smtClean="0"/>
          </a:p>
          <a:p>
            <a:pPr>
              <a:buNone/>
            </a:pPr>
            <a:r>
              <a:rPr lang="en-US" sz="8800" dirty="0" smtClean="0"/>
              <a:t>		    </a:t>
            </a:r>
            <a:r>
              <a:rPr lang="ru-RU" sz="8800" dirty="0" smtClean="0"/>
              <a:t> </a:t>
            </a:r>
            <a:r>
              <a:rPr lang="en-US" sz="8800" dirty="0" smtClean="0"/>
              <a:t> </a:t>
            </a:r>
            <a:r>
              <a:rPr lang="ru-RU" sz="8800" dirty="0" smtClean="0"/>
              <a:t>e-governance objective</a:t>
            </a:r>
            <a:endParaRPr lang="en-US" sz="8800" dirty="0" smtClean="0"/>
          </a:p>
          <a:p>
            <a:pPr>
              <a:buNone/>
            </a:pPr>
            <a:r>
              <a:rPr lang="en-US" sz="8800" dirty="0" smtClean="0"/>
              <a:t>		</a:t>
            </a:r>
            <a:r>
              <a:rPr lang="ru-RU" sz="8800" dirty="0" smtClean="0"/>
              <a:t>•    There is awareness about e-governance among all </a:t>
            </a:r>
            <a:endParaRPr lang="en-US" sz="8800" dirty="0" smtClean="0"/>
          </a:p>
          <a:p>
            <a:pPr>
              <a:buNone/>
            </a:pPr>
            <a:r>
              <a:rPr lang="en-US" sz="8800" dirty="0" smtClean="0"/>
              <a:t>		      </a:t>
            </a:r>
            <a:r>
              <a:rPr lang="ru-RU" sz="8800" dirty="0" smtClean="0"/>
              <a:t>concerned-the stakeholders as well as the users</a:t>
            </a:r>
            <a:endParaRPr lang="en-US" sz="8800" dirty="0" smtClean="0"/>
          </a:p>
          <a:p>
            <a:pPr>
              <a:buNone/>
            </a:pPr>
            <a:r>
              <a:rPr lang="en-US" sz="8800" dirty="0" smtClean="0">
                <a:solidFill>
                  <a:srgbClr val="FF0000"/>
                </a:solidFill>
              </a:rPr>
              <a:t>	</a:t>
            </a:r>
            <a:r>
              <a:rPr lang="ru-RU" sz="8800" dirty="0" smtClean="0">
                <a:solidFill>
                  <a:srgbClr val="FF0000"/>
                </a:solidFill>
              </a:rPr>
              <a:t>–     E-ready:</a:t>
            </a:r>
            <a:endParaRPr lang="en-US" sz="8800" dirty="0" smtClean="0">
              <a:solidFill>
                <a:srgbClr val="FF0000"/>
              </a:solidFill>
            </a:endParaRPr>
          </a:p>
          <a:p>
            <a:pPr>
              <a:buNone/>
            </a:pPr>
            <a:r>
              <a:rPr lang="en-US" sz="8800" dirty="0" smtClean="0"/>
              <a:t>		</a:t>
            </a:r>
            <a:r>
              <a:rPr lang="ru-RU" sz="8800" dirty="0" smtClean="0"/>
              <a:t>•    The organization has a sound infrastructure in place</a:t>
            </a:r>
            <a:endParaRPr lang="en-US" sz="8800" dirty="0" smtClean="0"/>
          </a:p>
          <a:p>
            <a:pPr>
              <a:buNone/>
            </a:pPr>
            <a:r>
              <a:rPr lang="en-US" sz="8800" dirty="0" smtClean="0"/>
              <a:t>		</a:t>
            </a:r>
            <a:r>
              <a:rPr lang="ru-RU" sz="8800" dirty="0" smtClean="0"/>
              <a:t>•    Users motivated to use e-governance services</a:t>
            </a:r>
            <a:endParaRPr lang="en-US" sz="8800" dirty="0" smtClean="0"/>
          </a:p>
          <a:p>
            <a:pPr>
              <a:buNone/>
            </a:pPr>
            <a:r>
              <a:rPr lang="en-US" sz="8800" dirty="0" smtClean="0"/>
              <a:t>	</a:t>
            </a:r>
            <a:r>
              <a:rPr lang="ru-RU" sz="8800" dirty="0" smtClean="0">
                <a:solidFill>
                  <a:srgbClr val="FF0000"/>
                </a:solidFill>
              </a:rPr>
              <a:t>–     Partially Open:</a:t>
            </a:r>
            <a:endParaRPr lang="en-US" sz="8800" dirty="0" smtClean="0">
              <a:solidFill>
                <a:srgbClr val="FF0000"/>
              </a:solidFill>
            </a:endParaRPr>
          </a:p>
          <a:p>
            <a:pPr>
              <a:buNone/>
            </a:pPr>
            <a:r>
              <a:rPr lang="en-US" sz="8800" dirty="0" smtClean="0"/>
              <a:t>		</a:t>
            </a:r>
            <a:r>
              <a:rPr lang="ru-RU" sz="8800" dirty="0" smtClean="0"/>
              <a:t>•    Such   organization  sometimes  focus   only  on  their  </a:t>
            </a:r>
            <a:endParaRPr lang="en-US" sz="8800" dirty="0" smtClean="0"/>
          </a:p>
          <a:p>
            <a:pPr>
              <a:buNone/>
            </a:pPr>
            <a:r>
              <a:rPr lang="en-US" sz="8800" dirty="0" smtClean="0"/>
              <a:t>		     </a:t>
            </a:r>
            <a:r>
              <a:rPr lang="ru-RU" sz="8800" dirty="0" smtClean="0"/>
              <a:t> internal </a:t>
            </a:r>
            <a:r>
              <a:rPr lang="en-US" sz="8800" dirty="0" smtClean="0"/>
              <a:t> </a:t>
            </a:r>
            <a:r>
              <a:rPr lang="ru-RU" sz="8800" dirty="0" smtClean="0"/>
              <a:t>processes,  allowing   information  exchange  </a:t>
            </a:r>
            <a:endParaRPr lang="en-US" sz="8800" dirty="0" smtClean="0"/>
          </a:p>
          <a:p>
            <a:pPr>
              <a:buNone/>
            </a:pPr>
            <a:r>
              <a:rPr lang="en-US" sz="8800" dirty="0" smtClean="0"/>
              <a:t>		      </a:t>
            </a:r>
            <a:r>
              <a:rPr lang="ru-RU" sz="8800" dirty="0" smtClean="0"/>
              <a:t>confined   to  the </a:t>
            </a:r>
            <a:r>
              <a:rPr lang="en-US" sz="8800" dirty="0" smtClean="0"/>
              <a:t> </a:t>
            </a:r>
            <a:r>
              <a:rPr lang="ru-RU" sz="8800" dirty="0" smtClean="0"/>
              <a:t>organization. In such case G2E is visible </a:t>
            </a:r>
            <a:endParaRPr lang="en-US" sz="8800" dirty="0" smtClean="0"/>
          </a:p>
          <a:p>
            <a:pPr>
              <a:buNone/>
            </a:pPr>
            <a:r>
              <a:rPr lang="en-US" sz="8800" dirty="0" smtClean="0"/>
              <a:t>		      </a:t>
            </a:r>
            <a:r>
              <a:rPr lang="ru-RU" sz="8800" dirty="0" smtClean="0"/>
              <a:t>where as G2C, G2G, </a:t>
            </a:r>
            <a:r>
              <a:rPr lang="en-US" sz="8800" dirty="0" smtClean="0"/>
              <a:t> </a:t>
            </a:r>
            <a:r>
              <a:rPr lang="ru-RU" sz="8800" dirty="0" smtClean="0"/>
              <a:t>G2B is not yet established.</a:t>
            </a:r>
            <a:endParaRPr lang="en-US" sz="8800" dirty="0" smtClean="0"/>
          </a:p>
          <a:p>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rmAutofit/>
          </a:bodyPr>
          <a:lstStyle/>
          <a:p>
            <a:r>
              <a:rPr lang="ru-RU" sz="3600" dirty="0" smtClean="0">
                <a:solidFill>
                  <a:srgbClr val="0070C0"/>
                </a:solidFill>
              </a:rPr>
              <a:t>Characteristics of Maturity Levels </a:t>
            </a:r>
            <a:endParaRPr lang="en-US" sz="3600" dirty="0"/>
          </a:p>
        </p:txBody>
      </p:sp>
      <p:sp>
        <p:nvSpPr>
          <p:cNvPr id="3" name="Content Placeholder 2"/>
          <p:cNvSpPr>
            <a:spLocks noGrp="1"/>
          </p:cNvSpPr>
          <p:nvPr>
            <p:ph idx="1"/>
          </p:nvPr>
        </p:nvSpPr>
        <p:spPr>
          <a:xfrm>
            <a:off x="533400" y="990600"/>
            <a:ext cx="8229600" cy="5715000"/>
          </a:xfrm>
        </p:spPr>
        <p:txBody>
          <a:bodyPr>
            <a:normAutofit fontScale="32500" lnSpcReduction="20000"/>
          </a:bodyPr>
          <a:lstStyle/>
          <a:p>
            <a:pPr algn="just">
              <a:buNone/>
            </a:pPr>
            <a:r>
              <a:rPr lang="ru-RU" sz="8400" b="1" dirty="0" smtClean="0"/>
              <a:t>•      Level 4: Realized</a:t>
            </a:r>
            <a:endParaRPr lang="en-US" sz="8400" b="1" dirty="0" smtClean="0"/>
          </a:p>
          <a:p>
            <a:pPr algn="just">
              <a:buNone/>
            </a:pPr>
            <a:r>
              <a:rPr lang="en-US" sz="8400" dirty="0" smtClean="0"/>
              <a:t>	</a:t>
            </a:r>
            <a:r>
              <a:rPr lang="ru-RU" sz="8400" dirty="0" smtClean="0">
                <a:solidFill>
                  <a:srgbClr val="FF0000"/>
                </a:solidFill>
              </a:rPr>
              <a:t>–     Open:</a:t>
            </a:r>
            <a:endParaRPr lang="en-US" sz="8400" dirty="0" smtClean="0">
              <a:solidFill>
                <a:srgbClr val="FF0000"/>
              </a:solidFill>
            </a:endParaRPr>
          </a:p>
          <a:p>
            <a:pPr lvl="1" algn="just">
              <a:buFont typeface="Wingdings" pitchFamily="2" charset="2"/>
              <a:buChar char="ü"/>
            </a:pPr>
            <a:r>
              <a:rPr lang="en-US" sz="8000" dirty="0" smtClean="0"/>
              <a:t> </a:t>
            </a:r>
            <a:r>
              <a:rPr lang="ru-RU" sz="8000" dirty="0" smtClean="0"/>
              <a:t>The  organization  has  integrated  system,  reflective  of </a:t>
            </a:r>
            <a:r>
              <a:rPr lang="en-US" sz="8400" dirty="0" smtClean="0"/>
              <a:t> </a:t>
            </a:r>
            <a:r>
              <a:rPr lang="ru-RU" sz="8400" dirty="0" smtClean="0"/>
              <a:t>smooth information exchange</a:t>
            </a:r>
            <a:r>
              <a:rPr lang="en-US" sz="8400" dirty="0" smtClean="0"/>
              <a:t> </a:t>
            </a:r>
            <a:r>
              <a:rPr lang="ru-RU" sz="8400" dirty="0" smtClean="0"/>
              <a:t>within and outside the</a:t>
            </a:r>
            <a:r>
              <a:rPr lang="en-US" sz="8400" dirty="0" smtClean="0"/>
              <a:t> </a:t>
            </a:r>
            <a:r>
              <a:rPr lang="ru-RU" sz="8400" dirty="0" smtClean="0"/>
              <a:t>organization. </a:t>
            </a:r>
            <a:endParaRPr lang="en-US" sz="8400" dirty="0" smtClean="0"/>
          </a:p>
          <a:p>
            <a:pPr lvl="1" algn="just">
              <a:buFont typeface="Wingdings" pitchFamily="2" charset="2"/>
              <a:buChar char="ü"/>
            </a:pPr>
            <a:r>
              <a:rPr lang="en-US" sz="8400" dirty="0" smtClean="0"/>
              <a:t> </a:t>
            </a:r>
            <a:r>
              <a:rPr lang="ru-RU" sz="8400" dirty="0" smtClean="0"/>
              <a:t>G2E, G2C, G2G, G2B are well established.</a:t>
            </a:r>
            <a:endParaRPr lang="en-US" sz="8400" dirty="0" smtClean="0"/>
          </a:p>
          <a:p>
            <a:pPr lvl="1" algn="just">
              <a:buFont typeface="Wingdings" pitchFamily="2" charset="2"/>
              <a:buChar char="ü"/>
            </a:pPr>
            <a:r>
              <a:rPr lang="en-US" sz="8400" dirty="0" smtClean="0"/>
              <a:t> </a:t>
            </a:r>
            <a:r>
              <a:rPr lang="ru-RU" sz="8400" dirty="0" smtClean="0"/>
              <a:t>Organization focuses on satisfying the users of e-governance.</a:t>
            </a:r>
            <a:endParaRPr lang="en-US" sz="8400" dirty="0" smtClean="0"/>
          </a:p>
          <a:p>
            <a:pPr lvl="1" algn="just">
              <a:buFont typeface="Wingdings" pitchFamily="2" charset="2"/>
              <a:buChar char="ü"/>
            </a:pPr>
            <a:r>
              <a:rPr lang="en-US" sz="8400" dirty="0" smtClean="0"/>
              <a:t> </a:t>
            </a:r>
            <a:r>
              <a:rPr lang="ru-RU" sz="8400" dirty="0" smtClean="0"/>
              <a:t>The   internal  and  external   customers  of   organization  start</a:t>
            </a:r>
            <a:r>
              <a:rPr lang="en-US" sz="8400" dirty="0" smtClean="0"/>
              <a:t> </a:t>
            </a:r>
            <a:r>
              <a:rPr lang="ru-RU" sz="8400" dirty="0" smtClean="0"/>
              <a:t>utilizing the e-governance services and become dependent on them. </a:t>
            </a:r>
            <a:endParaRPr lang="en-US" sz="8400" dirty="0" smtClean="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ru-RU" dirty="0" smtClean="0">
                <a:solidFill>
                  <a:srgbClr val="0070C0"/>
                </a:solidFill>
              </a:rPr>
              <a:t>Characteristics of Maturity Levels </a:t>
            </a:r>
            <a:endParaRPr lang="en-US" dirty="0"/>
          </a:p>
        </p:txBody>
      </p:sp>
      <p:sp>
        <p:nvSpPr>
          <p:cNvPr id="3" name="Content Placeholder 2"/>
          <p:cNvSpPr>
            <a:spLocks noGrp="1"/>
          </p:cNvSpPr>
          <p:nvPr>
            <p:ph idx="1"/>
          </p:nvPr>
        </p:nvSpPr>
        <p:spPr>
          <a:xfrm>
            <a:off x="457200" y="1219200"/>
            <a:ext cx="8229600" cy="4525963"/>
          </a:xfrm>
        </p:spPr>
        <p:txBody>
          <a:bodyPr>
            <a:normAutofit fontScale="92500"/>
          </a:bodyPr>
          <a:lstStyle/>
          <a:p>
            <a:pPr algn="just">
              <a:buNone/>
            </a:pPr>
            <a:r>
              <a:rPr lang="ru-RU" b="1" dirty="0" smtClean="0"/>
              <a:t>•      Level 5: Institutionalized </a:t>
            </a:r>
            <a:endParaRPr lang="en-US" b="1" dirty="0" smtClean="0"/>
          </a:p>
          <a:p>
            <a:pPr lvl="1" algn="just">
              <a:buFont typeface="Wingdings" pitchFamily="2" charset="2"/>
              <a:buChar char="ü"/>
            </a:pPr>
            <a:r>
              <a:rPr lang="ru-RU" dirty="0" smtClean="0"/>
              <a:t>The  </a:t>
            </a:r>
            <a:r>
              <a:rPr lang="en-US" dirty="0" smtClean="0"/>
              <a:t>e</a:t>
            </a:r>
            <a:r>
              <a:rPr lang="ru-RU" dirty="0" smtClean="0"/>
              <a:t>–governance  system  of  the  organization  is  driven  by  a</a:t>
            </a:r>
            <a:r>
              <a:rPr lang="en-US" dirty="0" smtClean="0"/>
              <a:t> </a:t>
            </a:r>
            <a:r>
              <a:rPr lang="ru-RU" dirty="0" smtClean="0">
                <a:solidFill>
                  <a:srgbClr val="FF0000"/>
                </a:solidFill>
              </a:rPr>
              <a:t>well established  Knowledge  Management  System  </a:t>
            </a:r>
            <a:r>
              <a:rPr lang="ru-RU" dirty="0" smtClean="0"/>
              <a:t>that</a:t>
            </a:r>
            <a:r>
              <a:rPr lang="en-US" dirty="0" smtClean="0"/>
              <a:t> </a:t>
            </a:r>
            <a:r>
              <a:rPr lang="ru-RU" dirty="0" smtClean="0"/>
              <a:t>generated  an ability  in  the  organization  to  evolve  with  time  in view  of  new requirements.</a:t>
            </a:r>
            <a:endParaRPr lang="en-US" dirty="0" smtClean="0"/>
          </a:p>
          <a:p>
            <a:pPr lvl="1" algn="just">
              <a:buFont typeface="Wingdings" pitchFamily="2" charset="2"/>
              <a:buChar char="ü"/>
            </a:pPr>
            <a:r>
              <a:rPr lang="ru-RU" dirty="0" smtClean="0"/>
              <a:t>E-governance becomes an effortless exercise for the organization and   it   becomes   a   way   of   life   for   the   stakeholders   and customer/users.</a:t>
            </a:r>
            <a:endParaRPr lang="en-US" dirty="0" smtClean="0"/>
          </a:p>
          <a:p>
            <a:pPr lvl="1" algn="just">
              <a:buFont typeface="Wingdings" pitchFamily="2" charset="2"/>
              <a:buChar char="ü"/>
            </a:pPr>
            <a:r>
              <a:rPr lang="ru-RU" dirty="0" smtClean="0"/>
              <a:t>The organization at this level is completely paperless</a:t>
            </a:r>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Towards </a:t>
            </a:r>
            <a:r>
              <a:rPr lang="ru-RU" dirty="0">
                <a:solidFill>
                  <a:srgbClr val="0070C0"/>
                </a:solidFill>
              </a:rPr>
              <a:t>Good Governance Through E-Governance Models</a:t>
            </a:r>
            <a:r>
              <a:rPr lang="en-US" dirty="0"/>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t>The former UN Secretary General Kofi Annan describes </a:t>
            </a:r>
            <a:r>
              <a:rPr lang="en-US" dirty="0">
                <a:solidFill>
                  <a:srgbClr val="FF0000"/>
                </a:solidFill>
              </a:rPr>
              <a:t>good governance as a force ensuring respect for human rights and the rule of law, strengthening democracy, promoting transparency and capacity in public administration. </a:t>
            </a:r>
            <a:endParaRPr lang="en-US" dirty="0" smtClean="0">
              <a:solidFill>
                <a:srgbClr val="FF0000"/>
              </a:solidFill>
            </a:endParaRPr>
          </a:p>
          <a:p>
            <a:pPr algn="just"/>
            <a:r>
              <a:rPr lang="en-US" dirty="0"/>
              <a:t>Good governance is a term different to governance which is </a:t>
            </a:r>
            <a:r>
              <a:rPr lang="en-US" dirty="0">
                <a:solidFill>
                  <a:srgbClr val="FF0000"/>
                </a:solidFill>
              </a:rPr>
              <a:t>mainly a political and technocratic term without normative aspirations</a:t>
            </a:r>
            <a:r>
              <a:rPr lang="en-US" dirty="0"/>
              <a:t> and suggests that governance should be </a:t>
            </a:r>
            <a:r>
              <a:rPr lang="en-US" dirty="0" smtClean="0">
                <a:solidFill>
                  <a:srgbClr val="00B050"/>
                </a:solidFill>
              </a:rPr>
              <a:t>good </a:t>
            </a:r>
            <a:r>
              <a:rPr lang="en-US" dirty="0">
                <a:solidFill>
                  <a:srgbClr val="00B050"/>
                </a:solidFill>
              </a:rPr>
              <a:t>and not </a:t>
            </a:r>
            <a:r>
              <a:rPr lang="en-US" dirty="0" smtClean="0">
                <a:solidFill>
                  <a:srgbClr val="00B050"/>
                </a:solidFill>
              </a:rPr>
              <a:t>bad. </a:t>
            </a:r>
          </a:p>
          <a:p>
            <a:pPr algn="just"/>
            <a:r>
              <a:rPr lang="en-US" dirty="0" smtClean="0"/>
              <a:t>Good </a:t>
            </a:r>
            <a:r>
              <a:rPr lang="en-US" dirty="0"/>
              <a:t>Governance may be defined as the </a:t>
            </a:r>
            <a:r>
              <a:rPr lang="en-US" dirty="0">
                <a:solidFill>
                  <a:srgbClr val="00B050"/>
                </a:solidFill>
              </a:rPr>
              <a:t>processes that guide the political and socio-economic relationships</a:t>
            </a:r>
            <a:r>
              <a:rPr lang="en-US" dirty="0"/>
              <a:t>, with commitment to </a:t>
            </a:r>
            <a:r>
              <a:rPr lang="en-US" dirty="0">
                <a:solidFill>
                  <a:srgbClr val="FF0000"/>
                </a:solidFill>
              </a:rPr>
              <a:t>democratic values, trusted services and just and honest business. </a:t>
            </a:r>
          </a:p>
        </p:txBody>
      </p:sp>
    </p:spTree>
    <p:extLst>
      <p:ext uri="{BB962C8B-B14F-4D97-AF65-F5344CB8AC3E}">
        <p14:creationId xmlns:p14="http://schemas.microsoft.com/office/powerpoint/2010/main" val="30157885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sz="4000" dirty="0" smtClean="0">
                <a:solidFill>
                  <a:srgbClr val="0070C0"/>
                </a:solidFill>
              </a:rPr>
              <a:t/>
            </a:r>
            <a:br>
              <a:rPr lang="en-US" sz="4000" dirty="0" smtClean="0">
                <a:solidFill>
                  <a:srgbClr val="0070C0"/>
                </a:solidFill>
              </a:rPr>
            </a:br>
            <a:r>
              <a:rPr lang="ru-RU" sz="4000" dirty="0" smtClean="0">
                <a:solidFill>
                  <a:srgbClr val="0070C0"/>
                </a:solidFill>
              </a:rPr>
              <a:t>Towards Good Governance Through E-Governance Models</a:t>
            </a:r>
            <a:r>
              <a:rPr lang="en-US" dirty="0" smtClean="0"/>
              <a:t/>
            </a:r>
            <a:br>
              <a:rPr lang="en-US" dirty="0" smtClean="0"/>
            </a:br>
            <a:endParaRPr lang="en-US" dirty="0"/>
          </a:p>
        </p:txBody>
      </p:sp>
      <p:sp>
        <p:nvSpPr>
          <p:cNvPr id="3" name="Content Placeholder 2"/>
          <p:cNvSpPr>
            <a:spLocks noGrp="1"/>
          </p:cNvSpPr>
          <p:nvPr>
            <p:ph idx="1"/>
          </p:nvPr>
        </p:nvSpPr>
        <p:spPr>
          <a:xfrm>
            <a:off x="452582" y="1371600"/>
            <a:ext cx="8229600" cy="4525963"/>
          </a:xfrm>
        </p:spPr>
        <p:txBody>
          <a:bodyPr>
            <a:normAutofit fontScale="70000" lnSpcReduction="20000"/>
          </a:bodyPr>
          <a:lstStyle/>
          <a:p>
            <a:pPr algn="just">
              <a:buNone/>
            </a:pPr>
            <a:r>
              <a:rPr lang="ru-RU" sz="2600" dirty="0" smtClean="0"/>
              <a:t>• </a:t>
            </a:r>
            <a:r>
              <a:rPr lang="en-US" sz="2800" dirty="0"/>
              <a:t>E-governance (Electronic Governance/ Digital Governance) has been recognized as a </a:t>
            </a:r>
            <a:r>
              <a:rPr lang="en-US" sz="2800" dirty="0">
                <a:solidFill>
                  <a:srgbClr val="FF0000"/>
                </a:solidFill>
              </a:rPr>
              <a:t>vital force for transformational improvement in quality, efficiency and effectiveness of governance. </a:t>
            </a:r>
            <a:endParaRPr lang="en-US" sz="2800" dirty="0" smtClean="0">
              <a:solidFill>
                <a:srgbClr val="FF0000"/>
              </a:solidFill>
            </a:endParaRPr>
          </a:p>
          <a:p>
            <a:pPr algn="just"/>
            <a:r>
              <a:rPr lang="en-US" sz="2800" dirty="0" smtClean="0"/>
              <a:t>A </a:t>
            </a:r>
            <a:r>
              <a:rPr lang="en-US" sz="2800" dirty="0"/>
              <a:t>governance strategy driven by information and communication technology has to be developed and applied with the </a:t>
            </a:r>
            <a:r>
              <a:rPr lang="en-US" sz="2800" dirty="0">
                <a:solidFill>
                  <a:srgbClr val="FF0000"/>
                </a:solidFill>
              </a:rPr>
              <a:t>objective of bringing in more transparency and increased accountability.</a:t>
            </a:r>
          </a:p>
          <a:p>
            <a:pPr algn="just"/>
            <a:r>
              <a:rPr lang="ru-RU" sz="2800" dirty="0" smtClean="0"/>
              <a:t>The digital governance models </a:t>
            </a:r>
            <a:r>
              <a:rPr lang="ru-RU" sz="2800" dirty="0" smtClean="0">
                <a:solidFill>
                  <a:srgbClr val="C00000"/>
                </a:solidFill>
              </a:rPr>
              <a:t>bring about a transformation in the existing forms of governance as they change the nature of citizen-governance relationship and bring in new agents and mechanisms  to influence the governance processes. </a:t>
            </a:r>
            <a:endParaRPr lang="en-US" sz="2800" dirty="0" smtClean="0">
              <a:solidFill>
                <a:srgbClr val="C00000"/>
              </a:solidFill>
            </a:endParaRPr>
          </a:p>
          <a:p>
            <a:pPr algn="just">
              <a:buNone/>
            </a:pPr>
            <a:r>
              <a:rPr lang="ru-RU" sz="2800" dirty="0" smtClean="0"/>
              <a:t>• </a:t>
            </a:r>
            <a:r>
              <a:rPr lang="en-US" sz="2800" dirty="0" smtClean="0"/>
              <a:t> </a:t>
            </a:r>
            <a:r>
              <a:rPr lang="ru-RU" sz="2800" dirty="0" smtClean="0"/>
              <a:t>The  models  </a:t>
            </a:r>
            <a:r>
              <a:rPr lang="ru-RU" sz="2800" dirty="0" smtClean="0">
                <a:solidFill>
                  <a:srgbClr val="C00000"/>
                </a:solidFill>
              </a:rPr>
              <a:t>foster  democratic  control  over  the  government</a:t>
            </a:r>
            <a:r>
              <a:rPr lang="en-US" sz="2800" dirty="0" smtClean="0">
                <a:solidFill>
                  <a:srgbClr val="C00000"/>
                </a:solidFill>
              </a:rPr>
              <a:t>’</a:t>
            </a:r>
            <a:r>
              <a:rPr lang="ru-RU" sz="2800" dirty="0" smtClean="0">
                <a:solidFill>
                  <a:srgbClr val="C00000"/>
                </a:solidFill>
              </a:rPr>
              <a:t>s  economic,  social  and welfare policies by citizens and civil society organizations</a:t>
            </a:r>
            <a:r>
              <a:rPr lang="ru-RU" sz="2800" dirty="0" smtClean="0"/>
              <a:t> </a:t>
            </a:r>
            <a:r>
              <a:rPr lang="en-US" sz="2800" dirty="0" smtClean="0"/>
              <a:t>- </a:t>
            </a:r>
            <a:r>
              <a:rPr lang="ru-RU" sz="2800" dirty="0" smtClean="0"/>
              <a:t>a key process requirement for good and responsive governance. </a:t>
            </a:r>
            <a:endParaRPr lang="en-US" sz="2800" dirty="0" smtClean="0"/>
          </a:p>
          <a:p>
            <a:pPr algn="just">
              <a:buNone/>
            </a:pPr>
            <a:r>
              <a:rPr lang="ru-RU" sz="2800" dirty="0" smtClean="0"/>
              <a:t>• </a:t>
            </a:r>
            <a:r>
              <a:rPr lang="en-US" sz="2800" dirty="0" smtClean="0"/>
              <a:t> </a:t>
            </a:r>
            <a:r>
              <a:rPr lang="ru-RU" sz="2800" dirty="0" smtClean="0"/>
              <a:t>It </a:t>
            </a:r>
            <a:r>
              <a:rPr lang="ru-RU" sz="2800" dirty="0" smtClean="0">
                <a:solidFill>
                  <a:srgbClr val="00B050"/>
                </a:solidFill>
              </a:rPr>
              <a:t>ensures that the voices of people are more likely to be reflected in decision-making processes.</a:t>
            </a:r>
            <a:r>
              <a:rPr lang="ru-RU" sz="2800" dirty="0" smtClean="0"/>
              <a:t> </a:t>
            </a:r>
            <a:endParaRPr lang="en-US" sz="2800" dirty="0" smtClean="0"/>
          </a:p>
          <a:p>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ru-RU" dirty="0" smtClean="0">
                <a:solidFill>
                  <a:srgbClr val="0070C0"/>
                </a:solidFill>
              </a:rPr>
              <a:t>Towards </a:t>
            </a:r>
            <a:r>
              <a:rPr lang="ru-RU" dirty="0">
                <a:solidFill>
                  <a:srgbClr val="0070C0"/>
                </a:solidFill>
              </a:rPr>
              <a:t>Good Governance Through E-Governance Models</a:t>
            </a:r>
            <a:endParaRPr lang="en-US" dirty="0"/>
          </a:p>
        </p:txBody>
      </p:sp>
      <p:sp>
        <p:nvSpPr>
          <p:cNvPr id="3" name="Content Placeholder 2"/>
          <p:cNvSpPr>
            <a:spLocks noGrp="1"/>
          </p:cNvSpPr>
          <p:nvPr>
            <p:ph idx="1"/>
          </p:nvPr>
        </p:nvSpPr>
        <p:spPr>
          <a:xfrm>
            <a:off x="609600" y="1447800"/>
            <a:ext cx="8229600" cy="4525963"/>
          </a:xfrm>
        </p:spPr>
        <p:txBody>
          <a:bodyPr>
            <a:normAutofit/>
          </a:bodyPr>
          <a:lstStyle/>
          <a:p>
            <a:pPr algn="just"/>
            <a:r>
              <a:rPr lang="en-US" sz="2400" dirty="0"/>
              <a:t>Richard </a:t>
            </a:r>
            <a:r>
              <a:rPr lang="en-US" sz="2400" dirty="0" err="1"/>
              <a:t>Heeks</a:t>
            </a:r>
            <a:r>
              <a:rPr lang="en-US" sz="2400" dirty="0"/>
              <a:t> </a:t>
            </a:r>
            <a:r>
              <a:rPr lang="en-US" sz="2400" dirty="0" smtClean="0"/>
              <a:t> </a:t>
            </a:r>
            <a:r>
              <a:rPr lang="en-US" sz="2400" dirty="0"/>
              <a:t>studied the effect of new information and communication technologies and how it can make a </a:t>
            </a:r>
            <a:r>
              <a:rPr lang="en-US" sz="2400" dirty="0">
                <a:solidFill>
                  <a:srgbClr val="FF0000"/>
                </a:solidFill>
              </a:rPr>
              <a:t>significant contribution to the achievement of good governance </a:t>
            </a:r>
            <a:r>
              <a:rPr lang="en-US" sz="2400" dirty="0" smtClean="0">
                <a:solidFill>
                  <a:srgbClr val="FF0000"/>
                </a:solidFill>
              </a:rPr>
              <a:t>goals.</a:t>
            </a:r>
          </a:p>
          <a:p>
            <a:pPr algn="just"/>
            <a:r>
              <a:rPr lang="en-US" sz="2400" dirty="0" smtClean="0"/>
              <a:t>He </a:t>
            </a:r>
            <a:r>
              <a:rPr lang="en-US" sz="2400" dirty="0"/>
              <a:t>outlined the three main contributions of e-governance: improving government processes (</a:t>
            </a:r>
            <a:r>
              <a:rPr lang="en-US" sz="2400" dirty="0" smtClean="0">
                <a:solidFill>
                  <a:srgbClr val="FF0000"/>
                </a:solidFill>
              </a:rPr>
              <a:t>e-administration</a:t>
            </a:r>
            <a:r>
              <a:rPr lang="en-US" sz="2400" dirty="0" smtClean="0"/>
              <a:t>), </a:t>
            </a:r>
            <a:r>
              <a:rPr lang="en-US" sz="2400" dirty="0"/>
              <a:t>connecting citizens (</a:t>
            </a:r>
            <a:r>
              <a:rPr lang="en-US" sz="2400" dirty="0">
                <a:solidFill>
                  <a:srgbClr val="FF0000"/>
                </a:solidFill>
              </a:rPr>
              <a:t>e-citizens and e-services</a:t>
            </a:r>
            <a:r>
              <a:rPr lang="en-US" sz="2400" dirty="0" smtClean="0"/>
              <a:t>), </a:t>
            </a:r>
            <a:r>
              <a:rPr lang="en-US" sz="2400" dirty="0"/>
              <a:t>and building external interactions (</a:t>
            </a:r>
            <a:r>
              <a:rPr lang="en-US" sz="2400" dirty="0">
                <a:solidFill>
                  <a:srgbClr val="FF0000"/>
                </a:solidFill>
              </a:rPr>
              <a:t>e-society</a:t>
            </a:r>
            <a:r>
              <a:rPr lang="en-US" sz="2400" dirty="0"/>
              <a:t>). </a:t>
            </a:r>
            <a:endParaRPr lang="en-US" sz="2400" dirty="0" smtClean="0"/>
          </a:p>
          <a:p>
            <a:pPr algn="just"/>
            <a:r>
              <a:rPr lang="en-US" sz="2400" dirty="0"/>
              <a:t>Case studies are used to show that </a:t>
            </a:r>
            <a:r>
              <a:rPr lang="en-US" sz="2400" dirty="0">
                <a:solidFill>
                  <a:srgbClr val="FF0000"/>
                </a:solidFill>
              </a:rPr>
              <a:t>e-governance is a current, not just </a:t>
            </a:r>
            <a:r>
              <a:rPr lang="en-US" sz="2400" dirty="0" smtClean="0">
                <a:solidFill>
                  <a:srgbClr val="FF0000"/>
                </a:solidFill>
              </a:rPr>
              <a:t>future</a:t>
            </a:r>
            <a:r>
              <a:rPr lang="en-US" sz="2400" dirty="0"/>
              <a:t> </a:t>
            </a:r>
            <a:r>
              <a:rPr lang="en-US" sz="2400" dirty="0" smtClean="0"/>
              <a:t>reality </a:t>
            </a:r>
            <a:r>
              <a:rPr lang="en-US" sz="2400" dirty="0"/>
              <a:t>for developing </a:t>
            </a:r>
            <a:r>
              <a:rPr lang="en-US" sz="2400" dirty="0" smtClean="0"/>
              <a:t>countries.</a:t>
            </a:r>
            <a:endParaRPr lang="en-US" sz="2400" dirty="0"/>
          </a:p>
        </p:txBody>
      </p:sp>
    </p:spTree>
    <p:extLst>
      <p:ext uri="{BB962C8B-B14F-4D97-AF65-F5344CB8AC3E}">
        <p14:creationId xmlns:p14="http://schemas.microsoft.com/office/powerpoint/2010/main" val="40716407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68362"/>
          </a:xfrm>
        </p:spPr>
        <p:txBody>
          <a:bodyPr>
            <a:normAutofit fontScale="90000"/>
          </a:bodyPr>
          <a:lstStyle/>
          <a:p>
            <a:r>
              <a:rPr lang="en-US" dirty="0" smtClean="0"/>
              <a:t/>
            </a:r>
            <a:br>
              <a:rPr lang="en-US" dirty="0" smtClean="0"/>
            </a:br>
            <a:r>
              <a:rPr lang="ru-RU" sz="3100" dirty="0" smtClean="0">
                <a:solidFill>
                  <a:srgbClr val="0070C0"/>
                </a:solidFill>
              </a:rPr>
              <a:t>Towards Good Governance Through E-Governance Models</a:t>
            </a:r>
            <a:r>
              <a:rPr lang="en-US" dirty="0" smtClean="0"/>
              <a:t/>
            </a:r>
            <a:br>
              <a:rPr lang="en-US" dirty="0" smtClean="0"/>
            </a:br>
            <a:endParaRPr lang="en-US" dirty="0"/>
          </a:p>
        </p:txBody>
      </p:sp>
      <p:sp>
        <p:nvSpPr>
          <p:cNvPr id="3" name="Content Placeholder 2"/>
          <p:cNvSpPr>
            <a:spLocks noGrp="1"/>
          </p:cNvSpPr>
          <p:nvPr>
            <p:ph idx="1"/>
          </p:nvPr>
        </p:nvSpPr>
        <p:spPr>
          <a:xfrm>
            <a:off x="381000" y="1828800"/>
            <a:ext cx="8382000" cy="4648200"/>
          </a:xfrm>
        </p:spPr>
        <p:txBody>
          <a:bodyPr>
            <a:normAutofit/>
          </a:bodyPr>
          <a:lstStyle/>
          <a:p>
            <a:pPr algn="just">
              <a:buNone/>
            </a:pPr>
            <a:r>
              <a:rPr lang="en-US" sz="2000" dirty="0" smtClean="0"/>
              <a:t>1.	</a:t>
            </a:r>
            <a:r>
              <a:rPr lang="ru-RU" sz="2000" dirty="0" smtClean="0"/>
              <a:t>They open up avenues</a:t>
            </a:r>
            <a:r>
              <a:rPr lang="en-US" sz="2000" dirty="0"/>
              <a:t>/</a:t>
            </a:r>
            <a:r>
              <a:rPr lang="en-US" sz="2000" dirty="0" smtClean="0"/>
              <a:t>making progress</a:t>
            </a:r>
            <a:r>
              <a:rPr lang="ru-RU" sz="2000" dirty="0" smtClean="0"/>
              <a:t> for flow of information both </a:t>
            </a:r>
            <a:r>
              <a:rPr lang="ru-RU" sz="2000" dirty="0" smtClean="0">
                <a:solidFill>
                  <a:srgbClr val="00B050"/>
                </a:solidFill>
              </a:rPr>
              <a:t>vertically and       laterally, and thus encompass a wider foundation of the civil society. </a:t>
            </a:r>
            <a:endParaRPr lang="en-US" sz="2000" dirty="0" smtClean="0">
              <a:solidFill>
                <a:srgbClr val="00B050"/>
              </a:solidFill>
            </a:endParaRPr>
          </a:p>
          <a:p>
            <a:pPr lvl="1" algn="just">
              <a:buFont typeface="Wingdings" pitchFamily="2" charset="2"/>
              <a:buChar char="ü"/>
            </a:pPr>
            <a:r>
              <a:rPr lang="ru-RU" sz="2000" dirty="0" smtClean="0"/>
              <a:t>A greater </a:t>
            </a:r>
            <a:r>
              <a:rPr lang="ru-RU" sz="2000" dirty="0" smtClean="0">
                <a:solidFill>
                  <a:srgbClr val="00B050"/>
                </a:solidFill>
              </a:rPr>
              <a:t>density of information flow is achieved </a:t>
            </a:r>
            <a:r>
              <a:rPr lang="ru-RU" sz="2000" dirty="0" smtClean="0"/>
              <a:t>between government and civil society or within the civil society itself. </a:t>
            </a:r>
            <a:endParaRPr lang="en-US" sz="2000" dirty="0" smtClean="0"/>
          </a:p>
          <a:p>
            <a:pPr lvl="1" algn="just">
              <a:buFont typeface="Wingdings" pitchFamily="2" charset="2"/>
              <a:buChar char="ü"/>
            </a:pPr>
            <a:r>
              <a:rPr lang="ru-RU" sz="2000" dirty="0" smtClean="0"/>
              <a:t>The </a:t>
            </a:r>
            <a:r>
              <a:rPr lang="ru-RU" sz="2000" dirty="0" smtClean="0">
                <a:solidFill>
                  <a:srgbClr val="00B050"/>
                </a:solidFill>
              </a:rPr>
              <a:t>right to voice and expression therefore gets more frequently exercised by citizens</a:t>
            </a:r>
            <a:r>
              <a:rPr lang="ru-RU" sz="2000" dirty="0" smtClean="0"/>
              <a:t> who wish to engage in the political processes</a:t>
            </a:r>
            <a:r>
              <a:rPr lang="en-US" sz="2000" dirty="0" smtClean="0"/>
              <a:t> through digital process.</a:t>
            </a:r>
          </a:p>
          <a:p>
            <a:pPr algn="just">
              <a:buNone/>
            </a:pPr>
            <a:r>
              <a:rPr lang="en-US" sz="2000" dirty="0" smtClean="0"/>
              <a:t>2.</a:t>
            </a:r>
            <a:r>
              <a:rPr lang="ru-RU" sz="2000" dirty="0" smtClean="0"/>
              <a:t> </a:t>
            </a:r>
            <a:r>
              <a:rPr lang="en-US" sz="2000" dirty="0" smtClean="0"/>
              <a:t>	</a:t>
            </a:r>
            <a:r>
              <a:rPr lang="ru-RU" sz="2000" dirty="0" smtClean="0"/>
              <a:t>Information becomes difficult to be </a:t>
            </a:r>
            <a:r>
              <a:rPr lang="ru-RU" sz="2000" dirty="0" smtClean="0">
                <a:solidFill>
                  <a:srgbClr val="00B050"/>
                </a:solidFill>
              </a:rPr>
              <a:t>capitalized by a few for political gains and at the expense of ignorance of citizens. </a:t>
            </a:r>
            <a:endParaRPr lang="en-US" sz="2000" dirty="0" smtClean="0">
              <a:solidFill>
                <a:srgbClr val="00B050"/>
              </a:solidFill>
            </a:endParaRPr>
          </a:p>
          <a:p>
            <a:pPr lvl="1" algn="just">
              <a:buFont typeface="Wingdings" pitchFamily="2" charset="2"/>
              <a:buChar char="ü"/>
            </a:pPr>
            <a:r>
              <a:rPr lang="ru-RU" sz="2000" dirty="0" smtClean="0"/>
              <a:t>Digital governance ensures that the </a:t>
            </a:r>
            <a:r>
              <a:rPr lang="ru-RU" sz="2000" dirty="0" smtClean="0">
                <a:solidFill>
                  <a:srgbClr val="00B050"/>
                </a:solidFill>
              </a:rPr>
              <a:t>power-equations</a:t>
            </a:r>
            <a:r>
              <a:rPr lang="ru-RU" sz="2000" dirty="0" smtClean="0"/>
              <a:t> shift from being concentrated and restricted at selected nodes to its </a:t>
            </a:r>
            <a:r>
              <a:rPr lang="ru-RU" sz="2000" dirty="0" smtClean="0">
                <a:solidFill>
                  <a:srgbClr val="00B050"/>
                </a:solidFill>
              </a:rPr>
              <a:t>more even and timely distribution among citizens, opposition parties and watch guard groups.</a:t>
            </a:r>
            <a:endParaRPr lang="en-US" sz="2000" dirty="0" smtClean="0">
              <a:solidFill>
                <a:srgbClr val="00B05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614929808"/>
              </p:ext>
            </p:extLst>
          </p:nvPr>
        </p:nvGraphicFramePr>
        <p:xfrm>
          <a:off x="609600" y="1143000"/>
          <a:ext cx="8305800" cy="609600"/>
        </p:xfrm>
        <a:graphic>
          <a:graphicData uri="http://schemas.openxmlformats.org/drawingml/2006/table">
            <a:tbl>
              <a:tblPr/>
              <a:tblGrid>
                <a:gridCol w="8305800">
                  <a:extLst>
                    <a:ext uri="{9D8B030D-6E8A-4147-A177-3AD203B41FA5}">
                      <a16:colId xmlns:a16="http://schemas.microsoft.com/office/drawing/2014/main" val="20000"/>
                    </a:ext>
                  </a:extLst>
                </a:gridCol>
              </a:tblGrid>
              <a:tr h="374778">
                <a:tc>
                  <a:txBody>
                    <a:bodyPr/>
                    <a:lstStyle/>
                    <a:p>
                      <a:pPr marL="0" marR="0" indent="0" algn="l">
                        <a:lnSpc>
                          <a:spcPts val="2395"/>
                        </a:lnSpc>
                        <a:spcBef>
                          <a:spcPts val="0"/>
                        </a:spcBef>
                        <a:spcAft>
                          <a:spcPts val="0"/>
                        </a:spcAft>
                      </a:pPr>
                      <a:r>
                        <a:rPr lang="ru-RU" sz="2400" dirty="0">
                          <a:solidFill>
                            <a:srgbClr val="FF0000"/>
                          </a:solidFill>
                          <a:latin typeface="RLBHGC+FuturaBT-Light"/>
                          <a:ea typeface="Calibri"/>
                          <a:cs typeface="Times New Roman"/>
                        </a:rPr>
                        <a:t>The changes brought about in the citizen-governance relationship through digital </a:t>
                      </a:r>
                      <a:r>
                        <a:rPr lang="en-US" sz="2400" baseline="0" dirty="0" smtClean="0">
                          <a:solidFill>
                            <a:srgbClr val="FF0000"/>
                          </a:solidFill>
                          <a:latin typeface="Calibri"/>
                          <a:ea typeface="Calibri"/>
                          <a:cs typeface="Times New Roman"/>
                        </a:rPr>
                        <a:t> </a:t>
                      </a:r>
                      <a:r>
                        <a:rPr lang="ru-RU" sz="2400" dirty="0" smtClean="0">
                          <a:solidFill>
                            <a:srgbClr val="FF0000"/>
                          </a:solidFill>
                          <a:latin typeface="RLBHGC+FuturaBT-Light"/>
                          <a:ea typeface="Calibri"/>
                          <a:cs typeface="Times New Roman"/>
                        </a:rPr>
                        <a:t>governance </a:t>
                      </a:r>
                      <a:r>
                        <a:rPr lang="ru-RU" sz="2400" dirty="0">
                          <a:solidFill>
                            <a:srgbClr val="FF0000"/>
                          </a:solidFill>
                          <a:latin typeface="RLBHGC+FuturaBT-Light"/>
                          <a:ea typeface="Calibri"/>
                          <a:cs typeface="Times New Roman"/>
                        </a:rPr>
                        <a:t>are </a:t>
                      </a:r>
                      <a:r>
                        <a:rPr lang="ru-RU" sz="2400" dirty="0" smtClean="0">
                          <a:solidFill>
                            <a:srgbClr val="FF0000"/>
                          </a:solidFill>
                          <a:latin typeface="RLBHGC+FuturaBT-Light"/>
                          <a:ea typeface="Calibri"/>
                          <a:cs typeface="Times New Roman"/>
                        </a:rPr>
                        <a:t>four</a:t>
                      </a:r>
                      <a:r>
                        <a:rPr lang="en-US" sz="2400" dirty="0" smtClean="0">
                          <a:solidFill>
                            <a:srgbClr val="FF0000"/>
                          </a:solidFill>
                          <a:latin typeface="RLBHGC+FuturaBT-Light"/>
                          <a:ea typeface="Calibri"/>
                          <a:cs typeface="Times New Roman"/>
                        </a:rPr>
                        <a:t> </a:t>
                      </a:r>
                      <a:r>
                        <a:rPr lang="ru-RU" sz="2400" dirty="0" smtClean="0">
                          <a:solidFill>
                            <a:srgbClr val="FF0000"/>
                          </a:solidFill>
                          <a:latin typeface="RLBHGC+FuturaBT-Light"/>
                          <a:ea typeface="Calibri"/>
                          <a:cs typeface="Times New Roman"/>
                        </a:rPr>
                        <a:t>fold</a:t>
                      </a:r>
                      <a:r>
                        <a:rPr lang="ru-RU" sz="2400" dirty="0">
                          <a:solidFill>
                            <a:srgbClr val="FF0000"/>
                          </a:solidFill>
                          <a:latin typeface="RLBHGC+FuturaBT-Light"/>
                          <a:ea typeface="Calibri"/>
                          <a:cs typeface="Times New Roman"/>
                        </a:rPr>
                        <a:t>:</a:t>
                      </a:r>
                      <a:endParaRPr lang="en-US" sz="24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 y="152400"/>
            <a:ext cx="8915400" cy="868362"/>
          </a:xfrm>
        </p:spPr>
        <p:txBody>
          <a:bodyPr>
            <a:normAutofit fontScale="90000"/>
          </a:bodyPr>
          <a:lstStyle/>
          <a:p>
            <a:r>
              <a:rPr lang="ru-RU" dirty="0" smtClean="0">
                <a:solidFill>
                  <a:srgbClr val="0070C0"/>
                </a:solidFill>
              </a:rPr>
              <a:t>Towards Good Governance Through E-Governance Models</a:t>
            </a:r>
            <a:endParaRPr lang="en-US" dirty="0"/>
          </a:p>
        </p:txBody>
      </p:sp>
      <p:sp>
        <p:nvSpPr>
          <p:cNvPr id="3" name="Content Placeholder 2"/>
          <p:cNvSpPr>
            <a:spLocks noGrp="1"/>
          </p:cNvSpPr>
          <p:nvPr>
            <p:ph idx="1"/>
          </p:nvPr>
        </p:nvSpPr>
        <p:spPr>
          <a:xfrm>
            <a:off x="457200" y="1295400"/>
            <a:ext cx="8229600" cy="5105400"/>
          </a:xfrm>
        </p:spPr>
        <p:txBody>
          <a:bodyPr>
            <a:normAutofit fontScale="62500" lnSpcReduction="20000"/>
          </a:bodyPr>
          <a:lstStyle/>
          <a:p>
            <a:pPr marL="514350" indent="-514350" algn="just">
              <a:buAutoNum type="arabicPeriod" startAt="3"/>
            </a:pPr>
            <a:r>
              <a:rPr lang="ru-RU" dirty="0" smtClean="0"/>
              <a:t>There is a </a:t>
            </a:r>
            <a:r>
              <a:rPr lang="ru-RU" dirty="0" smtClean="0">
                <a:solidFill>
                  <a:srgbClr val="00B050"/>
                </a:solidFill>
              </a:rPr>
              <a:t>greater scope to influence policy-makers and members of the civil society</a:t>
            </a:r>
            <a:r>
              <a:rPr lang="ru-RU" dirty="0" smtClean="0"/>
              <a:t> through collective opinion, direct participation, participation in public debates, and use of advocacy tools.</a:t>
            </a:r>
            <a:endParaRPr lang="en-US" dirty="0" smtClean="0"/>
          </a:p>
          <a:p>
            <a:pPr lvl="1" algn="just">
              <a:buFont typeface="Wingdings" panose="05000000000000000000" pitchFamily="2" charset="2"/>
              <a:buChar char="ü"/>
            </a:pPr>
            <a:r>
              <a:rPr lang="en-US" sz="3200" dirty="0"/>
              <a:t>Legal advocacy includes law suits, legal memoranda, legal rights booklets for lay citizens, civil rights statements, legal </a:t>
            </a:r>
            <a:r>
              <a:rPr lang="en-US" sz="3200" dirty="0" smtClean="0"/>
              <a:t>representation </a:t>
            </a:r>
            <a:r>
              <a:rPr lang="en-US" sz="3200" dirty="0"/>
              <a:t>and other negotiations, and legal advice.</a:t>
            </a:r>
            <a:endParaRPr lang="en-US" sz="3200" dirty="0" smtClean="0"/>
          </a:p>
          <a:p>
            <a:pPr algn="just">
              <a:buNone/>
            </a:pPr>
            <a:r>
              <a:rPr lang="en-US" dirty="0" smtClean="0"/>
              <a:t>4.	</a:t>
            </a:r>
            <a:r>
              <a:rPr lang="ru-RU" dirty="0" smtClean="0"/>
              <a:t>Policy-makers become more </a:t>
            </a:r>
            <a:r>
              <a:rPr lang="ru-RU" dirty="0" smtClean="0">
                <a:solidFill>
                  <a:srgbClr val="00B050"/>
                </a:solidFill>
              </a:rPr>
              <a:t>aware of the voices of people and can effectively involve them  in  policy-making  mechanisms.  </a:t>
            </a:r>
            <a:endParaRPr lang="en-US" dirty="0" smtClean="0">
              <a:solidFill>
                <a:srgbClr val="00B050"/>
              </a:solidFill>
            </a:endParaRPr>
          </a:p>
          <a:p>
            <a:pPr lvl="1" algn="just">
              <a:buFont typeface="Wingdings" pitchFamily="2" charset="2"/>
              <a:buChar char="ü"/>
            </a:pPr>
            <a:r>
              <a:rPr lang="ru-RU" sz="3200" dirty="0" smtClean="0"/>
              <a:t>They  realize  that  their  actions  are  under  the</a:t>
            </a:r>
            <a:r>
              <a:rPr lang="en-US" sz="3200" dirty="0" smtClean="0"/>
              <a:t> </a:t>
            </a:r>
            <a:r>
              <a:rPr lang="ru-RU" sz="3200" dirty="0" smtClean="0">
                <a:solidFill>
                  <a:srgbClr val="00B050"/>
                </a:solidFill>
              </a:rPr>
              <a:t>scrutiny  of  many  more  watch  guard  organizations  and  there  are  greater  avenues available</a:t>
            </a:r>
            <a:r>
              <a:rPr lang="ru-RU" sz="3200" dirty="0" smtClean="0"/>
              <a:t>  with  people  to  obtain  or  triangulate  information   from  different  sources. </a:t>
            </a:r>
            <a:endParaRPr lang="en-US" sz="3200" dirty="0" smtClean="0"/>
          </a:p>
          <a:p>
            <a:pPr lvl="1" algn="just">
              <a:buFont typeface="Wingdings" pitchFamily="2" charset="2"/>
              <a:buChar char="ü"/>
            </a:pPr>
            <a:r>
              <a:rPr lang="ru-RU" sz="3200" dirty="0" smtClean="0"/>
              <a:t>Information also becomes </a:t>
            </a:r>
            <a:r>
              <a:rPr lang="ru-RU" sz="3200" dirty="0" smtClean="0">
                <a:solidFill>
                  <a:srgbClr val="00B050"/>
                </a:solidFill>
              </a:rPr>
              <a:t>difficult to obliterate</a:t>
            </a:r>
            <a:r>
              <a:rPr lang="en-US" sz="3200" dirty="0" smtClean="0">
                <a:solidFill>
                  <a:srgbClr val="00B050"/>
                </a:solidFill>
              </a:rPr>
              <a:t>/destroy</a:t>
            </a:r>
            <a:r>
              <a:rPr lang="ru-RU" sz="3200" dirty="0" smtClean="0">
                <a:solidFill>
                  <a:srgbClr val="00B050"/>
                </a:solidFill>
              </a:rPr>
              <a:t> </a:t>
            </a:r>
            <a:r>
              <a:rPr lang="ru-RU" sz="3200" dirty="0" smtClean="0"/>
              <a:t>and is forever </a:t>
            </a:r>
            <a:r>
              <a:rPr lang="ru-RU" sz="3200" dirty="0" smtClean="0">
                <a:solidFill>
                  <a:srgbClr val="00B050"/>
                </a:solidFill>
              </a:rPr>
              <a:t>archived to increase the institutional memory </a:t>
            </a:r>
            <a:r>
              <a:rPr lang="ru-RU" sz="3200" dirty="0" smtClean="0"/>
              <a:t>of the society.</a:t>
            </a:r>
            <a:endParaRPr lang="en-US" sz="3200" dirty="0" smtClean="0"/>
          </a:p>
          <a:p>
            <a:pPr algn="just"/>
            <a:r>
              <a:rPr lang="en-US" dirty="0" smtClean="0"/>
              <a:t>It may however be noted that all these features described are applicable only to well established democracies with sound systems in place.</a:t>
            </a:r>
          </a:p>
          <a:p>
            <a:pPr algn="just"/>
            <a:r>
              <a:rPr lang="en-US" dirty="0" smtClean="0"/>
              <a:t>This criterion may not be applicable to many developing countries and even some developed countries.</a:t>
            </a:r>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p:cNvPicPr>
            <a:picLocks noGrp="1" noChangeAspect="1" noChangeArrowheads="1"/>
          </p:cNvPicPr>
          <p:nvPr>
            <p:ph idx="1"/>
          </p:nvPr>
        </p:nvPicPr>
        <p:blipFill>
          <a:blip r:embed="rId2"/>
          <a:srcRect/>
          <a:stretch>
            <a:fillRect/>
          </a:stretch>
        </p:blipFill>
        <p:spPr bwMode="auto">
          <a:xfrm>
            <a:off x="952500" y="1447800"/>
            <a:ext cx="7239000" cy="4876800"/>
          </a:xfrm>
          <a:prstGeom prst="rect">
            <a:avLst/>
          </a:prstGeom>
          <a:noFill/>
          <a:ln w="9525">
            <a:noFill/>
            <a:miter lim="800000"/>
            <a:headEnd/>
            <a:tailEnd/>
          </a:ln>
          <a:effectLst/>
        </p:spPr>
      </p:pic>
      <p:sp>
        <p:nvSpPr>
          <p:cNvPr id="3" name="Title 1"/>
          <p:cNvSpPr>
            <a:spLocks noGrp="1"/>
          </p:cNvSpPr>
          <p:nvPr>
            <p:ph type="title"/>
          </p:nvPr>
        </p:nvSpPr>
        <p:spPr>
          <a:xfrm>
            <a:off x="533400" y="228600"/>
            <a:ext cx="8229600" cy="868362"/>
          </a:xfrm>
        </p:spPr>
        <p:txBody>
          <a:bodyPr>
            <a:normAutofit fontScale="90000"/>
          </a:bodyPr>
          <a:lstStyle/>
          <a:p>
            <a:r>
              <a:rPr lang="ru-RU" dirty="0" smtClean="0">
                <a:solidFill>
                  <a:srgbClr val="0070C0"/>
                </a:solidFill>
              </a:rPr>
              <a:t>Towards Good Governance Through E-Governance Models</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ru-RU" dirty="0">
                <a:solidFill>
                  <a:srgbClr val="0070C0"/>
                </a:solidFill>
              </a:rPr>
              <a:t>Towards Good Governance Through E-Governance Models</a:t>
            </a:r>
            <a:endParaRPr lang="en-US" dirty="0"/>
          </a:p>
        </p:txBody>
      </p:sp>
      <p:sp>
        <p:nvSpPr>
          <p:cNvPr id="3" name="Content Placeholder 2"/>
          <p:cNvSpPr>
            <a:spLocks noGrp="1"/>
          </p:cNvSpPr>
          <p:nvPr>
            <p:ph idx="1"/>
          </p:nvPr>
        </p:nvSpPr>
        <p:spPr>
          <a:xfrm>
            <a:off x="381000" y="1371600"/>
            <a:ext cx="8229600" cy="4525963"/>
          </a:xfrm>
        </p:spPr>
        <p:txBody>
          <a:bodyPr>
            <a:normAutofit fontScale="70000" lnSpcReduction="20000"/>
          </a:bodyPr>
          <a:lstStyle/>
          <a:p>
            <a:pPr algn="just"/>
            <a:r>
              <a:rPr lang="en-US" dirty="0" smtClean="0"/>
              <a:t>As seen from the comparison chart, the </a:t>
            </a:r>
            <a:r>
              <a:rPr lang="en-US" dirty="0" smtClean="0">
                <a:solidFill>
                  <a:srgbClr val="00B050"/>
                </a:solidFill>
              </a:rPr>
              <a:t>involvement of people in ICT enabled governance mechanisms is significantly different in comparison to traditional forms of governance.</a:t>
            </a:r>
          </a:p>
          <a:p>
            <a:pPr algn="just"/>
            <a:r>
              <a:rPr lang="en-US" dirty="0" smtClean="0"/>
              <a:t>The mode of governance transforms from ‘</a:t>
            </a:r>
            <a:r>
              <a:rPr lang="en-US" dirty="0" smtClean="0">
                <a:solidFill>
                  <a:srgbClr val="FF0000"/>
                </a:solidFill>
              </a:rPr>
              <a:t>representative’ to ‘individual’ based </a:t>
            </a:r>
            <a:r>
              <a:rPr lang="en-US" dirty="0" smtClean="0"/>
              <a:t>and from </a:t>
            </a:r>
            <a:r>
              <a:rPr lang="en-US" dirty="0" smtClean="0">
                <a:solidFill>
                  <a:srgbClr val="FF0000"/>
                </a:solidFill>
              </a:rPr>
              <a:t>‘passive’ to ‘proactive’.</a:t>
            </a:r>
          </a:p>
          <a:p>
            <a:pPr algn="just"/>
            <a:r>
              <a:rPr lang="en-US" dirty="0" smtClean="0"/>
              <a:t>People are </a:t>
            </a:r>
            <a:r>
              <a:rPr lang="en-US" dirty="0" smtClean="0">
                <a:solidFill>
                  <a:srgbClr val="00B050"/>
                </a:solidFill>
              </a:rPr>
              <a:t>no longer totally dependent on information provided to them by their leaders or policy makers</a:t>
            </a:r>
            <a:r>
              <a:rPr lang="en-US" dirty="0" smtClean="0"/>
              <a:t> through conventional media to form an opinion about the issue.</a:t>
            </a:r>
          </a:p>
          <a:p>
            <a:pPr algn="just"/>
            <a:r>
              <a:rPr lang="en-US" dirty="0" smtClean="0"/>
              <a:t>They are </a:t>
            </a:r>
            <a:r>
              <a:rPr lang="en-US" dirty="0" smtClean="0">
                <a:solidFill>
                  <a:srgbClr val="FF0000"/>
                </a:solidFill>
              </a:rPr>
              <a:t>able to capitalize on different sources of information </a:t>
            </a:r>
            <a:r>
              <a:rPr lang="en-US" dirty="0" smtClean="0"/>
              <a:t>and can proactively enter into a dialogue with decision makers on issues of interest to them.</a:t>
            </a:r>
          </a:p>
          <a:p>
            <a:pPr algn="just"/>
            <a:r>
              <a:rPr lang="en-US" dirty="0" smtClean="0"/>
              <a:t>Since ICT-enabled governance models can directly connect individuals with officials in the government and decision makers, </a:t>
            </a:r>
            <a:r>
              <a:rPr lang="en-US" dirty="0" smtClean="0">
                <a:solidFill>
                  <a:srgbClr val="FF0000"/>
                </a:solidFill>
              </a:rPr>
              <a:t>the impact is immediate</a:t>
            </a:r>
            <a:r>
              <a:rPr lang="en-US" dirty="0" smtClean="0"/>
              <a:t>, and puts greater access and control over governance mechanism in the hands of individuals.</a:t>
            </a:r>
            <a:endParaRPr lang="en-US" dirty="0"/>
          </a:p>
        </p:txBody>
      </p:sp>
    </p:spTree>
    <p:extLst>
      <p:ext uri="{BB962C8B-B14F-4D97-AF65-F5344CB8AC3E}">
        <p14:creationId xmlns:p14="http://schemas.microsoft.com/office/powerpoint/2010/main" val="31259853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228600"/>
            <a:ext cx="8763000" cy="762000"/>
          </a:xfrm>
        </p:spPr>
        <p:txBody>
          <a:bodyPr>
            <a:normAutofit fontScale="90000"/>
          </a:bodyPr>
          <a:lstStyle/>
          <a:p>
            <a:r>
              <a:rPr lang="ru-RU" dirty="0">
                <a:solidFill>
                  <a:srgbClr val="0070C0"/>
                </a:solidFill>
              </a:rPr>
              <a:t>Towards Good Governance Through E-Governance Models</a:t>
            </a:r>
            <a:endParaRPr lang="en-US" dirty="0"/>
          </a:p>
        </p:txBody>
      </p:sp>
      <p:sp>
        <p:nvSpPr>
          <p:cNvPr id="3" name="Content Placeholder 2"/>
          <p:cNvSpPr>
            <a:spLocks noGrp="1"/>
          </p:cNvSpPr>
          <p:nvPr>
            <p:ph idx="1"/>
          </p:nvPr>
        </p:nvSpPr>
        <p:spPr>
          <a:xfrm>
            <a:off x="457200" y="1143000"/>
            <a:ext cx="8496300" cy="5410200"/>
          </a:xfrm>
        </p:spPr>
        <p:txBody>
          <a:bodyPr>
            <a:normAutofit fontScale="25000" lnSpcReduction="20000"/>
          </a:bodyPr>
          <a:lstStyle/>
          <a:p>
            <a:pPr algn="just"/>
            <a:r>
              <a:rPr lang="en-US" sz="8000" dirty="0" smtClean="0">
                <a:solidFill>
                  <a:srgbClr val="FF0000"/>
                </a:solidFill>
              </a:rPr>
              <a:t>Spaces therefore get created within the existing governance mechanisms </a:t>
            </a:r>
            <a:r>
              <a:rPr lang="en-US" sz="8000" dirty="0" smtClean="0"/>
              <a:t>that would be democratically informed by citizen’s voice. This process makes the government more responsible and accountable to its citizens.</a:t>
            </a:r>
          </a:p>
          <a:p>
            <a:pPr algn="just"/>
            <a:r>
              <a:rPr lang="en-US" sz="8000" dirty="0" smtClean="0"/>
              <a:t>Digital governance models bring with them the </a:t>
            </a:r>
            <a:r>
              <a:rPr lang="en-US" sz="8000" dirty="0" smtClean="0">
                <a:solidFill>
                  <a:srgbClr val="00B050"/>
                </a:solidFill>
              </a:rPr>
              <a:t>potential to bring in far-reaching changes in governance structures in developing countries.</a:t>
            </a:r>
          </a:p>
          <a:p>
            <a:pPr lvl="1" algn="just">
              <a:buFont typeface="Wingdings" panose="05000000000000000000" pitchFamily="2" charset="2"/>
              <a:buChar char="ü"/>
            </a:pPr>
            <a:r>
              <a:rPr lang="en-US" sz="7600" dirty="0" smtClean="0"/>
              <a:t>The approach to it however has to be cautious and well throughout.</a:t>
            </a:r>
          </a:p>
          <a:p>
            <a:pPr algn="just"/>
            <a:r>
              <a:rPr lang="en-US" sz="8000" dirty="0" smtClean="0"/>
              <a:t>Simple replication of popular e-governance models of the developed world in the developing world will </a:t>
            </a:r>
            <a:r>
              <a:rPr lang="en-US" sz="8000" dirty="0" smtClean="0">
                <a:solidFill>
                  <a:srgbClr val="00B050"/>
                </a:solidFill>
              </a:rPr>
              <a:t>not be effective and may end up marginalizing who are on the wrong side of the digital divide.</a:t>
            </a:r>
          </a:p>
          <a:p>
            <a:pPr algn="just"/>
            <a:r>
              <a:rPr lang="en-US" sz="8000" dirty="0" smtClean="0">
                <a:solidFill>
                  <a:srgbClr val="00B050"/>
                </a:solidFill>
              </a:rPr>
              <a:t>Local needs and priorities</a:t>
            </a:r>
            <a:r>
              <a:rPr lang="en-US" sz="8000" dirty="0" smtClean="0"/>
              <a:t> should guide the selection and nature of implementation of e-governance models in an evolutionary manner.</a:t>
            </a:r>
          </a:p>
          <a:p>
            <a:pPr algn="just"/>
            <a:r>
              <a:rPr lang="en-US" sz="8000" dirty="0" smtClean="0"/>
              <a:t>Creativity lies in the </a:t>
            </a:r>
            <a:r>
              <a:rPr lang="en-US" sz="8000" dirty="0" smtClean="0">
                <a:solidFill>
                  <a:srgbClr val="00B050"/>
                </a:solidFill>
              </a:rPr>
              <a:t>use of information and blending it with the potential offered by ICT to create customized low cost digital governance models.</a:t>
            </a:r>
          </a:p>
          <a:p>
            <a:pPr algn="just"/>
            <a:r>
              <a:rPr lang="en-US" sz="8000" dirty="0" smtClean="0"/>
              <a:t>Solutions may often emerge by analysis of </a:t>
            </a:r>
            <a:r>
              <a:rPr lang="en-US" sz="8000" dirty="0" smtClean="0">
                <a:solidFill>
                  <a:srgbClr val="FF0000"/>
                </a:solidFill>
              </a:rPr>
              <a:t>reasons behind governance failures by the people themselves and then imaginatively using digital governance models to focus on the weakest spot to bring gradual improvements in governance.</a:t>
            </a:r>
          </a:p>
          <a:p>
            <a:pPr algn="just"/>
            <a:r>
              <a:rPr lang="en-US" sz="8000" dirty="0" smtClean="0"/>
              <a:t>Small successes are significant landmark in the path of transformation to good governance.</a:t>
            </a:r>
          </a:p>
          <a:p>
            <a:endParaRPr lang="en-US" dirty="0"/>
          </a:p>
        </p:txBody>
      </p:sp>
    </p:spTree>
    <p:extLst>
      <p:ext uri="{BB962C8B-B14F-4D97-AF65-F5344CB8AC3E}">
        <p14:creationId xmlns:p14="http://schemas.microsoft.com/office/powerpoint/2010/main" val="21843446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8229600" cy="4525963"/>
          </a:xfrm>
        </p:spPr>
        <p:txBody>
          <a:bodyPr>
            <a:normAutofit/>
          </a:bodyPr>
          <a:lstStyle/>
          <a:p>
            <a:pPr algn="ctr">
              <a:buNone/>
            </a:pPr>
            <a:endParaRPr lang="en-US" sz="8800" dirty="0" smtClean="0"/>
          </a:p>
          <a:p>
            <a:pPr algn="ctr">
              <a:buNone/>
            </a:pPr>
            <a:r>
              <a:rPr lang="en-US" sz="8800" dirty="0" smtClean="0"/>
              <a:t>THANK YOU</a:t>
            </a:r>
            <a:endParaRPr lang="en-US" sz="8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6344</TotalTime>
  <Words>6084</Words>
  <Application>Microsoft Office PowerPoint</Application>
  <PresentationFormat>On-screen Show (4:3)</PresentationFormat>
  <Paragraphs>501</Paragraphs>
  <Slides>76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76</vt:i4>
      </vt:variant>
    </vt:vector>
  </HeadingPairs>
  <TitlesOfParts>
    <vt:vector size="83" baseType="lpstr">
      <vt:lpstr>Arial</vt:lpstr>
      <vt:lpstr>Calibri</vt:lpstr>
      <vt:lpstr>Courier New</vt:lpstr>
      <vt:lpstr>RLBHGC+FuturaBT-Light</vt:lpstr>
      <vt:lpstr>Times New Roman</vt:lpstr>
      <vt:lpstr>Wingdings</vt:lpstr>
      <vt:lpstr>Office Theme</vt:lpstr>
      <vt:lpstr>Unit 2 Models of E Governance</vt:lpstr>
      <vt:lpstr> Models of Digital Governance </vt:lpstr>
      <vt:lpstr> Models of Digital Governance </vt:lpstr>
      <vt:lpstr>Models of Digital Governance In Developing Countries</vt:lpstr>
      <vt:lpstr> Broadcasting/Wider Disseminating Model </vt:lpstr>
      <vt:lpstr>Broadcasting/Wider Disseminating Model</vt:lpstr>
      <vt:lpstr> Broadcasting/Wider Disseminating Model </vt:lpstr>
      <vt:lpstr>  Broadcasting/Wider Dissemination Model </vt:lpstr>
      <vt:lpstr>Broadcasting/Wider Dissemination Model</vt:lpstr>
      <vt:lpstr>Broadcasting/Wider Dissemination Model</vt:lpstr>
      <vt:lpstr>Broadcasting/Wider Dissemination Model</vt:lpstr>
      <vt:lpstr> Organizations / Projects based on the Wider Model  </vt:lpstr>
      <vt:lpstr>Organizations / Projects based on the Wider Model</vt:lpstr>
      <vt:lpstr>Organizations / Projects based on the Wider Model</vt:lpstr>
      <vt:lpstr>Critical Flow Model</vt:lpstr>
      <vt:lpstr>Critical Flow Model</vt:lpstr>
      <vt:lpstr> Critical Flow Model </vt:lpstr>
      <vt:lpstr>Critical Flow Model</vt:lpstr>
      <vt:lpstr>Critical Flow Model</vt:lpstr>
      <vt:lpstr>Critical Flow Model</vt:lpstr>
      <vt:lpstr>Critical Flow Model</vt:lpstr>
      <vt:lpstr> Organizations / Projects based on Critical Flow Model </vt:lpstr>
      <vt:lpstr> Organizations / Projects based on Critical Flow Model </vt:lpstr>
      <vt:lpstr>Comparative Analysis Model</vt:lpstr>
      <vt:lpstr> Comparative Analysis Model </vt:lpstr>
      <vt:lpstr> Comparative Analysis Model </vt:lpstr>
      <vt:lpstr>Comparative Analysis Model</vt:lpstr>
      <vt:lpstr>Comparative Analysis Model</vt:lpstr>
      <vt:lpstr>Comparative Analysis Model</vt:lpstr>
      <vt:lpstr>Organizations / Projects based on Comparative Analysis Model</vt:lpstr>
      <vt:lpstr>Organizations / Projects based on Comparative Analysis Model</vt:lpstr>
      <vt:lpstr>Organizations / Projects based on Comparative Analysis Model</vt:lpstr>
      <vt:lpstr>Mobilisation and Lobbying Model</vt:lpstr>
      <vt:lpstr>Mobilisation and Lobbying Model </vt:lpstr>
      <vt:lpstr> Mobilization  and Lobbying Model  </vt:lpstr>
      <vt:lpstr>Mobilization  and Lobbying Model</vt:lpstr>
      <vt:lpstr>Mobilization  and Lobbying Model</vt:lpstr>
      <vt:lpstr>Mobilization  and Lobbying Model</vt:lpstr>
      <vt:lpstr>Organizations / Projects based on Mobilization and Lobbying Model </vt:lpstr>
      <vt:lpstr>Organizations / Projects based on Mobilization and Lobbying Model </vt:lpstr>
      <vt:lpstr>Interactive-Service Model / Government to  Citizen to Government Model (G2C2G) </vt:lpstr>
      <vt:lpstr>Interactive-Service Model / Government to  Citizen to Government Model (G2C2G) </vt:lpstr>
      <vt:lpstr> Interactive-Service Model / G2C2G  </vt:lpstr>
      <vt:lpstr> Interactive-Service Model / G2C2G  </vt:lpstr>
      <vt:lpstr> Interactive-Service Model / G2C2G  </vt:lpstr>
      <vt:lpstr>Interactive-Service Model / G2C2G </vt:lpstr>
      <vt:lpstr>Interactive-Service Model / G2C2G</vt:lpstr>
      <vt:lpstr>Interactive-Service Model / G2C2G</vt:lpstr>
      <vt:lpstr> Organizations / Projects based on Interactive- Service Model / G2C2G  </vt:lpstr>
      <vt:lpstr>Evolution of E-Governance and Maturity Model</vt:lpstr>
      <vt:lpstr>Evolution of E-Governance and Maturity Model</vt:lpstr>
      <vt:lpstr>Maturity Model</vt:lpstr>
      <vt:lpstr> E-Governance Maturity Models (EMM) </vt:lpstr>
      <vt:lpstr> Five Maturity Levels </vt:lpstr>
      <vt:lpstr> Five Maturity Levels </vt:lpstr>
      <vt:lpstr> LEVEL 1: Closed </vt:lpstr>
      <vt:lpstr> LEVEL 2: Initial </vt:lpstr>
      <vt:lpstr> LEVEL 3: Planned </vt:lpstr>
      <vt:lpstr> LEVEL 4: Realized </vt:lpstr>
      <vt:lpstr> LEVEL 4: Realized (Contd…) </vt:lpstr>
      <vt:lpstr> LEVEL 5: Institutionalized  </vt:lpstr>
      <vt:lpstr> LEVEL 5: Institutionalized (Contd..) </vt:lpstr>
      <vt:lpstr> Characteristics of Maturity Levels </vt:lpstr>
      <vt:lpstr> Characteristics of Maturity Levels  </vt:lpstr>
      <vt:lpstr> Characteristics of Maturity Levels  </vt:lpstr>
      <vt:lpstr>Characteristics of Maturity Levels </vt:lpstr>
      <vt:lpstr>Characteristics of Maturity Levels </vt:lpstr>
      <vt:lpstr> Towards Good Governance Through E-Governance Models </vt:lpstr>
      <vt:lpstr> Towards Good Governance Through E-Governance Models </vt:lpstr>
      <vt:lpstr>Towards Good Governance Through E-Governance Models</vt:lpstr>
      <vt:lpstr> Towards Good Governance Through E-Governance Models </vt:lpstr>
      <vt:lpstr>Towards Good Governance Through E-Governance Models</vt:lpstr>
      <vt:lpstr>Towards Good Governance Through E-Governance Models</vt:lpstr>
      <vt:lpstr>Towards Good Governance Through E-Governance Models</vt:lpstr>
      <vt:lpstr>Towards Good Governance Through E-Governance Models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E Governance Models </dc:title>
  <dc:creator>SACHIT</dc:creator>
  <cp:lastModifiedBy>acer</cp:lastModifiedBy>
  <cp:revision>470</cp:revision>
  <dcterms:created xsi:type="dcterms:W3CDTF">2006-08-16T00:00:00Z</dcterms:created>
  <dcterms:modified xsi:type="dcterms:W3CDTF">2025-07-11T08:43:58Z</dcterms:modified>
</cp:coreProperties>
</file>