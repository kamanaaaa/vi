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1" r:id="rId9"/>
    <p:sldId id="292" r:id="rId10"/>
    <p:sldId id="293" r:id="rId11"/>
    <p:sldId id="294" r:id="rId12"/>
    <p:sldId id="295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41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56B8-79EC-238B-A809-6D045ECB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0D82C-03F5-B9D4-EAC5-A9AB718AB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8C446-8646-3946-E56B-4EDEA33D2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5B366-FE74-0B21-9B61-30B175007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12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6393-3972-54DB-5AD9-96B0860F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BEE2-371D-22FA-45EC-F4B95F45E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10D0-AEBB-6716-363B-5A9A9012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5C776-052E-1CB5-0C5F-94A784D13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3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A428-9CC9-F0E4-50FB-1EB3E754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C95CB-AC8C-23F4-A5A6-C8D156BBD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82F21-D494-F4DC-025A-4EE6739F0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FED3E-0E05-581A-DA02-9CB9A9E82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FE1A-DEE1-59B4-6C97-4889BF20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2EF91-3E62-04D9-1EA9-783F4139F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4DC11-A320-E2BA-36D4-B97D7B66D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146E2-C233-F0A6-0B86-E49D29EC1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31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2DBA5-A43C-012A-AFCB-9E7F1767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1001C-A921-E9B5-BDCF-63803B178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2113D-267B-CD2F-B421-12A9520AC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A384-7837-0E71-6305-FEC79BA57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33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2140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323490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99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31012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Writing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920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61488" y="4892040"/>
            <a:ext cx="1452067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4892040"/>
            <a:ext cx="1452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14723" y="4892040"/>
            <a:ext cx="1452067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14723" y="4892040"/>
            <a:ext cx="145206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67958" y="4892040"/>
            <a:ext cx="1356970" cy="42062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67958" y="4892040"/>
            <a:ext cx="13569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essage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099548" y="530352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99548" y="530352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is a planned oral communication delivered to an audience.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inform, explain, persuade, or demonstrate.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presentations combine clear content, organization, delivery, and visual support.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technical writing, presentations help communicate technical information clearly and efficiently.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9458" name="Picture 2" descr="5 tips to turn your presentation from good to great - contentgroup">
            <a:extLst>
              <a:ext uri="{FF2B5EF4-FFF2-40B4-BE49-F238E27FC236}">
                <a16:creationId xmlns:a16="http://schemas.microsoft.com/office/drawing/2014/main" id="{E39D851C-0C97-8F91-E535-2DD00068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436" y="3546083"/>
            <a:ext cx="3722604" cy="27861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on a Presentation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099548" y="530352"/>
            <a:ext cx="1513332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099548" y="530352"/>
            <a:ext cx="15133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readers or listeners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will receive the message.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their knowledge, interests, needs, and expectations.</a:t>
            </a:r>
            <a:endParaRPr lang="en-US" sz="14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26A924-2AB7-0A41-62D3-79C56FBBFA0F}"/>
              </a:ext>
            </a:extLst>
          </p:cNvPr>
          <p:cNvGrpSpPr/>
          <p:nvPr/>
        </p:nvGrpSpPr>
        <p:grpSpPr>
          <a:xfrm>
            <a:off x="822960" y="3511296"/>
            <a:ext cx="5029200" cy="2263140"/>
            <a:chOff x="6309360" y="1600200"/>
            <a:chExt cx="5029200" cy="2263140"/>
          </a:xfrm>
        </p:grpSpPr>
        <p:sp>
          <p:nvSpPr>
            <p:cNvPr id="10" name="Text 7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Writer's focus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309360" y="2011680"/>
              <a:ext cx="5029200" cy="1851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the purpose and main message.</a:t>
              </a:r>
              <a:endParaRPr lang="en-US" sz="1450" dirty="0"/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information appropriate for the audience.</a:t>
              </a:r>
              <a:endParaRPr lang="en-US" sz="1450" dirty="0"/>
            </a:p>
            <a:p>
              <a:pPr marL="228600" indent="-228600">
                <a:spcAft>
                  <a:spcPts val="1200"/>
                </a:spcAft>
                <a:buSzPct val="100000"/>
                <a:buChar char="•"/>
              </a:pPr>
              <a:r>
                <a:rPr lang="en-US" sz="14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Focus on clarity, accuracy, relevance, and audience understanding.</a:t>
              </a:r>
              <a:endParaRPr lang="en-US" sz="145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1506" name="Picture 2" descr="What is Focus Problem and How Can It Be Solved? | Anadolu Sağlık Merkezi">
            <a:extLst>
              <a:ext uri="{FF2B5EF4-FFF2-40B4-BE49-F238E27FC236}">
                <a16:creationId xmlns:a16="http://schemas.microsoft.com/office/drawing/2014/main" id="{88CDE1EB-B7D2-0892-CF06-63AD9954C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2" y="1772983"/>
            <a:ext cx="5210175" cy="34766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is the process of deciding what information will be presented and how it will be presented.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analyzing the audience, selecting the topic, choosing visual aids, considering the location, and managing time.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planning reduces confusion and helps the speaker stay focused.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makes the presentation more organized and effective.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Audience and Topic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determines the type and level of information included in a presentation.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listeners? What do they already know?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need or expect from the presentation?</a:t>
            </a:r>
            <a:endParaRPr lang="en-US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87193FB-9E08-B4EC-FAD9-C0490CB849F4}"/>
              </a:ext>
            </a:extLst>
          </p:cNvPr>
          <p:cNvGrpSpPr/>
          <p:nvPr/>
        </p:nvGrpSpPr>
        <p:grpSpPr>
          <a:xfrm>
            <a:off x="6362702" y="4628769"/>
            <a:ext cx="5029200" cy="2007870"/>
            <a:chOff x="6309360" y="1600200"/>
            <a:chExt cx="5029200" cy="2007870"/>
          </a:xfrm>
        </p:grpSpPr>
        <p:sp>
          <p:nvSpPr>
            <p:cNvPr id="10" name="Text 7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Topic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309360" y="2011680"/>
              <a:ext cx="5029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1000"/>
                </a:spcAft>
                <a:buNone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topic should be clearly defined so that the presentation does not become too broad.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309360" y="2697480"/>
              <a:ext cx="5029200" cy="9105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the scope and purpose of the topic.</a:t>
              </a:r>
              <a:endParaRPr lang="en-US" sz="1400" dirty="0"/>
            </a:p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information that directly supports the purpose.</a:t>
              </a:r>
              <a:endParaRPr lang="en-US" sz="14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0482" name="Picture 2" descr="What is a Target Audience? - Smartpedia - t2informatik">
            <a:extLst>
              <a:ext uri="{FF2B5EF4-FFF2-40B4-BE49-F238E27FC236}">
                <a16:creationId xmlns:a16="http://schemas.microsoft.com/office/drawing/2014/main" id="{E9AE3E46-8BE0-4393-DEBC-8ED90B8F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906" y="1426465"/>
            <a:ext cx="4932996" cy="292989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How to Select Good Topics for Research | Exeed College">
            <a:extLst>
              <a:ext uri="{FF2B5EF4-FFF2-40B4-BE49-F238E27FC236}">
                <a16:creationId xmlns:a16="http://schemas.microsoft.com/office/drawing/2014/main" id="{9B41DAE3-7E6C-6A9E-2ABF-204525CCD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 r="13821" b="6184"/>
          <a:stretch>
            <a:fillRect/>
          </a:stretch>
        </p:blipFill>
        <p:spPr bwMode="auto">
          <a:xfrm>
            <a:off x="304800" y="3615252"/>
            <a:ext cx="5791200" cy="291089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aids are visual materials used to support and explain information.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include charts, graphs, tables, diagrams, photographs, and illustrations.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make complex information easier to understand and remember.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choosing what to illustrate: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 information that is difficult to explain with words alone.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visuals for comparisons, processes, relationships, trends, and complex data.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visuals that improve understanding—not decoration.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D90428-EB3D-22B4-C9CA-6B370BF95B81}"/>
              </a:ext>
            </a:extLst>
          </p:cNvPr>
          <p:cNvGrpSpPr/>
          <p:nvPr/>
        </p:nvGrpSpPr>
        <p:grpSpPr>
          <a:xfrm>
            <a:off x="822960" y="1691640"/>
            <a:ext cx="3291840" cy="1965960"/>
            <a:chOff x="82296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Shape 5"/>
            <p:cNvSpPr/>
            <p:nvPr/>
          </p:nvSpPr>
          <p:spPr>
            <a:xfrm>
              <a:off x="82296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9" name="Shape 6"/>
            <p:cNvSpPr/>
            <p:nvPr/>
          </p:nvSpPr>
          <p:spPr>
            <a:xfrm>
              <a:off x="107899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10" name="Image 1" descr="/home/claude/icons/bar_char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6393" y="2095073"/>
              <a:ext cx="272125" cy="272125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107899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Charts</a:t>
              </a:r>
              <a:endParaRPr lang="en-US" sz="15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107899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comparisons or relationships</a:t>
              </a:r>
              <a:endParaRPr lang="en-US" sz="1400" dirty="0"/>
            </a:p>
          </p:txBody>
        </p:sp>
      </p:grpSp>
      <p:sp>
        <p:nvSpPr>
          <p:cNvPr id="38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811FA1E-BDED-14FF-C267-29A756E6FF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16" b="6666"/>
          <a:stretch>
            <a:fillRect/>
          </a:stretch>
        </p:blipFill>
        <p:spPr>
          <a:xfrm>
            <a:off x="4370833" y="1298448"/>
            <a:ext cx="7242048" cy="5363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6F7FE-4249-C219-EC7D-E3DE492F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90B313-A1AA-B3C4-F1A0-526AEE5B09F4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EF44D4E3-10DA-195C-16C3-34C94774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A569F0B-E003-49DE-9FCC-BE0B2713104B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FF4EDB7-8760-BAAC-29FE-C2B0DF9C75A1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9CC4B86-3F4E-950E-CD60-8910787E0175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2473B6-C22B-94D2-AA66-2D1F512A4552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B001A7-93F2-0E28-E839-D7A1B0D92895}"/>
              </a:ext>
            </a:extLst>
          </p:cNvPr>
          <p:cNvGrpSpPr/>
          <p:nvPr/>
        </p:nvGrpSpPr>
        <p:grpSpPr>
          <a:xfrm>
            <a:off x="566928" y="1649878"/>
            <a:ext cx="3291840" cy="1965960"/>
            <a:chOff x="443484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C64715E-6472-FF81-18E7-04BBB99FB11D}"/>
                </a:ext>
              </a:extLst>
            </p:cNvPr>
            <p:cNvSpPr/>
            <p:nvPr/>
          </p:nvSpPr>
          <p:spPr>
            <a:xfrm>
              <a:off x="443484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228C3E96-559D-7D28-F742-4B7E070D23DD}"/>
                </a:ext>
              </a:extLst>
            </p:cNvPr>
            <p:cNvSpPr/>
            <p:nvPr/>
          </p:nvSpPr>
          <p:spPr>
            <a:xfrm>
              <a:off x="469087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15" name="Image 2" descr="/home/claude/icons/trending_up.png">
              <a:extLst>
                <a:ext uri="{FF2B5EF4-FFF2-40B4-BE49-F238E27FC236}">
                  <a16:creationId xmlns:a16="http://schemas.microsoft.com/office/drawing/2014/main" id="{815A3BB7-DE61-302B-7BE9-D518E85F6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8273" y="2095073"/>
              <a:ext cx="272125" cy="272125"/>
            </a:xfrm>
            <a:prstGeom prst="rect">
              <a:avLst/>
            </a:prstGeom>
          </p:spPr>
        </p:pic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79FFED04-E86C-B4EC-B2E6-8B79BF97B5B5}"/>
                </a:ext>
              </a:extLst>
            </p:cNvPr>
            <p:cNvSpPr/>
            <p:nvPr/>
          </p:nvSpPr>
          <p:spPr>
            <a:xfrm>
              <a:off x="469087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Graphs</a:t>
              </a:r>
              <a:endParaRPr lang="en-US" sz="1500" dirty="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2123709D-A0FD-A411-5513-68FE213BC653}"/>
                </a:ext>
              </a:extLst>
            </p:cNvPr>
            <p:cNvSpPr/>
            <p:nvPr/>
          </p:nvSpPr>
          <p:spPr>
            <a:xfrm>
              <a:off x="469087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trends and numerical data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9F5C7BD3-E1EE-EEDB-3032-2DB69BB97A5F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4AAD630-EE62-5841-8CDE-A50657513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29" y="1298448"/>
            <a:ext cx="6752851" cy="54842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44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5B79E-403C-5AE6-182E-75F4D90AE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E47C1D-3030-09BD-9673-29FFC0D5C99D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8146C7F8-C635-6D61-6921-A9E94507F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A03AE73-BCFB-4FD0-10F2-AD845C800B4F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325FAA8-99E4-1131-A50E-3A0F77A918EC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0C7B1D-01BB-D2F9-EA14-AAA29E25A26A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8FDBDBE-6317-70DB-4135-5E1156E04BB8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770A03-6D3F-C75D-BA1A-2896DFD4DA41}"/>
              </a:ext>
            </a:extLst>
          </p:cNvPr>
          <p:cNvGrpSpPr/>
          <p:nvPr/>
        </p:nvGrpSpPr>
        <p:grpSpPr>
          <a:xfrm>
            <a:off x="548640" y="1600200"/>
            <a:ext cx="3035808" cy="1965960"/>
            <a:chOff x="8046720" y="1691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508B1E3A-3437-AC31-35A0-FA5E04AB83CC}"/>
                </a:ext>
              </a:extLst>
            </p:cNvPr>
            <p:cNvSpPr/>
            <p:nvPr/>
          </p:nvSpPr>
          <p:spPr>
            <a:xfrm>
              <a:off x="8046720" y="1691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24D791F8-9F15-7FBC-5CA7-C5DA187E045B}"/>
                </a:ext>
              </a:extLst>
            </p:cNvPr>
            <p:cNvSpPr/>
            <p:nvPr/>
          </p:nvSpPr>
          <p:spPr>
            <a:xfrm>
              <a:off x="8302752" y="1947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20" name="Image 3" descr="/home/claude/icons/git_branch.png">
              <a:extLst>
                <a:ext uri="{FF2B5EF4-FFF2-40B4-BE49-F238E27FC236}">
                  <a16:creationId xmlns:a16="http://schemas.microsoft.com/office/drawing/2014/main" id="{A4E0C2A0-F3E7-44AC-ED94-104F6A657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0153" y="2095073"/>
              <a:ext cx="272125" cy="272125"/>
            </a:xfrm>
            <a:prstGeom prst="rect">
              <a:avLst/>
            </a:prstGeom>
          </p:spPr>
        </p:pic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29BC12B4-0B19-B254-6CE1-595AB1FEA3F1}"/>
                </a:ext>
              </a:extLst>
            </p:cNvPr>
            <p:cNvSpPr/>
            <p:nvPr/>
          </p:nvSpPr>
          <p:spPr>
            <a:xfrm>
              <a:off x="8302752" y="2651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Diagrams</a:t>
              </a:r>
              <a:endParaRPr lang="en-US" sz="15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D001FDC5-D6B1-10E8-181A-832222C31B38}"/>
                </a:ext>
              </a:extLst>
            </p:cNvPr>
            <p:cNvSpPr/>
            <p:nvPr/>
          </p:nvSpPr>
          <p:spPr>
            <a:xfrm>
              <a:off x="8302752" y="3108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explain structures or processes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30BFE4CF-744C-2CC1-9852-7FFCCF1FEEF9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661B1A-85D1-206C-1A0C-94EBB20B67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45"/>
          <a:stretch>
            <a:fillRect/>
          </a:stretch>
        </p:blipFill>
        <p:spPr>
          <a:xfrm>
            <a:off x="3749040" y="957926"/>
            <a:ext cx="8297241" cy="551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5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9959-4A26-F6B9-30ED-51A6546B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108924-4869-F12D-A1CD-F1D9F007A4CF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7295DF73-90B7-6804-9858-75E2497F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7A0D7A6-5566-D734-A122-8746A8829C24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03A767B-B270-65AC-468B-D0A8BABE6EC8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06DB27-3231-2A1C-F756-A9550B8E3473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8E4BAA6-2E1A-5344-C110-E003EE5C074D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F692E4-085A-0305-2613-5C916F5E877C}"/>
              </a:ext>
            </a:extLst>
          </p:cNvPr>
          <p:cNvGrpSpPr/>
          <p:nvPr/>
        </p:nvGrpSpPr>
        <p:grpSpPr>
          <a:xfrm>
            <a:off x="696041" y="1533054"/>
            <a:ext cx="3291840" cy="1965960"/>
            <a:chOff x="82296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AA8EA399-3570-5C30-0D7A-FF7D3E0F319F}"/>
                </a:ext>
              </a:extLst>
            </p:cNvPr>
            <p:cNvSpPr/>
            <p:nvPr/>
          </p:nvSpPr>
          <p:spPr>
            <a:xfrm>
              <a:off x="82296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C734692C-6993-102B-CCBD-C013636FB7FF}"/>
                </a:ext>
              </a:extLst>
            </p:cNvPr>
            <p:cNvSpPr/>
            <p:nvPr/>
          </p:nvSpPr>
          <p:spPr>
            <a:xfrm>
              <a:off x="107899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25" name="Image 4" descr="/home/claude/icons/layers.png">
              <a:extLst>
                <a:ext uri="{FF2B5EF4-FFF2-40B4-BE49-F238E27FC236}">
                  <a16:creationId xmlns:a16="http://schemas.microsoft.com/office/drawing/2014/main" id="{FB83C911-F554-77D2-626B-B2E244B76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6393" y="4381073"/>
              <a:ext cx="272125" cy="272125"/>
            </a:xfrm>
            <a:prstGeom prst="rect">
              <a:avLst/>
            </a:prstGeom>
          </p:spPr>
        </p:pic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41A9C80B-AE22-8EAB-7C08-72EADA5B88EA}"/>
                </a:ext>
              </a:extLst>
            </p:cNvPr>
            <p:cNvSpPr/>
            <p:nvPr/>
          </p:nvSpPr>
          <p:spPr>
            <a:xfrm>
              <a:off x="107899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Tables</a:t>
              </a:r>
              <a:endParaRPr lang="en-US" sz="15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6B773AD8-F37A-F1D0-7F1B-2E32CD82B1BD}"/>
                </a:ext>
              </a:extLst>
            </p:cNvPr>
            <p:cNvSpPr/>
            <p:nvPr/>
          </p:nvSpPr>
          <p:spPr>
            <a:xfrm>
              <a:off x="107899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organize detailed information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CDEEA554-6D73-78C7-8942-5C22BAE8574E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25FFDF-EFA7-2EF6-3C3F-2673A66A23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86"/>
          <a:stretch>
            <a:fillRect/>
          </a:stretch>
        </p:blipFill>
        <p:spPr>
          <a:xfrm>
            <a:off x="4042472" y="1147574"/>
            <a:ext cx="8092439" cy="53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9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3C992-E318-CF1A-5139-157F00B1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4B9CF-766C-E3B3-7277-7B58F2CE3802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3725B002-F07A-FB77-C777-A0D28AC20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6AE0B5-E327-7604-FD2F-D62D6D0B21A8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7D34EE5-C8C1-7AF4-7A0F-FBF727237B39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9B88AD9-37C6-E5B0-60EC-016719CC1F36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CB3E60-DB6C-BF5B-FBEA-9E07D6DE84B8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2DDF33-F045-E0AE-E940-1F7DC2A01521}"/>
              </a:ext>
            </a:extLst>
          </p:cNvPr>
          <p:cNvGrpSpPr/>
          <p:nvPr/>
        </p:nvGrpSpPr>
        <p:grpSpPr>
          <a:xfrm>
            <a:off x="696041" y="1591057"/>
            <a:ext cx="3291840" cy="1965960"/>
            <a:chOff x="443484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59F574F7-43C4-197B-279E-E8E1524ECB30}"/>
                </a:ext>
              </a:extLst>
            </p:cNvPr>
            <p:cNvSpPr/>
            <p:nvPr/>
          </p:nvSpPr>
          <p:spPr>
            <a:xfrm>
              <a:off x="443484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3E11D87B-990F-08F1-68EB-B5388BE9DDEE}"/>
                </a:ext>
              </a:extLst>
            </p:cNvPr>
            <p:cNvSpPr/>
            <p:nvPr/>
          </p:nvSpPr>
          <p:spPr>
            <a:xfrm>
              <a:off x="469087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30" name="Image 5" descr="/home/claude/icons/camera.png">
              <a:extLst>
                <a:ext uri="{FF2B5EF4-FFF2-40B4-BE49-F238E27FC236}">
                  <a16:creationId xmlns:a16="http://schemas.microsoft.com/office/drawing/2014/main" id="{D250D294-C7B4-BBFC-76B9-3F8ADBE59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8273" y="4381073"/>
              <a:ext cx="272125" cy="272125"/>
            </a:xfrm>
            <a:prstGeom prst="rect">
              <a:avLst/>
            </a:prstGeom>
          </p:spPr>
        </p:pic>
        <p:sp>
          <p:nvSpPr>
            <p:cNvPr id="31" name="Text 23">
              <a:extLst>
                <a:ext uri="{FF2B5EF4-FFF2-40B4-BE49-F238E27FC236}">
                  <a16:creationId xmlns:a16="http://schemas.microsoft.com/office/drawing/2014/main" id="{3C75CD2B-4DFC-D321-7AD0-E356D7743E37}"/>
                </a:ext>
              </a:extLst>
            </p:cNvPr>
            <p:cNvSpPr/>
            <p:nvPr/>
          </p:nvSpPr>
          <p:spPr>
            <a:xfrm>
              <a:off x="469087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Photographs / illustrations</a:t>
              </a:r>
              <a:endParaRPr lang="en-US" sz="1500" dirty="0"/>
            </a:p>
          </p:txBody>
        </p:sp>
        <p:sp>
          <p:nvSpPr>
            <p:cNvPr id="32" name="Text 24">
              <a:extLst>
                <a:ext uri="{FF2B5EF4-FFF2-40B4-BE49-F238E27FC236}">
                  <a16:creationId xmlns:a16="http://schemas.microsoft.com/office/drawing/2014/main" id="{CC886578-3DA3-A463-55E3-28306C0A552E}"/>
                </a:ext>
              </a:extLst>
            </p:cNvPr>
            <p:cNvSpPr/>
            <p:nvPr/>
          </p:nvSpPr>
          <p:spPr>
            <a:xfrm>
              <a:off x="469087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objects or examples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B393B385-2A21-1F6F-706A-9AB482C5670A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439403-E505-ABB6-9F86-A7C095156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913" y="1353313"/>
            <a:ext cx="7766117" cy="49194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6288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A9725-2134-6DA2-AE69-F51C2F1B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E5CF18-2187-ED56-CA57-C6CBFF602354}"/>
              </a:ext>
            </a:extLst>
          </p:cNvPr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grid.png">
            <a:extLst>
              <a:ext uri="{FF2B5EF4-FFF2-40B4-BE49-F238E27FC236}">
                <a16:creationId xmlns:a16="http://schemas.microsoft.com/office/drawing/2014/main" id="{8693BA37-85ED-1B59-725F-B8868D2D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692FA28-DD38-2588-919C-3EAD8889290C}"/>
              </a:ext>
            </a:extLst>
          </p:cNvPr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Types of Graphic Aids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E4D0054-3A87-B586-741C-CB6E72FDE503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C4ADCA-A662-D74B-60D3-592FB14DD5A4}"/>
              </a:ext>
            </a:extLst>
          </p:cNvPr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156C9D5-DCBB-6C9F-51CB-C45DC52E5102}"/>
              </a:ext>
            </a:extLst>
          </p:cNvPr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43544E-B6AA-E87F-CE52-AA1611DD340A}"/>
              </a:ext>
            </a:extLst>
          </p:cNvPr>
          <p:cNvGrpSpPr/>
          <p:nvPr/>
        </p:nvGrpSpPr>
        <p:grpSpPr>
          <a:xfrm>
            <a:off x="696041" y="1691638"/>
            <a:ext cx="3291840" cy="1653968"/>
            <a:chOff x="8046720" y="3977640"/>
            <a:chExt cx="3291840" cy="19659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" name="Shape 25">
              <a:extLst>
                <a:ext uri="{FF2B5EF4-FFF2-40B4-BE49-F238E27FC236}">
                  <a16:creationId xmlns:a16="http://schemas.microsoft.com/office/drawing/2014/main" id="{B6E2E646-860C-47A2-38BA-B9BE912AC523}"/>
                </a:ext>
              </a:extLst>
            </p:cNvPr>
            <p:cNvSpPr/>
            <p:nvPr/>
          </p:nvSpPr>
          <p:spPr>
            <a:xfrm>
              <a:off x="8046720" y="3977640"/>
              <a:ext cx="3291840" cy="1965960"/>
            </a:xfrm>
            <a:prstGeom prst="roundRect">
              <a:avLst>
                <a:gd name="adj" fmla="val 4186"/>
              </a:avLst>
            </a:prstGeom>
            <a:solidFill>
              <a:srgbClr val="F5F7FC"/>
            </a:solidFill>
            <a:ln w="12700">
              <a:solidFill>
                <a:srgbClr val="E4E8F2"/>
              </a:solidFill>
              <a:prstDash val="solid"/>
            </a:ln>
          </p:spPr>
        </p:sp>
        <p:sp>
          <p:nvSpPr>
            <p:cNvPr id="34" name="Shape 26">
              <a:extLst>
                <a:ext uri="{FF2B5EF4-FFF2-40B4-BE49-F238E27FC236}">
                  <a16:creationId xmlns:a16="http://schemas.microsoft.com/office/drawing/2014/main" id="{009616DB-F2F2-1DF9-9D18-E25536D325F9}"/>
                </a:ext>
              </a:extLst>
            </p:cNvPr>
            <p:cNvSpPr/>
            <p:nvPr/>
          </p:nvSpPr>
          <p:spPr>
            <a:xfrm>
              <a:off x="8302752" y="4233672"/>
              <a:ext cx="566928" cy="566928"/>
            </a:xfrm>
            <a:prstGeom prst="ellipse">
              <a:avLst/>
            </a:prstGeom>
            <a:solidFill>
              <a:srgbClr val="CADCFC"/>
            </a:solidFill>
            <a:ln/>
          </p:spPr>
        </p:sp>
        <p:pic>
          <p:nvPicPr>
            <p:cNvPr id="35" name="Image 6" descr="/home/claude/icons/map.png">
              <a:extLst>
                <a:ext uri="{FF2B5EF4-FFF2-40B4-BE49-F238E27FC236}">
                  <a16:creationId xmlns:a16="http://schemas.microsoft.com/office/drawing/2014/main" id="{AF81D3B6-21F0-51A6-3B06-014637608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0153" y="4381073"/>
              <a:ext cx="272125" cy="2721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40A22FD9-3F55-67F9-827C-9D4CCDCC307B}"/>
                </a:ext>
              </a:extLst>
            </p:cNvPr>
            <p:cNvSpPr/>
            <p:nvPr/>
          </p:nvSpPr>
          <p:spPr>
            <a:xfrm>
              <a:off x="8302752" y="49377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Maps</a:t>
              </a:r>
              <a:endParaRPr lang="en-US" sz="1500" dirty="0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671C310C-FE2C-71FE-6241-0ED79852DF91}"/>
                </a:ext>
              </a:extLst>
            </p:cNvPr>
            <p:cNvSpPr/>
            <p:nvPr/>
          </p:nvSpPr>
          <p:spPr>
            <a:xfrm>
              <a:off x="8302752" y="5394960"/>
              <a:ext cx="2779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show location and spatial relationships</a:t>
              </a:r>
              <a:endParaRPr lang="en-US" sz="1150" dirty="0"/>
            </a:p>
          </p:txBody>
        </p:sp>
      </p:grpSp>
      <p:sp>
        <p:nvSpPr>
          <p:cNvPr id="38" name="Text 29">
            <a:extLst>
              <a:ext uri="{FF2B5EF4-FFF2-40B4-BE49-F238E27FC236}">
                <a16:creationId xmlns:a16="http://schemas.microsoft.com/office/drawing/2014/main" id="{E0EF9E10-60EE-CA15-EBF7-3C8903510DE2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4098" name="Picture 2" descr="World Record For Longest Drive In Golf | Detroit Chinatown">
            <a:extLst>
              <a:ext uri="{FF2B5EF4-FFF2-40B4-BE49-F238E27FC236}">
                <a16:creationId xmlns:a16="http://schemas.microsoft.com/office/drawing/2014/main" id="{6BDF3DE5-A921-1C8A-F9C6-17308159C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233" y="1277160"/>
            <a:ext cx="7368967" cy="5123640"/>
          </a:xfrm>
          <a:custGeom>
            <a:avLst/>
            <a:gdLst>
              <a:gd name="csX0" fmla="*/ 0 w 7368967"/>
              <a:gd name="csY0" fmla="*/ 0 h 5123640"/>
              <a:gd name="csX1" fmla="*/ 345775 w 7368967"/>
              <a:gd name="csY1" fmla="*/ 0 h 5123640"/>
              <a:gd name="csX2" fmla="*/ 765239 w 7368967"/>
              <a:gd name="csY2" fmla="*/ 0 h 5123640"/>
              <a:gd name="csX3" fmla="*/ 1479462 w 7368967"/>
              <a:gd name="csY3" fmla="*/ 0 h 5123640"/>
              <a:gd name="csX4" fmla="*/ 2046305 w 7368967"/>
              <a:gd name="csY4" fmla="*/ 0 h 5123640"/>
              <a:gd name="csX5" fmla="*/ 2613149 w 7368967"/>
              <a:gd name="csY5" fmla="*/ 0 h 5123640"/>
              <a:gd name="csX6" fmla="*/ 3032613 w 7368967"/>
              <a:gd name="csY6" fmla="*/ 0 h 5123640"/>
              <a:gd name="csX7" fmla="*/ 3378388 w 7368967"/>
              <a:gd name="csY7" fmla="*/ 0 h 5123640"/>
              <a:gd name="csX8" fmla="*/ 3797852 w 7368967"/>
              <a:gd name="csY8" fmla="*/ 0 h 5123640"/>
              <a:gd name="csX9" fmla="*/ 4217316 w 7368967"/>
              <a:gd name="csY9" fmla="*/ 0 h 5123640"/>
              <a:gd name="csX10" fmla="*/ 4710470 w 7368967"/>
              <a:gd name="csY10" fmla="*/ 0 h 5123640"/>
              <a:gd name="csX11" fmla="*/ 5277314 w 7368967"/>
              <a:gd name="csY11" fmla="*/ 0 h 5123640"/>
              <a:gd name="csX12" fmla="*/ 5991537 w 7368967"/>
              <a:gd name="csY12" fmla="*/ 0 h 5123640"/>
              <a:gd name="csX13" fmla="*/ 6705760 w 7368967"/>
              <a:gd name="csY13" fmla="*/ 0 h 5123640"/>
              <a:gd name="csX14" fmla="*/ 7368967 w 7368967"/>
              <a:gd name="csY14" fmla="*/ 0 h 5123640"/>
              <a:gd name="csX15" fmla="*/ 7368967 w 7368967"/>
              <a:gd name="csY15" fmla="*/ 569293 h 5123640"/>
              <a:gd name="csX16" fmla="*/ 7368967 w 7368967"/>
              <a:gd name="csY16" fmla="*/ 1241059 h 5123640"/>
              <a:gd name="csX17" fmla="*/ 7368967 w 7368967"/>
              <a:gd name="csY17" fmla="*/ 1810353 h 5123640"/>
              <a:gd name="csX18" fmla="*/ 7368967 w 7368967"/>
              <a:gd name="csY18" fmla="*/ 2379646 h 5123640"/>
              <a:gd name="csX19" fmla="*/ 7368967 w 7368967"/>
              <a:gd name="csY19" fmla="*/ 2948939 h 5123640"/>
              <a:gd name="csX20" fmla="*/ 7368967 w 7368967"/>
              <a:gd name="csY20" fmla="*/ 3466996 h 5123640"/>
              <a:gd name="csX21" fmla="*/ 7368967 w 7368967"/>
              <a:gd name="csY21" fmla="*/ 4138763 h 5123640"/>
              <a:gd name="csX22" fmla="*/ 7368967 w 7368967"/>
              <a:gd name="csY22" fmla="*/ 5123640 h 5123640"/>
              <a:gd name="csX23" fmla="*/ 6728434 w 7368967"/>
              <a:gd name="csY23" fmla="*/ 5123640 h 5123640"/>
              <a:gd name="csX24" fmla="*/ 6235280 w 7368967"/>
              <a:gd name="csY24" fmla="*/ 5123640 h 5123640"/>
              <a:gd name="csX25" fmla="*/ 5742126 w 7368967"/>
              <a:gd name="csY25" fmla="*/ 5123640 h 5123640"/>
              <a:gd name="csX26" fmla="*/ 5322662 w 7368967"/>
              <a:gd name="csY26" fmla="*/ 5123640 h 5123640"/>
              <a:gd name="csX27" fmla="*/ 4608439 w 7368967"/>
              <a:gd name="csY27" fmla="*/ 5123640 h 5123640"/>
              <a:gd name="csX28" fmla="*/ 3967905 w 7368967"/>
              <a:gd name="csY28" fmla="*/ 5123640 h 5123640"/>
              <a:gd name="csX29" fmla="*/ 3474751 w 7368967"/>
              <a:gd name="csY29" fmla="*/ 5123640 h 5123640"/>
              <a:gd name="csX30" fmla="*/ 2981597 w 7368967"/>
              <a:gd name="csY30" fmla="*/ 5123640 h 5123640"/>
              <a:gd name="csX31" fmla="*/ 2414754 w 7368967"/>
              <a:gd name="csY31" fmla="*/ 5123640 h 5123640"/>
              <a:gd name="csX32" fmla="*/ 1700531 w 7368967"/>
              <a:gd name="csY32" fmla="*/ 5123640 h 5123640"/>
              <a:gd name="csX33" fmla="*/ 1281067 w 7368967"/>
              <a:gd name="csY33" fmla="*/ 5123640 h 5123640"/>
              <a:gd name="csX34" fmla="*/ 714223 w 7368967"/>
              <a:gd name="csY34" fmla="*/ 5123640 h 5123640"/>
              <a:gd name="csX35" fmla="*/ 0 w 7368967"/>
              <a:gd name="csY35" fmla="*/ 5123640 h 5123640"/>
              <a:gd name="csX36" fmla="*/ 0 w 7368967"/>
              <a:gd name="csY36" fmla="*/ 4451874 h 5123640"/>
              <a:gd name="csX37" fmla="*/ 0 w 7368967"/>
              <a:gd name="csY37" fmla="*/ 3831344 h 5123640"/>
              <a:gd name="csX38" fmla="*/ 0 w 7368967"/>
              <a:gd name="csY38" fmla="*/ 3210814 h 5123640"/>
              <a:gd name="csX39" fmla="*/ 0 w 7368967"/>
              <a:gd name="csY39" fmla="*/ 2692757 h 5123640"/>
              <a:gd name="csX40" fmla="*/ 0 w 7368967"/>
              <a:gd name="csY40" fmla="*/ 2123464 h 5123640"/>
              <a:gd name="csX41" fmla="*/ 0 w 7368967"/>
              <a:gd name="csY41" fmla="*/ 1656644 h 5123640"/>
              <a:gd name="csX42" fmla="*/ 0 w 7368967"/>
              <a:gd name="csY42" fmla="*/ 1087350 h 5123640"/>
              <a:gd name="csX43" fmla="*/ 0 w 7368967"/>
              <a:gd name="csY43" fmla="*/ 569293 h 5123640"/>
              <a:gd name="csX44" fmla="*/ 0 w 7368967"/>
              <a:gd name="csY44" fmla="*/ 0 h 5123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7368967" h="5123640" extrusionOk="0">
                <a:moveTo>
                  <a:pt x="0" y="0"/>
                </a:moveTo>
                <a:cubicBezTo>
                  <a:pt x="71670" y="-19102"/>
                  <a:pt x="181879" y="12541"/>
                  <a:pt x="345775" y="0"/>
                </a:cubicBezTo>
                <a:cubicBezTo>
                  <a:pt x="509671" y="-12541"/>
                  <a:pt x="680495" y="12302"/>
                  <a:pt x="765239" y="0"/>
                </a:cubicBezTo>
                <a:cubicBezTo>
                  <a:pt x="849983" y="-12302"/>
                  <a:pt x="1133932" y="57762"/>
                  <a:pt x="1479462" y="0"/>
                </a:cubicBezTo>
                <a:cubicBezTo>
                  <a:pt x="1824992" y="-57762"/>
                  <a:pt x="1789310" y="32822"/>
                  <a:pt x="2046305" y="0"/>
                </a:cubicBezTo>
                <a:cubicBezTo>
                  <a:pt x="2303300" y="-32822"/>
                  <a:pt x="2385648" y="239"/>
                  <a:pt x="2613149" y="0"/>
                </a:cubicBezTo>
                <a:cubicBezTo>
                  <a:pt x="2840650" y="-239"/>
                  <a:pt x="2840835" y="46128"/>
                  <a:pt x="3032613" y="0"/>
                </a:cubicBezTo>
                <a:cubicBezTo>
                  <a:pt x="3224391" y="-46128"/>
                  <a:pt x="3292904" y="30240"/>
                  <a:pt x="3378388" y="0"/>
                </a:cubicBezTo>
                <a:cubicBezTo>
                  <a:pt x="3463873" y="-30240"/>
                  <a:pt x="3689630" y="4384"/>
                  <a:pt x="3797852" y="0"/>
                </a:cubicBezTo>
                <a:cubicBezTo>
                  <a:pt x="3906074" y="-4384"/>
                  <a:pt x="4125678" y="42750"/>
                  <a:pt x="4217316" y="0"/>
                </a:cubicBezTo>
                <a:cubicBezTo>
                  <a:pt x="4308954" y="-42750"/>
                  <a:pt x="4557822" y="36796"/>
                  <a:pt x="4710470" y="0"/>
                </a:cubicBezTo>
                <a:cubicBezTo>
                  <a:pt x="4863118" y="-36796"/>
                  <a:pt x="5068175" y="15139"/>
                  <a:pt x="5277314" y="0"/>
                </a:cubicBezTo>
                <a:cubicBezTo>
                  <a:pt x="5486453" y="-15139"/>
                  <a:pt x="5807511" y="62089"/>
                  <a:pt x="5991537" y="0"/>
                </a:cubicBezTo>
                <a:cubicBezTo>
                  <a:pt x="6175563" y="-62089"/>
                  <a:pt x="6562527" y="35412"/>
                  <a:pt x="6705760" y="0"/>
                </a:cubicBezTo>
                <a:cubicBezTo>
                  <a:pt x="6848993" y="-35412"/>
                  <a:pt x="7134006" y="54548"/>
                  <a:pt x="7368967" y="0"/>
                </a:cubicBezTo>
                <a:cubicBezTo>
                  <a:pt x="7370603" y="191685"/>
                  <a:pt x="7333682" y="312618"/>
                  <a:pt x="7368967" y="569293"/>
                </a:cubicBezTo>
                <a:cubicBezTo>
                  <a:pt x="7404252" y="825968"/>
                  <a:pt x="7333335" y="1046440"/>
                  <a:pt x="7368967" y="1241059"/>
                </a:cubicBezTo>
                <a:cubicBezTo>
                  <a:pt x="7404599" y="1435678"/>
                  <a:pt x="7314639" y="1550289"/>
                  <a:pt x="7368967" y="1810353"/>
                </a:cubicBezTo>
                <a:cubicBezTo>
                  <a:pt x="7423295" y="2070417"/>
                  <a:pt x="7312399" y="2259173"/>
                  <a:pt x="7368967" y="2379646"/>
                </a:cubicBezTo>
                <a:cubicBezTo>
                  <a:pt x="7425535" y="2500119"/>
                  <a:pt x="7306650" y="2797008"/>
                  <a:pt x="7368967" y="2948939"/>
                </a:cubicBezTo>
                <a:cubicBezTo>
                  <a:pt x="7431284" y="3100870"/>
                  <a:pt x="7332145" y="3247439"/>
                  <a:pt x="7368967" y="3466996"/>
                </a:cubicBezTo>
                <a:cubicBezTo>
                  <a:pt x="7405789" y="3686553"/>
                  <a:pt x="7332151" y="3959258"/>
                  <a:pt x="7368967" y="4138763"/>
                </a:cubicBezTo>
                <a:cubicBezTo>
                  <a:pt x="7405783" y="4318268"/>
                  <a:pt x="7341859" y="4656546"/>
                  <a:pt x="7368967" y="5123640"/>
                </a:cubicBezTo>
                <a:cubicBezTo>
                  <a:pt x="7050577" y="5162076"/>
                  <a:pt x="6994830" y="5068425"/>
                  <a:pt x="6728434" y="5123640"/>
                </a:cubicBezTo>
                <a:cubicBezTo>
                  <a:pt x="6462038" y="5178855"/>
                  <a:pt x="6429654" y="5081693"/>
                  <a:pt x="6235280" y="5123640"/>
                </a:cubicBezTo>
                <a:cubicBezTo>
                  <a:pt x="6040906" y="5165587"/>
                  <a:pt x="5938770" y="5104654"/>
                  <a:pt x="5742126" y="5123640"/>
                </a:cubicBezTo>
                <a:cubicBezTo>
                  <a:pt x="5545482" y="5142626"/>
                  <a:pt x="5500097" y="5073998"/>
                  <a:pt x="5322662" y="5123640"/>
                </a:cubicBezTo>
                <a:cubicBezTo>
                  <a:pt x="5145227" y="5173282"/>
                  <a:pt x="4802227" y="5091749"/>
                  <a:pt x="4608439" y="5123640"/>
                </a:cubicBezTo>
                <a:cubicBezTo>
                  <a:pt x="4414651" y="5155531"/>
                  <a:pt x="4213709" y="5108106"/>
                  <a:pt x="3967905" y="5123640"/>
                </a:cubicBezTo>
                <a:cubicBezTo>
                  <a:pt x="3722101" y="5139174"/>
                  <a:pt x="3624427" y="5110192"/>
                  <a:pt x="3474751" y="5123640"/>
                </a:cubicBezTo>
                <a:cubicBezTo>
                  <a:pt x="3325075" y="5137088"/>
                  <a:pt x="3085515" y="5082740"/>
                  <a:pt x="2981597" y="5123640"/>
                </a:cubicBezTo>
                <a:cubicBezTo>
                  <a:pt x="2877679" y="5164540"/>
                  <a:pt x="2669465" y="5085718"/>
                  <a:pt x="2414754" y="5123640"/>
                </a:cubicBezTo>
                <a:cubicBezTo>
                  <a:pt x="2160043" y="5161562"/>
                  <a:pt x="2008757" y="5081742"/>
                  <a:pt x="1700531" y="5123640"/>
                </a:cubicBezTo>
                <a:cubicBezTo>
                  <a:pt x="1392305" y="5165538"/>
                  <a:pt x="1443217" y="5112228"/>
                  <a:pt x="1281067" y="5123640"/>
                </a:cubicBezTo>
                <a:cubicBezTo>
                  <a:pt x="1118917" y="5135052"/>
                  <a:pt x="988542" y="5080195"/>
                  <a:pt x="714223" y="5123640"/>
                </a:cubicBezTo>
                <a:cubicBezTo>
                  <a:pt x="439904" y="5167085"/>
                  <a:pt x="195421" y="5068335"/>
                  <a:pt x="0" y="5123640"/>
                </a:cubicBezTo>
                <a:cubicBezTo>
                  <a:pt x="-51674" y="4802643"/>
                  <a:pt x="77283" y="4599189"/>
                  <a:pt x="0" y="4451874"/>
                </a:cubicBezTo>
                <a:cubicBezTo>
                  <a:pt x="-77283" y="4304559"/>
                  <a:pt x="46546" y="4133706"/>
                  <a:pt x="0" y="3831344"/>
                </a:cubicBezTo>
                <a:cubicBezTo>
                  <a:pt x="-46546" y="3528982"/>
                  <a:pt x="36606" y="3350243"/>
                  <a:pt x="0" y="3210814"/>
                </a:cubicBezTo>
                <a:cubicBezTo>
                  <a:pt x="-36606" y="3071385"/>
                  <a:pt x="8927" y="2894400"/>
                  <a:pt x="0" y="2692757"/>
                </a:cubicBezTo>
                <a:cubicBezTo>
                  <a:pt x="-8927" y="2491114"/>
                  <a:pt x="17171" y="2309003"/>
                  <a:pt x="0" y="2123464"/>
                </a:cubicBezTo>
                <a:cubicBezTo>
                  <a:pt x="-17171" y="1937925"/>
                  <a:pt x="39515" y="1801345"/>
                  <a:pt x="0" y="1656644"/>
                </a:cubicBezTo>
                <a:cubicBezTo>
                  <a:pt x="-39515" y="1511943"/>
                  <a:pt x="10536" y="1283343"/>
                  <a:pt x="0" y="1087350"/>
                </a:cubicBezTo>
                <a:cubicBezTo>
                  <a:pt x="-10536" y="891357"/>
                  <a:pt x="15599" y="824042"/>
                  <a:pt x="0" y="569293"/>
                </a:cubicBezTo>
                <a:cubicBezTo>
                  <a:pt x="-15599" y="314544"/>
                  <a:pt x="39636" y="283082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989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heck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Guidelines for Creating Graphic Aids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graphic simple and focused.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readable labels, fonts, and symbols.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visual a clear purpose.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details and overcrowding.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visuals large enough for the audience to see.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important parts while presenting.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126" name="Picture 6" descr="What Are Content Guidelines &amp; Why You Need Them">
            <a:extLst>
              <a:ext uri="{FF2B5EF4-FFF2-40B4-BE49-F238E27FC236}">
                <a16:creationId xmlns:a16="http://schemas.microsoft.com/office/drawing/2014/main" id="{3972FEEE-48DD-F2B5-9FFA-A5C0760AC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7" t="10348" r="20523" b="10846"/>
          <a:stretch>
            <a:fillRect/>
          </a:stretch>
        </p:blipFill>
        <p:spPr bwMode="auto">
          <a:xfrm>
            <a:off x="6196084" y="1630702"/>
            <a:ext cx="5295331" cy="41086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ap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Location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19933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is the physical place where the presentation will take place.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450592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understand the room size, seating arrangement, stage position, and visibility.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location can affect how the speaker moves and interacts with the audience.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location beforehand helps prevent problems during the presentation.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146" name="Picture 2" descr="Presentation audience Vectors - Download Free High-Quality Vectors |  Magnific (formerly Freepik)">
            <a:extLst>
              <a:ext uri="{FF2B5EF4-FFF2-40B4-BE49-F238E27FC236}">
                <a16:creationId xmlns:a16="http://schemas.microsoft.com/office/drawing/2014/main" id="{E1ADE5A4-DA90-0296-1D2F-6D9FBE90F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393449"/>
            <a:ext cx="4445076" cy="24694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274BCBA-CF41-C6C2-35C0-BDAFFF693F63}"/>
              </a:ext>
            </a:extLst>
          </p:cNvPr>
          <p:cNvGrpSpPr/>
          <p:nvPr/>
        </p:nvGrpSpPr>
        <p:grpSpPr>
          <a:xfrm>
            <a:off x="6629400" y="4351043"/>
            <a:ext cx="5029200" cy="2671549"/>
            <a:chOff x="6309360" y="1600200"/>
            <a:chExt cx="5029200" cy="2671549"/>
          </a:xfrm>
        </p:grpSpPr>
        <p:sp>
          <p:nvSpPr>
            <p:cNvPr id="17" name="Text 5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</a:t>
              </a:r>
              <a:endParaRPr lang="en-US" sz="1450" dirty="0"/>
            </a:p>
          </p:txBody>
        </p:sp>
        <p:sp>
          <p:nvSpPr>
            <p:cNvPr id="18" name="Text 6"/>
            <p:cNvSpPr/>
            <p:nvPr/>
          </p:nvSpPr>
          <p:spPr>
            <a:xfrm>
              <a:off x="6309360" y="2011680"/>
              <a:ext cx="5029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800"/>
                </a:spcAft>
                <a:buNone/>
              </a:pPr>
              <a:r>
                <a:rPr lang="en-US" sz="13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decide how much time to spend on the introduction, body, conclusion, and questions.</a:t>
              </a:r>
              <a:endParaRPr lang="en-US" sz="1350" dirty="0"/>
            </a:p>
          </p:txBody>
        </p:sp>
        <p:sp>
          <p:nvSpPr>
            <p:cNvPr id="19" name="Text 7"/>
            <p:cNvSpPr/>
            <p:nvPr/>
          </p:nvSpPr>
          <p:spPr>
            <a:xfrm>
              <a:off x="6309360" y="2834640"/>
              <a:ext cx="5029200" cy="1437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10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a realistic time limit and allocate time to each section.</a:t>
              </a:r>
              <a:endParaRPr lang="en-US" sz="1350" dirty="0"/>
            </a:p>
          </p:txBody>
        </p:sp>
      </p:grpSp>
      <p:pic>
        <p:nvPicPr>
          <p:cNvPr id="6150" name="Picture 6" descr="Strategies for Time Management in Presentation - Public Speaking Lab Blog">
            <a:extLst>
              <a:ext uri="{FF2B5EF4-FFF2-40B4-BE49-F238E27FC236}">
                <a16:creationId xmlns:a16="http://schemas.microsoft.com/office/drawing/2014/main" id="{2DB0C6C4-CFAC-B573-79FD-DB7B8494D6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72"/>
          <a:stretch>
            <a:fillRect/>
          </a:stretch>
        </p:blipFill>
        <p:spPr bwMode="auto">
          <a:xfrm>
            <a:off x="832103" y="3990815"/>
            <a:ext cx="4490938" cy="2684305"/>
          </a:xfrm>
          <a:custGeom>
            <a:avLst/>
            <a:gdLst>
              <a:gd name="csX0" fmla="*/ 0 w 4490938"/>
              <a:gd name="csY0" fmla="*/ 0 h 2684305"/>
              <a:gd name="csX1" fmla="*/ 641563 w 4490938"/>
              <a:gd name="csY1" fmla="*/ 0 h 2684305"/>
              <a:gd name="csX2" fmla="*/ 1148397 w 4490938"/>
              <a:gd name="csY2" fmla="*/ 0 h 2684305"/>
              <a:gd name="csX3" fmla="*/ 1834869 w 4490938"/>
              <a:gd name="csY3" fmla="*/ 0 h 2684305"/>
              <a:gd name="csX4" fmla="*/ 2521341 w 4490938"/>
              <a:gd name="csY4" fmla="*/ 0 h 2684305"/>
              <a:gd name="csX5" fmla="*/ 3207813 w 4490938"/>
              <a:gd name="csY5" fmla="*/ 0 h 2684305"/>
              <a:gd name="csX6" fmla="*/ 3894285 w 4490938"/>
              <a:gd name="csY6" fmla="*/ 0 h 2684305"/>
              <a:gd name="csX7" fmla="*/ 4490938 w 4490938"/>
              <a:gd name="csY7" fmla="*/ 0 h 2684305"/>
              <a:gd name="csX8" fmla="*/ 4490938 w 4490938"/>
              <a:gd name="csY8" fmla="*/ 697919 h 2684305"/>
              <a:gd name="csX9" fmla="*/ 4490938 w 4490938"/>
              <a:gd name="csY9" fmla="*/ 1368996 h 2684305"/>
              <a:gd name="csX10" fmla="*/ 4490938 w 4490938"/>
              <a:gd name="csY10" fmla="*/ 2066915 h 2684305"/>
              <a:gd name="csX11" fmla="*/ 4490938 w 4490938"/>
              <a:gd name="csY11" fmla="*/ 2684305 h 2684305"/>
              <a:gd name="csX12" fmla="*/ 3939194 w 4490938"/>
              <a:gd name="csY12" fmla="*/ 2684305 h 2684305"/>
              <a:gd name="csX13" fmla="*/ 3297632 w 4490938"/>
              <a:gd name="csY13" fmla="*/ 2684305 h 2684305"/>
              <a:gd name="csX14" fmla="*/ 2790797 w 4490938"/>
              <a:gd name="csY14" fmla="*/ 2684305 h 2684305"/>
              <a:gd name="csX15" fmla="*/ 2194144 w 4490938"/>
              <a:gd name="csY15" fmla="*/ 2684305 h 2684305"/>
              <a:gd name="csX16" fmla="*/ 1642400 w 4490938"/>
              <a:gd name="csY16" fmla="*/ 2684305 h 2684305"/>
              <a:gd name="csX17" fmla="*/ 1000838 w 4490938"/>
              <a:gd name="csY17" fmla="*/ 2684305 h 2684305"/>
              <a:gd name="csX18" fmla="*/ 0 w 4490938"/>
              <a:gd name="csY18" fmla="*/ 2684305 h 2684305"/>
              <a:gd name="csX19" fmla="*/ 0 w 4490938"/>
              <a:gd name="csY19" fmla="*/ 2093758 h 2684305"/>
              <a:gd name="csX20" fmla="*/ 0 w 4490938"/>
              <a:gd name="csY20" fmla="*/ 1395839 h 2684305"/>
              <a:gd name="csX21" fmla="*/ 0 w 4490938"/>
              <a:gd name="csY21" fmla="*/ 697919 h 2684305"/>
              <a:gd name="csX22" fmla="*/ 0 w 4490938"/>
              <a:gd name="csY22" fmla="*/ 0 h 2684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490938" h="2684305" extrusionOk="0">
                <a:moveTo>
                  <a:pt x="0" y="0"/>
                </a:moveTo>
                <a:cubicBezTo>
                  <a:pt x="314614" y="654"/>
                  <a:pt x="446058" y="15715"/>
                  <a:pt x="641563" y="0"/>
                </a:cubicBezTo>
                <a:cubicBezTo>
                  <a:pt x="837068" y="-15715"/>
                  <a:pt x="991273" y="-353"/>
                  <a:pt x="1148397" y="0"/>
                </a:cubicBezTo>
                <a:cubicBezTo>
                  <a:pt x="1305521" y="353"/>
                  <a:pt x="1509524" y="-1014"/>
                  <a:pt x="1834869" y="0"/>
                </a:cubicBezTo>
                <a:cubicBezTo>
                  <a:pt x="2160214" y="1014"/>
                  <a:pt x="2229494" y="24229"/>
                  <a:pt x="2521341" y="0"/>
                </a:cubicBezTo>
                <a:cubicBezTo>
                  <a:pt x="2813188" y="-24229"/>
                  <a:pt x="2892390" y="-33339"/>
                  <a:pt x="3207813" y="0"/>
                </a:cubicBezTo>
                <a:cubicBezTo>
                  <a:pt x="3523236" y="33339"/>
                  <a:pt x="3592357" y="30422"/>
                  <a:pt x="3894285" y="0"/>
                </a:cubicBezTo>
                <a:cubicBezTo>
                  <a:pt x="4196213" y="-30422"/>
                  <a:pt x="4232037" y="20417"/>
                  <a:pt x="4490938" y="0"/>
                </a:cubicBezTo>
                <a:cubicBezTo>
                  <a:pt x="4514203" y="271699"/>
                  <a:pt x="4485532" y="419649"/>
                  <a:pt x="4490938" y="697919"/>
                </a:cubicBezTo>
                <a:cubicBezTo>
                  <a:pt x="4496344" y="976189"/>
                  <a:pt x="4502362" y="1221080"/>
                  <a:pt x="4490938" y="1368996"/>
                </a:cubicBezTo>
                <a:cubicBezTo>
                  <a:pt x="4479514" y="1516912"/>
                  <a:pt x="4489135" y="1762488"/>
                  <a:pt x="4490938" y="2066915"/>
                </a:cubicBezTo>
                <a:cubicBezTo>
                  <a:pt x="4492741" y="2371342"/>
                  <a:pt x="4495247" y="2488206"/>
                  <a:pt x="4490938" y="2684305"/>
                </a:cubicBezTo>
                <a:cubicBezTo>
                  <a:pt x="4333472" y="2657381"/>
                  <a:pt x="4159508" y="2665199"/>
                  <a:pt x="3939194" y="2684305"/>
                </a:cubicBezTo>
                <a:cubicBezTo>
                  <a:pt x="3718880" y="2703411"/>
                  <a:pt x="3505797" y="2711269"/>
                  <a:pt x="3297632" y="2684305"/>
                </a:cubicBezTo>
                <a:cubicBezTo>
                  <a:pt x="3089467" y="2657341"/>
                  <a:pt x="2906503" y="2707142"/>
                  <a:pt x="2790797" y="2684305"/>
                </a:cubicBezTo>
                <a:cubicBezTo>
                  <a:pt x="2675092" y="2661468"/>
                  <a:pt x="2410250" y="2666670"/>
                  <a:pt x="2194144" y="2684305"/>
                </a:cubicBezTo>
                <a:cubicBezTo>
                  <a:pt x="1978038" y="2701940"/>
                  <a:pt x="1840528" y="2675210"/>
                  <a:pt x="1642400" y="2684305"/>
                </a:cubicBezTo>
                <a:cubicBezTo>
                  <a:pt x="1444272" y="2693400"/>
                  <a:pt x="1169630" y="2691709"/>
                  <a:pt x="1000838" y="2684305"/>
                </a:cubicBezTo>
                <a:cubicBezTo>
                  <a:pt x="832046" y="2676901"/>
                  <a:pt x="340533" y="2682926"/>
                  <a:pt x="0" y="2684305"/>
                </a:cubicBezTo>
                <a:cubicBezTo>
                  <a:pt x="-6078" y="2551810"/>
                  <a:pt x="10272" y="2317290"/>
                  <a:pt x="0" y="2093758"/>
                </a:cubicBezTo>
                <a:cubicBezTo>
                  <a:pt x="-10272" y="1870226"/>
                  <a:pt x="33801" y="1596245"/>
                  <a:pt x="0" y="1395839"/>
                </a:cubicBezTo>
                <a:cubicBezTo>
                  <a:pt x="-33801" y="1195433"/>
                  <a:pt x="-22789" y="997235"/>
                  <a:pt x="0" y="697919"/>
                </a:cubicBezTo>
                <a:cubicBezTo>
                  <a:pt x="22789" y="398603"/>
                  <a:pt x="-31605" y="16597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373953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Audience &amp; Speaker Consideration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considerations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consider the audience's knowledge, interests, expectations, and attention span.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information should be explained according to the audience's level of understanding.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use language that the audience can easily understand.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reactions should also be observed during the presentation.</a:t>
            </a:r>
            <a:endParaRPr lang="en-US" sz="13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10ADD2-0837-7062-711D-831D069CC5DC}"/>
              </a:ext>
            </a:extLst>
          </p:cNvPr>
          <p:cNvGrpSpPr/>
          <p:nvPr/>
        </p:nvGrpSpPr>
        <p:grpSpPr>
          <a:xfrm>
            <a:off x="822960" y="4297680"/>
            <a:ext cx="5038343" cy="2560320"/>
            <a:chOff x="6300217" y="1600200"/>
            <a:chExt cx="5038343" cy="5346262"/>
          </a:xfrm>
        </p:grpSpPr>
        <p:sp>
          <p:nvSpPr>
            <p:cNvPr id="12" name="Text 8"/>
            <p:cNvSpPr/>
            <p:nvPr/>
          </p:nvSpPr>
          <p:spPr>
            <a:xfrm>
              <a:off x="6309360" y="1600200"/>
              <a:ext cx="5029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Speaker's considerations</a:t>
              </a:r>
              <a:endParaRPr lang="en-US" sz="14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6300217" y="2374461"/>
              <a:ext cx="5029200" cy="45720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consider voice, appearance, posture, movement, confidence, and speaking speed.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be comfortable with the topic and familiar with the presentation materials.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pronunciation and appropriate volume are important.</a:t>
              </a:r>
              <a:endParaRPr lang="en-US" sz="1250" dirty="0"/>
            </a:p>
            <a:p>
              <a:pPr marL="228600" indent="-228600">
                <a:spcAft>
                  <a:spcPts val="9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3338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speaker should also maintain eye contact and use natural gestures.</a:t>
              </a:r>
              <a:endParaRPr lang="en-US" sz="1250" dirty="0"/>
            </a:p>
          </p:txBody>
        </p:sp>
      </p:grpSp>
      <p:pic>
        <p:nvPicPr>
          <p:cNvPr id="14" name="Picture 4" descr="5 Small Things to Try to Immediately Be a Better Presenter">
            <a:extLst>
              <a:ext uri="{FF2B5EF4-FFF2-40B4-BE49-F238E27FC236}">
                <a16:creationId xmlns:a16="http://schemas.microsoft.com/office/drawing/2014/main" id="{BDD8BA4A-2FFC-D95E-BCEC-2E0C00B2E4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05"/>
          <a:stretch>
            <a:fillRect/>
          </a:stretch>
        </p:blipFill>
        <p:spPr bwMode="auto">
          <a:xfrm>
            <a:off x="6782937" y="1815152"/>
            <a:ext cx="4981433" cy="41625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6AF7F61A-B33A-35BD-C95B-19DB43CB36BD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aler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Planning: Stage Fright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fright is nervousness or fear before or during a presentation.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thoroughly and rehearse several times.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opening and key points well.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slow, steady breaths and maintain a comfortable pace.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communicating the message rather than on being perfect.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194" name="Picture 2" descr="All the world's a stage - and I have got stage fright!">
            <a:extLst>
              <a:ext uri="{FF2B5EF4-FFF2-40B4-BE49-F238E27FC236}">
                <a16:creationId xmlns:a16="http://schemas.microsoft.com/office/drawing/2014/main" id="{1A074980-A8AC-F38C-ACE5-0D2D54315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18" y="3022929"/>
            <a:ext cx="5263482" cy="301211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Selecting an Organizational Plan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5727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composing means arranging information in a logical order and turning it into a clear presentation.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suitable organizational plan helps the audience follow the speaker's ideas.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structure that fits the purpose and topic.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plans include: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— arranged by time or sequence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Problem–solution — problem followed by possible solutions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Cause–effect — explains causes and results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— divides the subject into major topics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Compare–contrast — shows similarities and differences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55A6D1-FF70-DADD-A61F-8EACE0139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40" y="2235708"/>
            <a:ext cx="5486400" cy="3657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Previewing Organization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audience what the presentation will cover.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main points in the order they will appear.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listeners understand the overall structure.</a:t>
            </a:r>
            <a:endParaRPr lang="en-US" sz="15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13A72E-D004-88E7-1B7A-4BB8F57455DC}"/>
              </a:ext>
            </a:extLst>
          </p:cNvPr>
          <p:cNvGrpSpPr/>
          <p:nvPr/>
        </p:nvGrpSpPr>
        <p:grpSpPr>
          <a:xfrm>
            <a:off x="968166" y="4594860"/>
            <a:ext cx="9509760" cy="1143000"/>
            <a:chOff x="822960" y="3246120"/>
            <a:chExt cx="9509760" cy="1143000"/>
          </a:xfrm>
        </p:grpSpPr>
        <p:sp>
          <p:nvSpPr>
            <p:cNvPr id="9" name="Text 6"/>
            <p:cNvSpPr/>
            <p:nvPr/>
          </p:nvSpPr>
          <p:spPr>
            <a:xfrm>
              <a:off x="822960" y="324612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 sz="14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3611880"/>
              <a:ext cx="9509760" cy="777240"/>
            </a:xfrm>
            <a:prstGeom prst="roundRect">
              <a:avLst>
                <a:gd name="adj" fmla="val 9412"/>
              </a:avLst>
            </a:prstGeom>
            <a:solidFill>
              <a:srgbClr val="F5F7FC"/>
            </a:solidFill>
            <a:ln w="12700">
              <a:solidFill>
                <a:srgbClr val="CADCFC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97280" y="3611880"/>
              <a:ext cx="89611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“First, we will discuss planning; next, organization; and finally, delivery.”</a:t>
              </a:r>
              <a:endParaRPr lang="en-US" sz="140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F72EDD-D6AB-CF4C-D758-8D6688C7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46" y="1421893"/>
            <a:ext cx="5127834" cy="34185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Introduction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effective introduction should: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the audience's attention.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topic.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purpose.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topic matters.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main points.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9220" name="Picture 4" descr="3,992 Presentation Introduction Stock Photos - Free &amp; Royalty-Free Stock Photos from Dreamstime">
            <a:extLst>
              <a:ext uri="{FF2B5EF4-FFF2-40B4-BE49-F238E27FC236}">
                <a16:creationId xmlns:a16="http://schemas.microsoft.com/office/drawing/2014/main" id="{206E9DD4-124E-73BD-D30E-A1357618B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711" y="1591057"/>
            <a:ext cx="6838169" cy="45587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Body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main points in a logical order.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ideas with examples, evidence, or graphic aids.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transitions between major points.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section focused on its main idea.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balance between detail and available time.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A8189-4C33-4532-9EEA-D66C25976C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5" t="1394" r="51150" b="47064"/>
          <a:stretch>
            <a:fillRect/>
          </a:stretch>
        </p:blipFill>
        <p:spPr>
          <a:xfrm>
            <a:off x="6476407" y="1631594"/>
            <a:ext cx="4862153" cy="35347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and Composing: Composing the Conclusion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Thapa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that the presentation is ending.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summarize the major points.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the main message.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memorable final statement, recommendation, or call to action.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introducing major new information.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90FEEE-10F1-EAC4-E158-DD1ED028D6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974005" y="1647701"/>
            <a:ext cx="4807821" cy="39849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means getting both the presentation materials and the speaker ready.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review the content, prepare slides, organize notes, and check visual aids.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also includes deciding what to wear and becoming familiar with the presentation environment.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Preparing: Outlines and Notes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structure and sequence of the presentation.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keep ideas organized and complete.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09360" y="1600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09360" y="20116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keywords and short phrases rather than full paragraphs.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important examples, statistics, transitions, and reminders.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reading the entire presentation word-for-word.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10242" name="Picture 2" descr="Public Speaking and Class Presentations | COS 133 College Orientation and  Success Strategies">
            <a:extLst>
              <a:ext uri="{FF2B5EF4-FFF2-40B4-BE49-F238E27FC236}">
                <a16:creationId xmlns:a16="http://schemas.microsoft.com/office/drawing/2014/main" id="{0422501A-6A0E-92AD-E21B-9B2386F4C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868" y="3430198"/>
            <a:ext cx="4452425" cy="2970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Preparing: Personal Appearance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appropriately for the audience, topic, and occasion.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neat and professional appearance.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comfortable clothing that does not distract from the message.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attention to posture, facial expression, and overall confidence.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22530" name="Picture 2" descr="Influence, Persuasion, &amp; Personal Presentation: Why to Look Your Best | The Art of Manliness">
            <a:extLst>
              <a:ext uri="{FF2B5EF4-FFF2-40B4-BE49-F238E27FC236}">
                <a16:creationId xmlns:a16="http://schemas.microsoft.com/office/drawing/2014/main" id="{C16B0278-DCBF-04F0-A4A9-5525CB8F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560" y="1560956"/>
            <a:ext cx="3810000" cy="42481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Rehearsing means practicing the presentation before delivering it to the actual audience.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the speaker improve timing, pronunciation, confidence, and body language.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also helps identify weak or unclear parts of the presentation.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an Audio Recorder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presentation and listen to it afterward.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volume, pronunciation, speed, pauses, and repeated words.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parts that sound unclear or too long.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again after correcting problems.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13320" name="Picture 8" descr="With so many voice recording apps out there,we share some of our favorites.">
            <a:extLst>
              <a:ext uri="{FF2B5EF4-FFF2-40B4-BE49-F238E27FC236}">
                <a16:creationId xmlns:a16="http://schemas.microsoft.com/office/drawing/2014/main" id="{59BC1251-106F-7E2B-2711-85D8F501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73" y="2356254"/>
            <a:ext cx="5876607" cy="39165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Mirror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while looking at yourself.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posture, facial expressions, gestures, and eye contact.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distracting movements.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natural and confident delivery.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11266" name="Picture 2" descr="56,900+ Rehearse Stock Photos, Pictures &amp; Royalty-Free Images - iStock">
            <a:extLst>
              <a:ext uri="{FF2B5EF4-FFF2-40B4-BE49-F238E27FC236}">
                <a16:creationId xmlns:a16="http://schemas.microsoft.com/office/drawing/2014/main" id="{57BD6826-6F1B-665B-AFE4-32B060DE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670" y="1999468"/>
            <a:ext cx="5678659" cy="395634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Video Camera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54666" y="530352"/>
            <a:ext cx="1258214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354666" y="530352"/>
            <a:ext cx="12582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Hrikesh Aron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complete presentation on video.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voice, posture, gestures, eye contact, timing, and slide use.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habits that may distract the audience.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presentation after making improvements.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26</a:t>
            </a:r>
            <a:endParaRPr lang="en-US" sz="1000" dirty="0"/>
          </a:p>
        </p:txBody>
      </p:sp>
      <p:pic>
        <p:nvPicPr>
          <p:cNvPr id="12290" name="Picture 2" descr="Should You Practice or Rehearse for Your Next Business Presentation?">
            <a:extLst>
              <a:ext uri="{FF2B5EF4-FFF2-40B4-BE49-F238E27FC236}">
                <a16:creationId xmlns:a16="http://schemas.microsoft.com/office/drawing/2014/main" id="{B30E5884-74C3-5D44-1A27-DABB55B7E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56" y="2354585"/>
            <a:ext cx="6069323" cy="40462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Rehearsing: Using a Live Audience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front of classmates, friends, or family.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evaluate clarity, organization, delivery, and timing.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questions to simulate the real presentation.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improve before the final presentation.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14338" name="Picture 2" descr="3 Rehearsal Tips for Better Presentations - Bob Goodyear ~ A Geek Who Speaks">
            <a:extLst>
              <a:ext uri="{FF2B5EF4-FFF2-40B4-BE49-F238E27FC236}">
                <a16:creationId xmlns:a16="http://schemas.microsoft.com/office/drawing/2014/main" id="{833A3CF9-1B28-F2FD-EC7C-70C1FDBF2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430" y="2095500"/>
            <a:ext cx="5124450" cy="34163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is the actual delivery of the prepared information to the audience.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communicate clearly using appropriate voice, body language, eye contact, and visual aids.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should explain the information instead of simply reading the slides.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delivery keeps the audience interested and helps them understand the message.</a:t>
            </a:r>
            <a:endParaRPr lang="en-US" sz="155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DB49900-B17D-E307-9512-91D3FB2BFEF5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Checking the Room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45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presenting, check: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— Can everyone see and hear clearly?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— Is the screen visible without making the room too dark?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Is the room comfortable?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— Test the computer, projector, microphone, and other devices.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aids — Check that slides, charts, and other visuals display correctly.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15362" name="Picture 2" descr="Presentation Techniques You Didn't Know Existed (Until Now)">
            <a:extLst>
              <a:ext uri="{FF2B5EF4-FFF2-40B4-BE49-F238E27FC236}">
                <a16:creationId xmlns:a16="http://schemas.microsoft.com/office/drawing/2014/main" id="{1BC85780-4C30-5515-4300-0AF64F7ABA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2"/>
          <a:stretch>
            <a:fillRect/>
          </a:stretch>
        </p:blipFill>
        <p:spPr bwMode="auto">
          <a:xfrm>
            <a:off x="6789420" y="1769463"/>
            <a:ext cx="5214460" cy="33190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message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Presenting: Delivering the Message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clearly, confidently, and at an appropriate pace.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eye contact with the audience.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natural gestures and appropriate facial expressions.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rather than simply read the slides.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transitions to connect ideas.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respond respectfully to audience questions.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16386" name="Picture 2" descr="7 Tips to Deliver an Effective Message Across Your District | Finalsite Blog">
            <a:extLst>
              <a:ext uri="{FF2B5EF4-FFF2-40B4-BE49-F238E27FC236}">
                <a16:creationId xmlns:a16="http://schemas.microsoft.com/office/drawing/2014/main" id="{14F8446E-5DC6-000F-92DA-186E1CEFF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705" y="1708975"/>
            <a:ext cx="5210175" cy="34766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3291840" cy="3291840"/>
          </a:xfrm>
          <a:prstGeom prst="ellipse">
            <a:avLst/>
          </a:prstGeom>
          <a:ln w="15875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051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13011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2402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Group Presentation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8778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presentation involves two or more speakers working together to present one topic.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group presentations require planning, coordination, communication, and practice.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D9E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should understand their responsibilities and the overall structure.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scis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Organizing a Group Presentation: Dividing the Topic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topic into logical sections.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sections according to members' abilities and interests.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member a meaningful and balanced role.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common style and overall message.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6971E-1EAD-0A0C-5D0E-B9583567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26691"/>
            <a:ext cx="5943600" cy="39624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Setting Time Limits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total presentation time.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time fairly among speakers.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 limits for each section.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time for introduction, conclusion, and questions.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with a timer to avoid exceeding the limit.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17410" name="Picture 2" descr="Time limits create productive meetings - Jurassic Parliament">
            <a:extLst>
              <a:ext uri="{FF2B5EF4-FFF2-40B4-BE49-F238E27FC236}">
                <a16:creationId xmlns:a16="http://schemas.microsoft.com/office/drawing/2014/main" id="{3F4AD7C7-C29B-C616-17B4-474C08386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65" y="1702517"/>
            <a:ext cx="5208270" cy="34895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arrow_righ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Transitioning Between Speakers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96596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change from one speaker to another smooth and clear.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summarize the completed section.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next speaker or topic.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speaker should be ready before the transition.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897658-55C8-B7FB-6247-27FE15E729D9}"/>
              </a:ext>
            </a:extLst>
          </p:cNvPr>
          <p:cNvGrpSpPr/>
          <p:nvPr/>
        </p:nvGrpSpPr>
        <p:grpSpPr>
          <a:xfrm>
            <a:off x="696041" y="4972561"/>
            <a:ext cx="9509760" cy="1051560"/>
            <a:chOff x="822960" y="3703320"/>
            <a:chExt cx="9509760" cy="1051560"/>
          </a:xfrm>
        </p:grpSpPr>
        <p:sp>
          <p:nvSpPr>
            <p:cNvPr id="9" name="Text 6"/>
            <p:cNvSpPr/>
            <p:nvPr/>
          </p:nvSpPr>
          <p:spPr>
            <a:xfrm>
              <a:off x="822960" y="3703320"/>
              <a:ext cx="27432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 sz="14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4069080"/>
              <a:ext cx="9509760" cy="685800"/>
            </a:xfrm>
            <a:prstGeom prst="roundRect">
              <a:avLst>
                <a:gd name="adj" fmla="val 10667"/>
              </a:avLst>
            </a:prstGeom>
            <a:solidFill>
              <a:srgbClr val="F5F7FC"/>
            </a:solidFill>
            <a:ln w="12700">
              <a:solidFill>
                <a:srgbClr val="CADCF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1097280" y="4069080"/>
              <a:ext cx="89611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“Now that we have discussed planning, Member 3 will explain preparation.”</a:t>
              </a:r>
              <a:endParaRPr lang="en-US" sz="130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42BA8F-9C68-61C2-2BF1-A0E822F27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027" y="1421391"/>
            <a:ext cx="5423279" cy="36155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Graphic Aids and Handouts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slides so the whole presentation has a consistent design.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responsibility for preparing and checking visual aids.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charts and diagrams are readable.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useful handouts when they add value.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giving handouts that distract from the presentation.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/home/claude/icons/help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Presentation: Answering Questions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Shah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225296"/>
            <a:ext cx="11064240" cy="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0515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who will answer different types of questions.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complete question before responding.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briefly, clearly, and accurately.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unsure, acknowledge it rather than guessing.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members can add information when necessary.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18434" name="Picture 2" descr="Answering a question with a question - Organising Students">
            <a:extLst>
              <a:ext uri="{FF2B5EF4-FFF2-40B4-BE49-F238E27FC236}">
                <a16:creationId xmlns:a16="http://schemas.microsoft.com/office/drawing/2014/main" id="{C034025F-9AC0-0C3C-76C3-B59FADB5D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1426465"/>
            <a:ext cx="6067425" cy="45910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439705" y="530352"/>
            <a:ext cx="1173175" cy="329184"/>
          </a:xfrm>
          <a:prstGeom prst="roundRect">
            <a:avLst>
              <a:gd name="adj" fmla="val 50000"/>
            </a:avLst>
          </a:prstGeom>
          <a:solidFill>
            <a:srgbClr val="2A3373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39705" y="530352"/>
            <a:ext cx="11731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Kamana Shrestha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effective presentation requires: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4128" y="22631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820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965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audience and purpose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9659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4808" y="22631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820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68312" y="19659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planning and organization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273552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24128" y="35707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8960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27632" y="32735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composition and useful graphic aids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3273552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64808" y="35707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8960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68312" y="327355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and rehearsal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2960" y="4581144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24128" y="487832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5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9719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27632" y="458114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delivery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63640" y="4581144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252E6B"/>
          </a:solidFill>
          <a:ln w="12700">
            <a:solidFill>
              <a:srgbClr val="3E4A9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64808" y="487832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6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997196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68312" y="458114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coordination in group presentations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0" y="4023360"/>
            <a:ext cx="4754880" cy="4754880"/>
          </a:xfrm>
          <a:prstGeom prst="ellipse">
            <a:avLst/>
          </a:prstGeom>
          <a:ln w="19050">
            <a:solidFill>
              <a:srgbClr val="3340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00700" y="19659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1" y="22155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54680"/>
            <a:ext cx="1216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1992</Words>
  <Application>Microsoft Office PowerPoint</Application>
  <PresentationFormat>Widescreen</PresentationFormat>
  <Paragraphs>341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Kamana Shrestha</cp:lastModifiedBy>
  <cp:revision>5</cp:revision>
  <dcterms:created xsi:type="dcterms:W3CDTF">2026-08-22T06:29:39Z</dcterms:created>
  <dcterms:modified xsi:type="dcterms:W3CDTF">2026-08-22T09:52:17Z</dcterms:modified>
</cp:coreProperties>
</file>